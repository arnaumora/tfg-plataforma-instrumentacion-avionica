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74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71EB8-DCAB-4648-A104-EB7323203DAC}" type="datetimeFigureOut">
              <a:t>07/07/2026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5A86D-084E-4755-8B14-20B885BB2353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946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PORTADA (~30 s). Presenta't, digues el titol i l'objectiu en una frase: una plataforma experimental de baix cost que emula instrumentacio avionica i recorre tota la cadena, del sensor a la pantalla. OMPLE: el teu nom complet. TEMPS TOTAL OBJECTIU: ~18 min parlat + demo, mai passar de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INDEX (~20 s). Enuncia el recorregut rapid sense aturar-te. Serveix perque el tribunal sapiga l'estructura.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2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MOTIVACIO (~1,5 min). Tres idees: la instrumentacio comercial es cara i tancada; falta material didactic que mostri la cadena completa; avui es viable fer-ho per menys de 100 EUR amb sensors MEMS i microcontroladors. Connecta-ho amb l'objectiu.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OBJECTIU (~1,5 min). L'objectiu es dissenyar i implementar la plataforma. Resultat: tres subsistemes (PCB, firmware, PFD) que operen com un sol sistema. Recolza't en les tres targetes.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4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REQUISITS (~1 min). NO llegeixis la taula sencera. Digues que vas fixar objectius mesurables derivats de normes aeronautiques i anomena'n 2 o 3 (latencia, actitud, GNSS, cost). Anticipa que al final mostraras el compliment. Pregunta tipica del tribunal: per que aquests llindars si no busques certificacio -&gt; son orientatius, coherents amb la norma, per tenir criteris objectius.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5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ARQUITECTURA (~2,5 min). Es la columna vertebral. Recorre el diagrama d'esquerra a dreta: sensors -&gt; MCU transmissor (ESP32-S3) -&gt; transceptor RF (NRF24) -&gt; MCU receptor (ESP32-C3) -&gt; PC amb el PFD. Menciona els busos (I2C/UART, SPI, RF, USB).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6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HARDWARE - DISSENY (~1,5 min). Placa propia de 2 capes, 180x115 mm, fabricada a JLCPCB. ESP32-S3 + suite de sensors. Alimentacio USB-C amb LDO a 3,3 V. Ensenya els renders.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8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HARDWARE - PLACA REAL (~1 min). El pas de disseny a hardware fisic, muntat i verificat electricament. Transmissor (esq.) i receptor (dta.). El hardware real causa bona impressio: atura-t'hi un segon.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9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FIRMWARE - FUSIO (~1,5 min). Filtre Mahony MARG: combina accelerometre, giroscopi i magnetometre per donar actitud i rumb estables a 100 Hz. Parametres Kp=3,0 i Ki=1,0 (els del slide i la memoria). Quaternio inicialitzat analiticament des de l'accelerometre i el magnetometre: actitud valida des de l'arrencada, l'integrador nomes segueix la deriva lenta. Important: la calibracio del magnetometre es fa amb tot actiu i la radio emetent. Si pregunten per la tilt-compensation: la rotacio a marc terra del filtre ja ho 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11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TELEMETRIA ARINC (~1,5 min). El diferenciador. Es reutilitza la capa logica d'ARINC 429 sobre la radio. 8 paraules de 32 bits = 32 B, just el payload del NRF24. Tres paraules fixes (actitud i rumb a 20 Hz) i cinc multiplexades amb un planificador EDF que prioritza el parametre mes endarrerit: baro, VSI, radar i ToF a 10 Hz; GNSS i estat a 5 Hz. Abast ~100 m per marge de disseny, no mesurat.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12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PFD (~1,5 min). Disposicio Basic-T conforme al patro de l'AC 25-11B (RN01): horitzo al centre, velocitat a l'esquerra, altitud a la dreta, rumb a sota. Tanca la cadena del sensor a la pantalla. Desenvolupat en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MAPA (~45 s). Pantalla independent del PFD que dibuixa la posicio GNSS sobre cartografia. Tessel.les offline de l'ICGC, vista commutable per teclat; la descarrega en linia queda com a treball futur. Pots passar rapid.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14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COMPLIMENT (~2 min). Diapositiva clau. Tots els requisits de rendiment es compleixen. Destaca: latencia ~85 ms davant de 200, actitud 1,8 graus davant de 3, GNSS 1,00 m CEP50 davant de 2,5, 60 FPS i ~100 m. I els funcionals tambe. IMPORTANT per a preguntes: tingues clar que la latencia de ~85 ms es pressupost de disseny, no mesura directa; prepara't per justificar-ho.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15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XIFRES DE MERIT (~1 min). Quatre numeros amb la seva naturalesa explicita: CEP50 1,00 m i actitud 1,8 graus son mesurats en estatic; la latencia de 85 ms es fita analitica de pitjor cas; l'abast de 100 m es marge de disseny del full de dades, no mesurat. Dir-ho tal qual transmet rigor i desactiva les preguntes de si s'ha mesurat.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16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CONCLUSIONS (~1,5 min). Objectiu complert, cadena completa, plataforma oberta i replicable per menys de 100 EUR. Sigues honest amb les limitacions: sense redundancia i rumb en interior limitat per l'entorn magnetic.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17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TREBALL FUTUR (~45 s). Quatre linies: cartografia en linia, caracteritzacio real de l'enllac (abast i perdua de paquets), radar com a font de proximitat, i integracio en vol. Les dues centrals tanquen els punts ajornats a la validacio.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18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DEMO + GRACIES. Engega la demo: inclina la placa (l'horitzo respon), gira (el rumb respon), ensenya altitud/VSI i un fix GNSS sobre el mapa. REGLA D'OR: tingues un video de reserva de 60-90 s per si falla la radio, l'USB o el projector. Logistica: porta el teu portatil, prova el projector abans i tingues la placa encesa i aparellada abans d'entrar. Tanca amb un gracies i obre el torn de preguntes.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19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Disseny i implementació d'una plataforma experimental d'instrumentació aviònica</a:t>
            </a:r>
            <a:endParaRPr lang="ca-ES" sz="2800" dirty="0"/>
          </a:p>
        </p:txBody>
      </p:sp>
      <p:sp>
        <p:nvSpPr>
          <p:cNvPr id="4" name="Text 1"/>
          <p:cNvSpPr/>
          <p:nvPr/>
        </p:nvSpPr>
        <p:spPr>
          <a:xfrm>
            <a:off x="475488" y="274320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ca-E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Arnau Mora Perez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Directors: Juan Mon González i Javier Gago Barrio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en Enginyeria en Vehicles Aeroespacials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ESEIAAT - UPC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Convocatòria Primavera 2026</a:t>
            </a:r>
            <a:endParaRPr lang="ca-ES" sz="1300" dirty="0"/>
          </a:p>
        </p:txBody>
      </p:sp>
      <p:sp>
        <p:nvSpPr>
          <p:cNvPr id="5" name="Shape 2"/>
          <p:cNvSpPr/>
          <p:nvPr/>
        </p:nvSpPr>
        <p:spPr>
          <a:xfrm>
            <a:off x="4937760" y="2697480"/>
            <a:ext cx="3749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6" name="Image 1" descr="assets/iso_p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023" y="2843784"/>
            <a:ext cx="3204515" cy="1490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0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transmissor - render KiCad</a:t>
            </a:r>
            <a:endParaRPr lang="ca-ES" sz="1000" dirty="0"/>
          </a:p>
        </p:txBody>
      </p:sp>
      <p:pic>
        <p:nvPicPr>
          <p:cNvPr id="9" name="Picture 8" descr="A black background with blue text  AI-generated content may be incorrect.">
            <a:extLst>
              <a:ext uri="{FF2B5EF4-FFF2-40B4-BE49-F238E27FC236}">
                <a16:creationId xmlns:a16="http://schemas.microsoft.com/office/drawing/2014/main" id="{9E980788-A87A-71C0-9056-BAEB00285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86002"/>
            <a:ext cx="2905221" cy="7741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Índex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6184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3584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Motivació i objectiu</a:t>
            </a:r>
            <a:endParaRPr lang="ca-E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951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40487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43584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Arquitectura del sistema</a:t>
            </a:r>
            <a:endParaRPr lang="ca-ES" sz="1500" dirty="0"/>
          </a:p>
        </p:txBody>
      </p:sp>
      <p:sp>
        <p:nvSpPr>
          <p:cNvPr id="11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191256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43584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Disseny hardware: la PCB</a:t>
            </a:r>
            <a:endParaRPr lang="ca-ES" sz="1500" dirty="0"/>
          </a:p>
        </p:txBody>
      </p:sp>
      <p:sp>
        <p:nvSpPr>
          <p:cNvPr id="14" name="Shape 8"/>
          <p:cNvSpPr/>
          <p:nvPr/>
        </p:nvSpPr>
        <p:spPr>
          <a:xfrm>
            <a:off x="640080" y="3867912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977640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43584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Firmware i fusió sensorial</a:t>
            </a:r>
            <a:endParaRPr lang="ca-ES" sz="1500" dirty="0"/>
          </a:p>
        </p:txBody>
      </p:sp>
      <p:sp>
        <p:nvSpPr>
          <p:cNvPr id="17" name="Shape 10"/>
          <p:cNvSpPr/>
          <p:nvPr/>
        </p:nvSpPr>
        <p:spPr>
          <a:xfrm>
            <a:off x="4754880" y="15087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161848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58384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Telemetria ARINC 429</a:t>
            </a:r>
            <a:endParaRPr lang="ca-ES" sz="1500" dirty="0"/>
          </a:p>
        </p:txBody>
      </p:sp>
      <p:sp>
        <p:nvSpPr>
          <p:cNvPr id="20" name="Shape 12"/>
          <p:cNvSpPr/>
          <p:nvPr/>
        </p:nvSpPr>
        <p:spPr>
          <a:xfrm>
            <a:off x="4754880" y="22951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2404872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58384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Visualització: el PFD</a:t>
            </a:r>
            <a:endParaRPr lang="ca-ES" sz="1500" dirty="0"/>
          </a:p>
        </p:txBody>
      </p:sp>
      <p:sp>
        <p:nvSpPr>
          <p:cNvPr id="23" name="Shape 14"/>
          <p:cNvSpPr/>
          <p:nvPr/>
        </p:nvSpPr>
        <p:spPr>
          <a:xfrm>
            <a:off x="4754880" y="308152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3191256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58384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Validació i resultats</a:t>
            </a:r>
            <a:endParaRPr lang="ca-ES" sz="1500" dirty="0"/>
          </a:p>
        </p:txBody>
      </p:sp>
      <p:sp>
        <p:nvSpPr>
          <p:cNvPr id="26" name="Shape 16"/>
          <p:cNvSpPr/>
          <p:nvPr/>
        </p:nvSpPr>
        <p:spPr>
          <a:xfrm>
            <a:off x="4754880" y="3867912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3977640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58384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Conclusions i demo</a:t>
            </a:r>
            <a:endParaRPr lang="ca-E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0876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38074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 cara i tancada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sistemes comercials són costosos i propietaris, poc accessibles per a la docència.</a:t>
            </a:r>
            <a:endParaRPr lang="ca-E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46888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6032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243230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Buit didàctic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Falten plataformes obertes que mostrin tota la cadena, del sensor a la pantalla.</a:t>
            </a:r>
            <a:endParaRPr lang="ca-E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1188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48386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Avui és viable a baix cost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sensors MEMS i els microcontroladors potents permeten replicar la cadena.</a:t>
            </a:r>
            <a:endParaRPr lang="ca-ES" sz="1450" dirty="0"/>
          </a:p>
        </p:txBody>
      </p:sp>
      <p:sp>
        <p:nvSpPr>
          <p:cNvPr id="14" name="Shape 8"/>
          <p:cNvSpPr/>
          <p:nvPr/>
        </p:nvSpPr>
        <p:spPr>
          <a:xfrm>
            <a:off x="5532120" y="1417320"/>
            <a:ext cx="3200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15" name="Image 4" descr="assets/top_clean_p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24" y="1632629"/>
            <a:ext cx="2907792" cy="13524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3212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desenvolupada</a:t>
            </a:r>
            <a:endParaRPr lang="ca-ES" sz="1000" dirty="0"/>
          </a:p>
        </p:txBody>
      </p:sp>
      <p:sp>
        <p:nvSpPr>
          <p:cNvPr id="17" name="Shape 10"/>
          <p:cNvSpPr/>
          <p:nvPr/>
        </p:nvSpPr>
        <p:spPr>
          <a:xfrm>
            <a:off x="553212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8" name="Text 11"/>
          <p:cNvSpPr/>
          <p:nvPr/>
        </p:nvSpPr>
        <p:spPr>
          <a:xfrm>
            <a:off x="5532120" y="3566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100 €</a:t>
            </a:r>
            <a:endParaRPr lang="ca-ES" sz="3000" dirty="0"/>
          </a:p>
          <a:p>
            <a:pPr marL="0" indent="0" algn="ctr"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 materials</a:t>
            </a:r>
            <a:endParaRPr lang="ca-E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Objectiu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experimental de baix cost que recorre la cadena completa: del sensor a la pantalla.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7" name="Shape 4"/>
          <p:cNvSpPr/>
          <p:nvPr/>
        </p:nvSpPr>
        <p:spPr>
          <a:xfrm>
            <a:off x="1417320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148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</a:t>
            </a:r>
            <a:endParaRPr lang="ca-ES" sz="1900" dirty="0"/>
          </a:p>
        </p:txBody>
      </p:sp>
      <p:sp>
        <p:nvSpPr>
          <p:cNvPr id="10" name="Text 6"/>
          <p:cNvSpPr/>
          <p:nvPr/>
        </p:nvSpPr>
        <p:spPr>
          <a:xfrm>
            <a:off x="68580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el microcontrolador i els sensors en una placa pròpia.</a:t>
            </a:r>
            <a:endParaRPr lang="ca-ES" sz="1250" dirty="0"/>
          </a:p>
        </p:txBody>
      </p:sp>
      <p:sp>
        <p:nvSpPr>
          <p:cNvPr id="11" name="Shape 7"/>
          <p:cNvSpPr/>
          <p:nvPr/>
        </p:nvSpPr>
        <p:spPr>
          <a:xfrm>
            <a:off x="3319272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2" name="Shape 8"/>
          <p:cNvSpPr/>
          <p:nvPr/>
        </p:nvSpPr>
        <p:spPr>
          <a:xfrm>
            <a:off x="4279392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148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9272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</a:t>
            </a:r>
            <a:endParaRPr lang="ca-ES" sz="1900" dirty="0"/>
          </a:p>
        </p:txBody>
      </p:sp>
      <p:sp>
        <p:nvSpPr>
          <p:cNvPr id="15" name="Text 10"/>
          <p:cNvSpPr/>
          <p:nvPr/>
        </p:nvSpPr>
        <p:spPr>
          <a:xfrm>
            <a:off x="3547872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Adquireix, calibra, fusiona i transmet les dades.</a:t>
            </a:r>
            <a:endParaRPr lang="ca-ES" sz="1250" dirty="0"/>
          </a:p>
        </p:txBody>
      </p:sp>
      <p:sp>
        <p:nvSpPr>
          <p:cNvPr id="16" name="Shape 11"/>
          <p:cNvSpPr/>
          <p:nvPr/>
        </p:nvSpPr>
        <p:spPr>
          <a:xfrm>
            <a:off x="6181344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7" name="Shape 12"/>
          <p:cNvSpPr/>
          <p:nvPr/>
        </p:nvSpPr>
        <p:spPr>
          <a:xfrm>
            <a:off x="7141464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21488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81344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PFD</a:t>
            </a:r>
            <a:endParaRPr lang="ca-ES" sz="1900" dirty="0"/>
          </a:p>
        </p:txBody>
      </p:sp>
      <p:sp>
        <p:nvSpPr>
          <p:cNvPr id="20" name="Text 14"/>
          <p:cNvSpPr/>
          <p:nvPr/>
        </p:nvSpPr>
        <p:spPr>
          <a:xfrm>
            <a:off x="6409944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els paràmetres en disposició Basic-T en temps real.</a:t>
            </a:r>
            <a:endParaRPr lang="ca-E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Requisits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Objectius mesurables derivats de normes aeronàutiques de referència.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Funcionals</a:t>
            </a:r>
            <a:endParaRPr lang="ca-ES" sz="1800" dirty="0"/>
          </a:p>
        </p:txBody>
      </p:sp>
      <p:sp>
        <p:nvSpPr>
          <p:cNvPr id="8" name="Shape 5"/>
          <p:cNvSpPr/>
          <p:nvPr/>
        </p:nvSpPr>
        <p:spPr>
          <a:xfrm>
            <a:off x="2587752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2587752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</a:t>
            </a:r>
            <a:endParaRPr lang="ca-ES" sz="1800" dirty="0"/>
          </a:p>
        </p:txBody>
      </p:sp>
      <p:sp>
        <p:nvSpPr>
          <p:cNvPr id="10" name="Shape 7"/>
          <p:cNvSpPr/>
          <p:nvPr/>
        </p:nvSpPr>
        <p:spPr>
          <a:xfrm>
            <a:off x="4718304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4718304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Restriccions</a:t>
            </a:r>
            <a:endParaRPr lang="ca-ES" sz="1800" dirty="0"/>
          </a:p>
        </p:txBody>
      </p:sp>
      <p:sp>
        <p:nvSpPr>
          <p:cNvPr id="12" name="Shape 9"/>
          <p:cNvSpPr/>
          <p:nvPr/>
        </p:nvSpPr>
        <p:spPr>
          <a:xfrm>
            <a:off x="6848856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3" name="Text 10"/>
          <p:cNvSpPr/>
          <p:nvPr/>
        </p:nvSpPr>
        <p:spPr>
          <a:xfrm>
            <a:off x="6848856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Normatius</a:t>
            </a:r>
            <a:endParaRPr lang="ca-ES" sz="1800" dirty="0"/>
          </a:p>
        </p:txBody>
      </p:sp>
      <p:sp>
        <p:nvSpPr>
          <p:cNvPr id="14" name="Text 11"/>
          <p:cNvSpPr/>
          <p:nvPr/>
        </p:nvSpPr>
        <p:spPr>
          <a:xfrm>
            <a:off x="475488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Objectius clau</a:t>
            </a:r>
            <a:endParaRPr lang="ca-E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Latència extrem a extrem &lt; 200 ms</a:t>
            </a:r>
            <a:endParaRPr lang="ca-E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 del PFD &gt;= 30 FPS</a:t>
            </a:r>
            <a:endParaRPr lang="ca-E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dins de +-3°</a:t>
            </a:r>
            <a:endParaRPr lang="ca-E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 GNSS &lt;= 2,5 m CEP</a:t>
            </a:r>
            <a:endParaRPr lang="ca-E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 materials &lt; 100 €</a:t>
            </a:r>
            <a:endParaRPr lang="ca-E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 per USB-C, software obert</a:t>
            </a:r>
            <a:endParaRPr lang="ca-E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transmissor - receptor amb enllaç sense fils.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233172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7" name="Text 4"/>
          <p:cNvSpPr/>
          <p:nvPr/>
        </p:nvSpPr>
        <p:spPr>
          <a:xfrm>
            <a:off x="365760" y="233172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· Baro · GNSS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· Radar</a:t>
            </a:r>
            <a:endParaRPr lang="ca-ES" sz="1250" dirty="0"/>
          </a:p>
        </p:txBody>
      </p:sp>
      <p:sp>
        <p:nvSpPr>
          <p:cNvPr id="8" name="Shape 5"/>
          <p:cNvSpPr/>
          <p:nvPr/>
        </p:nvSpPr>
        <p:spPr>
          <a:xfrm>
            <a:off x="2395728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2395728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Transmissor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ca-ES" sz="1250" dirty="0"/>
          </a:p>
        </p:txBody>
      </p:sp>
      <p:sp>
        <p:nvSpPr>
          <p:cNvPr id="10" name="Shape 7"/>
          <p:cNvSpPr/>
          <p:nvPr/>
        </p:nvSpPr>
        <p:spPr>
          <a:xfrm>
            <a:off x="4059936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4059936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Transceptor RF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NRF24L01+</a:t>
            </a:r>
            <a:endParaRPr lang="ca-ES" sz="1250" dirty="0"/>
          </a:p>
        </p:txBody>
      </p:sp>
      <p:sp>
        <p:nvSpPr>
          <p:cNvPr id="12" name="Shape 9"/>
          <p:cNvSpPr/>
          <p:nvPr/>
        </p:nvSpPr>
        <p:spPr>
          <a:xfrm>
            <a:off x="5724144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3" name="Text 10"/>
          <p:cNvSpPr/>
          <p:nvPr/>
        </p:nvSpPr>
        <p:spPr>
          <a:xfrm>
            <a:off x="5724144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Receptor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</a:t>
            </a:r>
            <a:endParaRPr lang="ca-ES" sz="1250" dirty="0"/>
          </a:p>
        </p:txBody>
      </p:sp>
      <p:sp>
        <p:nvSpPr>
          <p:cNvPr id="14" name="Shape 11"/>
          <p:cNvSpPr/>
          <p:nvPr/>
        </p:nvSpPr>
        <p:spPr>
          <a:xfrm>
            <a:off x="7388352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5" name="Text 12"/>
          <p:cNvSpPr/>
          <p:nvPr/>
        </p:nvSpPr>
        <p:spPr>
          <a:xfrm>
            <a:off x="7388352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PFD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ca-ES" sz="1250" dirty="0"/>
          </a:p>
        </p:txBody>
      </p:sp>
      <p:sp>
        <p:nvSpPr>
          <p:cNvPr id="16" name="Shape 13"/>
          <p:cNvSpPr/>
          <p:nvPr/>
        </p:nvSpPr>
        <p:spPr>
          <a:xfrm>
            <a:off x="2139696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7" name="Text 14"/>
          <p:cNvSpPr/>
          <p:nvPr/>
        </p:nvSpPr>
        <p:spPr>
          <a:xfrm>
            <a:off x="2231136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18" name="Text 15"/>
          <p:cNvSpPr/>
          <p:nvPr/>
        </p:nvSpPr>
        <p:spPr>
          <a:xfrm>
            <a:off x="2048256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/ UART</a:t>
            </a:r>
            <a:endParaRPr lang="ca-ES" sz="950" dirty="0"/>
          </a:p>
        </p:txBody>
      </p:sp>
      <p:sp>
        <p:nvSpPr>
          <p:cNvPr id="19" name="Shape 16"/>
          <p:cNvSpPr/>
          <p:nvPr/>
        </p:nvSpPr>
        <p:spPr>
          <a:xfrm>
            <a:off x="3803904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0" name="Text 17"/>
          <p:cNvSpPr/>
          <p:nvPr/>
        </p:nvSpPr>
        <p:spPr>
          <a:xfrm>
            <a:off x="3895344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21" name="Text 18"/>
          <p:cNvSpPr/>
          <p:nvPr/>
        </p:nvSpPr>
        <p:spPr>
          <a:xfrm>
            <a:off x="3712464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ca-ES" sz="950" dirty="0"/>
          </a:p>
        </p:txBody>
      </p:sp>
      <p:sp>
        <p:nvSpPr>
          <p:cNvPr id="22" name="Shape 19"/>
          <p:cNvSpPr/>
          <p:nvPr/>
        </p:nvSpPr>
        <p:spPr>
          <a:xfrm>
            <a:off x="5468112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3" name="Text 20"/>
          <p:cNvSpPr/>
          <p:nvPr/>
        </p:nvSpPr>
        <p:spPr>
          <a:xfrm>
            <a:off x="5559552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24" name="Text 21"/>
          <p:cNvSpPr/>
          <p:nvPr/>
        </p:nvSpPr>
        <p:spPr>
          <a:xfrm>
            <a:off x="5376672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ca-ES" sz="950" dirty="0"/>
          </a:p>
        </p:txBody>
      </p:sp>
      <p:sp>
        <p:nvSpPr>
          <p:cNvPr id="25" name="Shape 22"/>
          <p:cNvSpPr/>
          <p:nvPr/>
        </p:nvSpPr>
        <p:spPr>
          <a:xfrm>
            <a:off x="7132320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6" name="Text 23"/>
          <p:cNvSpPr/>
          <p:nvPr/>
        </p:nvSpPr>
        <p:spPr>
          <a:xfrm>
            <a:off x="7223760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27" name="Text 24"/>
          <p:cNvSpPr/>
          <p:nvPr/>
        </p:nvSpPr>
        <p:spPr>
          <a:xfrm>
            <a:off x="7040880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ca-ES" sz="950" dirty="0"/>
          </a:p>
        </p:txBody>
      </p:sp>
      <p:sp>
        <p:nvSpPr>
          <p:cNvPr id="28" name="Text 25"/>
          <p:cNvSpPr/>
          <p:nvPr/>
        </p:nvSpPr>
        <p:spPr>
          <a:xfrm>
            <a:off x="475488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paquet: tres paraules ARINC 429 fixes (actitud i rumb, 20 Hz) i cinc slots multiplexats sobre l'enllaç de ràdio.</a:t>
            </a:r>
            <a:endParaRPr lang="ca-E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de disseny: arquitectura i enllaç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què dos nodes, un enllaç de ràdio i telemetria ARINC 429.</a:t>
            </a:r>
            <a:endParaRPr lang="ca-E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3962400" cy="3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 transmissor / receptor</a:t>
            </a:r>
            <a:endParaRPr lang="ca-E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3962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Reflecteix l'arquitectura real d'una aeronau.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 mobilitat al node de sensors davant del PC fix.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Afegeix un enllaç sense fils amb valor docent.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3093720"/>
            <a:ext cx="3962400" cy="3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Enllaç de ràdio: RF 2,4 GHz (ISM)</a:t>
            </a:r>
            <a:endParaRPr lang="ca-E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413760"/>
            <a:ext cx="39624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Descartats cable sèrie, WiFi-UDP i Bluetooth / BLE.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Triat per baixa latència, abast suficient i baix cost.</a:t>
            </a:r>
          </a:p>
        </p:txBody>
      </p:sp>
      <p:sp>
        <p:nvSpPr>
          <p:cNvPr id="10" name="Shape 7"/>
          <p:cNvSpPr/>
          <p:nvPr/>
        </p:nvSpPr>
        <p:spPr>
          <a:xfrm>
            <a:off x="4724400" y="1600200"/>
            <a:ext cx="3962400" cy="271332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4968240" y="1798320"/>
            <a:ext cx="3474720" cy="23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lògica ARINC 429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Traçabilitat amb la pràctica aeronàutica real.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docent: etiquetes, BNR, paritat i SSM.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Paraula de 32 bits ja estructurada; sense dissenyar un format des de zero.</a:t>
            </a:r>
          </a:p>
        </p:txBody>
      </p:sp>
      <p:sp>
        <p:nvSpPr>
          <p:cNvPr id="12" name="Text 9"/>
          <p:cNvSpPr/>
          <p:nvPr/>
        </p:nvSpPr>
        <p:spPr>
          <a:xfrm>
            <a:off x="475488" y="4485155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0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payload de 32 B del NRF24 equival exactament a 8 paraules ARINC 429 de 32 bits.</a:t>
            </a:r>
            <a:endParaRPr lang="ca-E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8643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 disseny de la PCB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069080" cy="189280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6" name="Image 1" descr="assets/iso_p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517904"/>
            <a:ext cx="3440430" cy="1600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282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isomètric (KiCad)</a:t>
            </a:r>
            <a:endParaRPr lang="ca-ES" sz="1000" dirty="0"/>
          </a:p>
        </p:txBody>
      </p:sp>
      <p:sp>
        <p:nvSpPr>
          <p:cNvPr id="8" name="Shape 4"/>
          <p:cNvSpPr/>
          <p:nvPr/>
        </p:nvSpPr>
        <p:spPr>
          <a:xfrm>
            <a:off x="4663440" y="1371600"/>
            <a:ext cx="4069080" cy="189280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9" name="Image 2" descr="assets/top_clean_p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765" y="1517904"/>
            <a:ext cx="3440430" cy="1600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3440" y="3282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superior (KiCad)</a:t>
            </a:r>
            <a:endParaRPr lang="ca-ES" sz="1000" dirty="0"/>
          </a:p>
        </p:txBody>
      </p:sp>
      <p:sp>
        <p:nvSpPr>
          <p:cNvPr id="11" name="Text 6"/>
          <p:cNvSpPr/>
          <p:nvPr/>
        </p:nvSpPr>
        <p:spPr>
          <a:xfrm>
            <a:off x="548640" y="366679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pròpia de 2 capes (180 x 115 mm), fabricada a JLCPCB.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Nucli ESP32-S3 amb la suite de sensors: IMU, baròmetre, GNSS, ToF i radar.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 per USB-C amb LDO a 3,3 V, rail de 5 V per als mòduls que ho requereixen.</a:t>
            </a:r>
            <a:endParaRPr lang="ca-E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 la placa fabricada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disseny a la placa real, muntada i verificada elèctricament.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93776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7" name="Image 1" descr="assets/real_pcb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81" y="1517904"/>
            <a:ext cx="3863797" cy="28620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445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transmissor muntat</a:t>
            </a:r>
            <a:endParaRPr lang="ca-ES" sz="1000" dirty="0"/>
          </a:p>
        </p:txBody>
      </p:sp>
      <p:sp>
        <p:nvSpPr>
          <p:cNvPr id="9" name="Shape 5"/>
          <p:cNvSpPr/>
          <p:nvPr/>
        </p:nvSpPr>
        <p:spPr>
          <a:xfrm>
            <a:off x="5577840" y="1371600"/>
            <a:ext cx="3108960" cy="31546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10" name="Image 2" descr="assets/real_reciever_pcb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353" y="1517904"/>
            <a:ext cx="2117933" cy="28620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77840" y="4544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receptor (ESP32-C3)</a:t>
            </a:r>
            <a:endParaRPr lang="ca-E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 del filtre de fusió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d'algorismes sobre l'ESP32: cost de còmput davant de precisió.</a:t>
            </a:r>
            <a:endParaRPr lang="ca-E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396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considerades</a:t>
            </a:r>
            <a:endParaRPr lang="ca-E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9624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complementari: un paràmetre, sense estimació de bias ni correcció de la deriva.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Madgwick: precisió similar, sense ajust independent del transitori.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/ UKF: més cost de còmput, no justificat en aquest àmbit.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de partícules: màxima precisió, inviable en temps real sobre l'ESP32.</a:t>
            </a:r>
          </a:p>
        </p:txBody>
      </p:sp>
      <p:sp>
        <p:nvSpPr>
          <p:cNvPr id="8" name="Shape 5"/>
          <p:cNvSpPr/>
          <p:nvPr/>
        </p:nvSpPr>
        <p:spPr>
          <a:xfrm>
            <a:off x="4724400" y="1600200"/>
            <a:ext cx="3962400" cy="243840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4968240" y="179832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 (seleccionat)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 la deriva del giroscopi amb el seu terme integral (PI).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 còmput baix, adequat per a l'ESP32.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transitòria ajustable mitjançant Kp i Ki.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Avalat per estudis recents en plataformes ESP32.</a:t>
            </a:r>
          </a:p>
        </p:txBody>
      </p:sp>
      <p:sp>
        <p:nvSpPr>
          <p:cNvPr id="10" name="Text 9"/>
          <p:cNvSpPr/>
          <p:nvPr/>
        </p:nvSpPr>
        <p:spPr>
          <a:xfrm>
            <a:off x="475488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0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Referències: Mahony (2008) · Cocoli i Badia (2023) · Uyar (2024) · Gui et al. (2015)</a:t>
            </a:r>
            <a:endParaRPr lang="ca-E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Firmware: fusió sensorial (AHRS)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ca-E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Mahony MARG (complementari) per a actitud i rumb en temps real.</a:t>
            </a:r>
            <a:endParaRPr lang="ca-ES" sz="13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ca-E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Quaternió inicialitzat analíticament: actitud vàlida des de l'arrencada.</a:t>
            </a:r>
            <a:endParaRPr lang="ca-ES" sz="13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ca-E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 amb tots els perifèrics actius i la ràdio transmetent.</a:t>
            </a:r>
            <a:endParaRPr lang="ca-ES" sz="13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ca-ES" sz="13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= 3,0   ·   Ki = 1,0   ·   fusió a 100 Hz</a:t>
            </a:r>
            <a:endParaRPr lang="ca-ES" sz="1350" dirty="0"/>
          </a:p>
        </p:txBody>
      </p:sp>
      <p:sp>
        <p:nvSpPr>
          <p:cNvPr id="6" name="Shape 3"/>
          <p:cNvSpPr/>
          <p:nvPr/>
        </p:nvSpPr>
        <p:spPr>
          <a:xfrm>
            <a:off x="5440680" y="1417320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7" name="Text 4"/>
          <p:cNvSpPr/>
          <p:nvPr/>
        </p:nvSpPr>
        <p:spPr>
          <a:xfrm>
            <a:off x="5440680" y="141732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Acceleròmetre</a:t>
            </a:r>
            <a:endParaRPr lang="ca-ES" sz="1050" dirty="0"/>
          </a:p>
        </p:txBody>
      </p:sp>
      <p:sp>
        <p:nvSpPr>
          <p:cNvPr id="8" name="Shape 5"/>
          <p:cNvSpPr/>
          <p:nvPr/>
        </p:nvSpPr>
        <p:spPr>
          <a:xfrm>
            <a:off x="5440680" y="2020824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5440680" y="202082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Giroscopi</a:t>
            </a:r>
            <a:endParaRPr lang="ca-ES" sz="1050" dirty="0"/>
          </a:p>
        </p:txBody>
      </p:sp>
      <p:sp>
        <p:nvSpPr>
          <p:cNvPr id="10" name="Shape 7"/>
          <p:cNvSpPr/>
          <p:nvPr/>
        </p:nvSpPr>
        <p:spPr>
          <a:xfrm>
            <a:off x="5440680" y="2624328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5440680" y="262432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Magnetòmetre</a:t>
            </a:r>
            <a:endParaRPr lang="ca-ES" sz="1050" dirty="0"/>
          </a:p>
        </p:txBody>
      </p:sp>
      <p:sp>
        <p:nvSpPr>
          <p:cNvPr id="12" name="Shape 9"/>
          <p:cNvSpPr/>
          <p:nvPr/>
        </p:nvSpPr>
        <p:spPr>
          <a:xfrm>
            <a:off x="7178040" y="18288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3" name="Text 10"/>
          <p:cNvSpPr/>
          <p:nvPr/>
        </p:nvSpPr>
        <p:spPr>
          <a:xfrm>
            <a:off x="7178040" y="18288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</a:t>
            </a:r>
            <a:endParaRPr lang="ca-ES" sz="1200" dirty="0"/>
          </a:p>
          <a:p>
            <a:pPr marL="0" indent="0" algn="ctr">
              <a:buNone/>
            </a:pPr>
            <a:r>
              <a:rPr lang="ca-ES" sz="12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</a:t>
            </a:r>
            <a:endParaRPr lang="ca-E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32918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5" name="Text 12"/>
          <p:cNvSpPr/>
          <p:nvPr/>
        </p:nvSpPr>
        <p:spPr>
          <a:xfrm>
            <a:off x="690372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i rumb</a:t>
            </a:r>
            <a:endParaRPr lang="ca-E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0" y="1664208"/>
            <a:ext cx="310896" cy="640080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7" name="Shape 14"/>
          <p:cNvSpPr/>
          <p:nvPr/>
        </p:nvSpPr>
        <p:spPr>
          <a:xfrm>
            <a:off x="6858000" y="2267712"/>
            <a:ext cx="310896" cy="36576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8" name="Shape 15"/>
          <p:cNvSpPr/>
          <p:nvPr/>
        </p:nvSpPr>
        <p:spPr>
          <a:xfrm flipV="1">
            <a:off x="6858000" y="2304288"/>
            <a:ext cx="310879" cy="566928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9" name="Shape 16"/>
          <p:cNvSpPr/>
          <p:nvPr/>
        </p:nvSpPr>
        <p:spPr>
          <a:xfrm>
            <a:off x="7653528" y="2788920"/>
            <a:ext cx="0" cy="50292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Telemetria: ARINC 429 sobre NRF24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ca-E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</a:t>
            </a:r>
            <a:endParaRPr lang="ca-ES" sz="850" dirty="0"/>
          </a:p>
        </p:txBody>
      </p:sp>
      <p:sp>
        <p:nvSpPr>
          <p:cNvPr id="8" name="Shape 5"/>
          <p:cNvSpPr/>
          <p:nvPr/>
        </p:nvSpPr>
        <p:spPr>
          <a:xfrm>
            <a:off x="1504188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1504188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</a:t>
            </a:r>
            <a:endParaRPr lang="ca-ES" sz="1150" dirty="0"/>
          </a:p>
        </p:txBody>
      </p:sp>
      <p:sp>
        <p:nvSpPr>
          <p:cNvPr id="10" name="Text 7"/>
          <p:cNvSpPr/>
          <p:nvPr/>
        </p:nvSpPr>
        <p:spPr>
          <a:xfrm>
            <a:off x="1504188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ca-ES" sz="850" dirty="0"/>
          </a:p>
        </p:txBody>
      </p:sp>
      <p:sp>
        <p:nvSpPr>
          <p:cNvPr id="11" name="Shape 8"/>
          <p:cNvSpPr/>
          <p:nvPr/>
        </p:nvSpPr>
        <p:spPr>
          <a:xfrm>
            <a:off x="2551176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2" name="Text 9"/>
          <p:cNvSpPr/>
          <p:nvPr/>
        </p:nvSpPr>
        <p:spPr>
          <a:xfrm>
            <a:off x="2551176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ca-ES" sz="1150" dirty="0"/>
          </a:p>
        </p:txBody>
      </p:sp>
      <p:sp>
        <p:nvSpPr>
          <p:cNvPr id="13" name="Text 10"/>
          <p:cNvSpPr/>
          <p:nvPr/>
        </p:nvSpPr>
        <p:spPr>
          <a:xfrm>
            <a:off x="2551176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ca-ES" sz="850" dirty="0"/>
          </a:p>
        </p:txBody>
      </p:sp>
      <p:sp>
        <p:nvSpPr>
          <p:cNvPr id="14" name="Shape 11"/>
          <p:cNvSpPr/>
          <p:nvPr/>
        </p:nvSpPr>
        <p:spPr>
          <a:xfrm>
            <a:off x="3598164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5" name="Text 12"/>
          <p:cNvSpPr/>
          <p:nvPr/>
        </p:nvSpPr>
        <p:spPr>
          <a:xfrm>
            <a:off x="3598164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3</a:t>
            </a:r>
            <a:endParaRPr lang="ca-ES" sz="1150" dirty="0"/>
          </a:p>
        </p:txBody>
      </p:sp>
      <p:sp>
        <p:nvSpPr>
          <p:cNvPr id="16" name="Text 13"/>
          <p:cNvSpPr/>
          <p:nvPr/>
        </p:nvSpPr>
        <p:spPr>
          <a:xfrm>
            <a:off x="3598164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ca-ES" sz="850" dirty="0"/>
          </a:p>
        </p:txBody>
      </p:sp>
      <p:sp>
        <p:nvSpPr>
          <p:cNvPr id="17" name="Shape 14"/>
          <p:cNvSpPr/>
          <p:nvPr/>
        </p:nvSpPr>
        <p:spPr>
          <a:xfrm>
            <a:off x="4645152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8" name="Text 15"/>
          <p:cNvSpPr/>
          <p:nvPr/>
        </p:nvSpPr>
        <p:spPr>
          <a:xfrm>
            <a:off x="4645152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4</a:t>
            </a:r>
            <a:endParaRPr lang="ca-ES" sz="1150" dirty="0"/>
          </a:p>
        </p:txBody>
      </p:sp>
      <p:sp>
        <p:nvSpPr>
          <p:cNvPr id="19" name="Text 16"/>
          <p:cNvSpPr/>
          <p:nvPr/>
        </p:nvSpPr>
        <p:spPr>
          <a:xfrm>
            <a:off x="4645152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ca-ES" sz="850" dirty="0"/>
          </a:p>
        </p:txBody>
      </p:sp>
      <p:sp>
        <p:nvSpPr>
          <p:cNvPr id="20" name="Shape 17"/>
          <p:cNvSpPr/>
          <p:nvPr/>
        </p:nvSpPr>
        <p:spPr>
          <a:xfrm>
            <a:off x="5692140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1" name="Text 18"/>
          <p:cNvSpPr/>
          <p:nvPr/>
        </p:nvSpPr>
        <p:spPr>
          <a:xfrm>
            <a:off x="5692140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5</a:t>
            </a:r>
            <a:endParaRPr lang="ca-ES" sz="1150" dirty="0"/>
          </a:p>
        </p:txBody>
      </p:sp>
      <p:sp>
        <p:nvSpPr>
          <p:cNvPr id="22" name="Text 19"/>
          <p:cNvSpPr/>
          <p:nvPr/>
        </p:nvSpPr>
        <p:spPr>
          <a:xfrm>
            <a:off x="5692140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ca-ES" sz="850" dirty="0"/>
          </a:p>
        </p:txBody>
      </p:sp>
      <p:sp>
        <p:nvSpPr>
          <p:cNvPr id="23" name="Shape 20"/>
          <p:cNvSpPr/>
          <p:nvPr/>
        </p:nvSpPr>
        <p:spPr>
          <a:xfrm>
            <a:off x="6739128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4" name="Text 21"/>
          <p:cNvSpPr/>
          <p:nvPr/>
        </p:nvSpPr>
        <p:spPr>
          <a:xfrm>
            <a:off x="6739128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6</a:t>
            </a:r>
            <a:endParaRPr lang="ca-ES" sz="1150" dirty="0"/>
          </a:p>
        </p:txBody>
      </p:sp>
      <p:sp>
        <p:nvSpPr>
          <p:cNvPr id="25" name="Text 22"/>
          <p:cNvSpPr/>
          <p:nvPr/>
        </p:nvSpPr>
        <p:spPr>
          <a:xfrm>
            <a:off x="6739128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ca-ES" sz="850" dirty="0"/>
          </a:p>
        </p:txBody>
      </p:sp>
      <p:sp>
        <p:nvSpPr>
          <p:cNvPr id="26" name="Shape 23"/>
          <p:cNvSpPr/>
          <p:nvPr/>
        </p:nvSpPr>
        <p:spPr>
          <a:xfrm>
            <a:off x="7786116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7" name="Text 24"/>
          <p:cNvSpPr/>
          <p:nvPr/>
        </p:nvSpPr>
        <p:spPr>
          <a:xfrm>
            <a:off x="7786116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7</a:t>
            </a:r>
            <a:endParaRPr lang="ca-ES" sz="1150" dirty="0"/>
          </a:p>
        </p:txBody>
      </p:sp>
      <p:sp>
        <p:nvSpPr>
          <p:cNvPr id="28" name="Text 25"/>
          <p:cNvSpPr/>
          <p:nvPr/>
        </p:nvSpPr>
        <p:spPr>
          <a:xfrm>
            <a:off x="7786116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ca-E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43230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Fixos (20 Hz)</a:t>
            </a:r>
            <a:endParaRPr lang="ca-ES" sz="1100" dirty="0"/>
          </a:p>
        </p:txBody>
      </p:sp>
      <p:sp>
        <p:nvSpPr>
          <p:cNvPr id="30" name="Text 27"/>
          <p:cNvSpPr/>
          <p:nvPr/>
        </p:nvSpPr>
        <p:spPr>
          <a:xfrm>
            <a:off x="3598164" y="243230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Multiplexats (planificador EDF)</a:t>
            </a:r>
            <a:endParaRPr lang="ca-E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3246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reutilitza la capa lògica de l'estàndard ARINC 429 sobre l'enllaç de ràdio.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planificador EDF reparteix els slots: baro, VSI, radar i ToF a 10 Hz; GNSS i estat a 5 Hz.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Enllaç a 250 kbps, abast en interior ~100 m, justificat per marge de disseny.</a:t>
            </a:r>
            <a:endParaRPr lang="ca-E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Visualització: el PFD (Basic-T)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84632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6" name="Image 1" descr="assets/p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565" y="1517904"/>
            <a:ext cx="3577590" cy="28620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44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PFD en Processing</a:t>
            </a:r>
            <a:endParaRPr lang="ca-ES" sz="1000" dirty="0"/>
          </a:p>
        </p:txBody>
      </p:sp>
      <p:sp>
        <p:nvSpPr>
          <p:cNvPr id="8" name="Shape 4"/>
          <p:cNvSpPr/>
          <p:nvPr/>
        </p:nvSpPr>
        <p:spPr>
          <a:xfrm>
            <a:off x="5532120" y="156362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9" name="Text 5"/>
          <p:cNvSpPr/>
          <p:nvPr/>
        </p:nvSpPr>
        <p:spPr>
          <a:xfrm>
            <a:off x="580644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Horitzó artificial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- capcineig i balanceig</a:t>
            </a:r>
            <a:endParaRPr lang="ca-ES" sz="1300" dirty="0"/>
          </a:p>
        </p:txBody>
      </p:sp>
      <p:sp>
        <p:nvSpPr>
          <p:cNvPr id="10" name="Shape 6"/>
          <p:cNvSpPr/>
          <p:nvPr/>
        </p:nvSpPr>
        <p:spPr>
          <a:xfrm>
            <a:off x="5532120" y="215798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1" name="Text 7"/>
          <p:cNvSpPr/>
          <p:nvPr/>
        </p:nvSpPr>
        <p:spPr>
          <a:xfrm>
            <a:off x="580644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Velocitat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esquerra - GNSS</a:t>
            </a:r>
            <a:endParaRPr lang="ca-ES" sz="1300" dirty="0"/>
          </a:p>
        </p:txBody>
      </p:sp>
      <p:sp>
        <p:nvSpPr>
          <p:cNvPr id="12" name="Shape 8"/>
          <p:cNvSpPr/>
          <p:nvPr/>
        </p:nvSpPr>
        <p:spPr>
          <a:xfrm>
            <a:off x="5532120" y="275234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3" name="Text 9"/>
          <p:cNvSpPr/>
          <p:nvPr/>
        </p:nvSpPr>
        <p:spPr>
          <a:xfrm>
            <a:off x="58064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dreta - baromètrica</a:t>
            </a:r>
            <a:endParaRPr lang="ca-ES" sz="1300" dirty="0"/>
          </a:p>
        </p:txBody>
      </p:sp>
      <p:sp>
        <p:nvSpPr>
          <p:cNvPr id="14" name="Shape 10"/>
          <p:cNvSpPr/>
          <p:nvPr/>
        </p:nvSpPr>
        <p:spPr>
          <a:xfrm>
            <a:off x="5532120" y="334670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5" name="Text 11"/>
          <p:cNvSpPr/>
          <p:nvPr/>
        </p:nvSpPr>
        <p:spPr>
          <a:xfrm>
            <a:off x="580644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Rumb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inferior - magnètic</a:t>
            </a:r>
            <a:endParaRPr lang="ca-ES" sz="1300" dirty="0"/>
          </a:p>
        </p:txBody>
      </p:sp>
      <p:sp>
        <p:nvSpPr>
          <p:cNvPr id="16" name="Shape 12"/>
          <p:cNvSpPr/>
          <p:nvPr/>
        </p:nvSpPr>
        <p:spPr>
          <a:xfrm>
            <a:off x="5532120" y="394106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7" name="Text 13"/>
          <p:cNvSpPr/>
          <p:nvPr/>
        </p:nvSpPr>
        <p:spPr>
          <a:xfrm>
            <a:off x="580644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Proximitat i VSI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distància al terra i vel. vertical</a:t>
            </a:r>
            <a:endParaRPr lang="ca-E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1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 Basic-T conforme al patró de l'AC 25-11B (RN01). Tanca la cadena del sensor a la pantalla.</a:t>
            </a:r>
            <a:endParaRPr lang="ca-E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Navegació: vista de mapa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independent del PFD, commutable per teclat: traça la posició GNSS.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749808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7" name="Image 1" descr="asset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420" y="1563624"/>
            <a:ext cx="4803160" cy="2450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1788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 de posició sobre tessel·les topogràfiques offline de l'ICGC</a:t>
            </a:r>
            <a:endParaRPr lang="ca-ES" sz="1000" dirty="0"/>
          </a:p>
        </p:txBody>
      </p:sp>
      <p:sp>
        <p:nvSpPr>
          <p:cNvPr id="9" name="Text 5"/>
          <p:cNvSpPr/>
          <p:nvPr/>
        </p:nvSpPr>
        <p:spPr>
          <a:xfrm>
            <a:off x="822960" y="4434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Tessel·les precarregades a disc; la descàrrega en línia sota demanda queda com a treball futur.</a:t>
            </a:r>
            <a:endParaRPr lang="ca-E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Validació: compliment de requisits</a:t>
            </a:r>
            <a:endParaRPr lang="ca-E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688336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Objectiu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Resultat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RP01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Latència &lt; 200 ms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 ms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RP02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Refresc del PFD &gt;= 30 FPS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FPS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RP03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 &gt;= 20 Hz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Hz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RP04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 dins de +-3°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màx. 1,8°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RP05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GNSS &lt;= 2,5 m CEP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 m CEP50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RP06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Abast de desenes de m (interior)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m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1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Tots els requisits funcionals (RF01-RF09) també queden coberts amb el sistema integrat.</a:t>
            </a:r>
            <a:endParaRPr lang="ca-E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Validació: xifres de mèrit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2004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6" name="GNSS Number"/>
          <p:cNvSpPr/>
          <p:nvPr/>
        </p:nvSpPr>
        <p:spPr>
          <a:xfrm>
            <a:off x="457200" y="2050000"/>
            <a:ext cx="32004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5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 m</a:t>
            </a:r>
            <a:endParaRPr lang="ca-ES" sz="5400" dirty="0"/>
          </a:p>
        </p:txBody>
      </p:sp>
      <p:sp>
        <p:nvSpPr>
          <p:cNvPr id="7" name="GNSS Label"/>
          <p:cNvSpPr/>
          <p:nvPr/>
        </p:nvSpPr>
        <p:spPr>
          <a:xfrm>
            <a:off x="457200" y="3080000"/>
            <a:ext cx="32004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CEP50 GNSS, mesurat en estàtic</a:t>
            </a:r>
            <a:endParaRPr lang="ca-ES" sz="1250" dirty="0"/>
          </a:p>
        </p:txBody>
      </p:sp>
      <p:sp>
        <p:nvSpPr>
          <p:cNvPr id="14" name="GNSS Sublabel"/>
          <p:cNvSpPr/>
          <p:nvPr/>
        </p:nvSpPr>
        <p:spPr>
          <a:xfrm>
            <a:off x="457200" y="3470000"/>
            <a:ext cx="32004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 &lt;= 2,5 m (RP05)</a:t>
            </a:r>
            <a:endParaRPr lang="ca-ES" sz="1100" dirty="0"/>
          </a:p>
        </p:txBody>
      </p:sp>
      <p:sp>
        <p:nvSpPr>
          <p:cNvPr id="8" name="Text 4"/>
          <p:cNvSpPr/>
          <p:nvPr/>
        </p:nvSpPr>
        <p:spPr>
          <a:xfrm>
            <a:off x="4023360" y="1508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1,8°</a:t>
            </a:r>
            <a:endParaRPr lang="ca-ES" sz="4000" dirty="0"/>
          </a:p>
        </p:txBody>
      </p:sp>
      <p:sp>
        <p:nvSpPr>
          <p:cNvPr id="9" name="Text 5"/>
          <p:cNvSpPr/>
          <p:nvPr/>
        </p:nvSpPr>
        <p:spPr>
          <a:xfrm>
            <a:off x="4023360" y="2112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màx. d'actitud, mesurat en estàtic (req. +-3°)</a:t>
            </a:r>
            <a:endParaRPr lang="ca-ES" sz="1250" dirty="0"/>
          </a:p>
        </p:txBody>
      </p:sp>
      <p:sp>
        <p:nvSpPr>
          <p:cNvPr id="10" name="Text 6"/>
          <p:cNvSpPr/>
          <p:nvPr/>
        </p:nvSpPr>
        <p:spPr>
          <a:xfrm>
            <a:off x="402336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 ms</a:t>
            </a:r>
            <a:endParaRPr lang="ca-ES" sz="4000" dirty="0"/>
          </a:p>
        </p:txBody>
      </p:sp>
      <p:sp>
        <p:nvSpPr>
          <p:cNvPr id="11" name="Text 7"/>
          <p:cNvSpPr/>
          <p:nvPr/>
        </p:nvSpPr>
        <p:spPr>
          <a:xfrm>
            <a:off x="4023360" y="3118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latència extrem a extrem, fita analítica (&lt; 200 ms)</a:t>
            </a:r>
            <a:endParaRPr lang="ca-ES" sz="1250" dirty="0"/>
          </a:p>
        </p:txBody>
      </p:sp>
      <p:sp>
        <p:nvSpPr>
          <p:cNvPr id="12" name="Text 8"/>
          <p:cNvSpPr/>
          <p:nvPr/>
        </p:nvSpPr>
        <p:spPr>
          <a:xfrm>
            <a:off x="402336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 m</a:t>
            </a:r>
            <a:endParaRPr lang="ca-ES" sz="4000" dirty="0"/>
          </a:p>
        </p:txBody>
      </p:sp>
      <p:sp>
        <p:nvSpPr>
          <p:cNvPr id="13" name="Text 9"/>
          <p:cNvSpPr/>
          <p:nvPr/>
        </p:nvSpPr>
        <p:spPr>
          <a:xfrm>
            <a:off x="4023360" y="4123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abast en interior, per marge de disseny (no mesurat)</a:t>
            </a:r>
            <a:endParaRPr lang="ca-E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ca-E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81328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463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 complert: els tres subsistemes integrats operen com un únic sistema.</a:t>
            </a:r>
            <a:endParaRPr lang="ca-E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58568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240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completa del sensor a la pantalla, amb accés a les magnituds intermèdies.</a:t>
            </a:r>
            <a:endParaRPr lang="ca-E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35808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3017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oberta i replicable per menys de 100 € en materials.</a:t>
            </a:r>
            <a:endParaRPr lang="ca-E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13048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5156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Limitacions assumides: sense redundància i rumb en interior limitat per l'entorn magnètic.</a:t>
            </a:r>
            <a:endParaRPr lang="ca-E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Treball futur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42646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Cartografia en línia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Descarregar les tessel·les sota demanda i cobrir més nivells de zoom.</a:t>
            </a:r>
            <a:endParaRPr lang="ca-E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33172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229514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 en vol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el sistema per instal·lar-lo en un vehicle aeri real.</a:t>
            </a:r>
            <a:endParaRPr lang="ca-E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320040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9184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16382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Caracterització de l'enllaç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reals d'abast i de taxa de pèrdua de paquets.</a:t>
            </a:r>
            <a:endParaRPr lang="ca-ES" sz="1450" dirty="0"/>
          </a:p>
        </p:txBody>
      </p:sp>
      <p:sp>
        <p:nvSpPr>
          <p:cNvPr id="14" name="Shape 8"/>
          <p:cNvSpPr/>
          <p:nvPr/>
        </p:nvSpPr>
        <p:spPr>
          <a:xfrm>
            <a:off x="548640" y="406908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60520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15568" y="403250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com a font de proximitat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l'HLK-LD2410C a l'indicador un cop estabilitzada la seva lectura.</a:t>
            </a:r>
            <a:endParaRPr lang="ca-E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Gràcies</a:t>
            </a:r>
            <a:endParaRPr lang="ca-ES" sz="4800" dirty="0"/>
          </a:p>
        </p:txBody>
      </p:sp>
      <p:sp>
        <p:nvSpPr>
          <p:cNvPr id="3" name="Text 1"/>
          <p:cNvSpPr/>
          <p:nvPr/>
        </p:nvSpPr>
        <p:spPr>
          <a:xfrm>
            <a:off x="566928" y="2240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 en directe de la plataforma: actitud, rumb, altitud i posició en temps real.</a:t>
            </a:r>
            <a:endParaRPr lang="ca-E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342900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55701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Preguntes?</a:t>
            </a:r>
            <a:endParaRPr lang="ca-E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Arnau Mora Perez  ·  ESEIAAT - UPC  ·  Primavera 2026</a:t>
            </a:r>
            <a:endParaRPr lang="ca-ES" sz="1200" dirty="0"/>
          </a:p>
        </p:txBody>
      </p:sp>
      <p:sp>
        <p:nvSpPr>
          <p:cNvPr id="8" name="Shape 5"/>
          <p:cNvSpPr/>
          <p:nvPr/>
        </p:nvSpPr>
        <p:spPr>
          <a:xfrm>
            <a:off x="5440680" y="1188720"/>
            <a:ext cx="3246120" cy="338328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9" name="Image 1" descr="assets/IMG_215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1786467"/>
            <a:ext cx="2953512" cy="2187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45902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 funcionament</a:t>
            </a:r>
            <a:endParaRPr lang="ca-E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0556171-E85C-40AD-ADC2-81E09E8780E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480f2074-b829-455e-9e2b-db9449b466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2263</Words>
  <Application>Microsoft Office PowerPoint</Application>
  <PresentationFormat>On-screen Show (16:9)</PresentationFormat>
  <Paragraphs>248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TFG - Plataforma d'instrumentacio avionica</dc:title>
  <dc:subject>PptxGenJS Presentation</dc:subject>
  <dc:creator>Arnau</dc:creator>
  <cp:lastModifiedBy>Arnau Mora</cp:lastModifiedBy>
  <cp:revision>7</cp:revision>
  <dcterms:created xsi:type="dcterms:W3CDTF">2026-06-19T19:31:44Z</dcterms:created>
  <dcterms:modified xsi:type="dcterms:W3CDTF">2026-07-06T23:31:09Z</dcterms:modified>
</cp:coreProperties>
</file>