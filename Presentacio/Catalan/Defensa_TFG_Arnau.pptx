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73" r:id="rId8"/>
    <p:sldId id="262" r:id="rId9"/>
    <p:sldId id="263" r:id="rId10"/>
    <p:sldId id="274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9" d="100"/>
          <a:sy n="119" d="100"/>
        </p:scale>
        <p:origin x="233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171EB8-DCAB-4648-A104-EB7323203DAC}" type="datetimeFigureOut">
              <a:t>07/07/2026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475A86D-084E-4755-8B14-20B885BB2353}" type="slidenum"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029466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a-ES" dirty="0"/>
              <a:t>PORTADA (~30 s). Presenta't, digues el titol i l'objectiu en una frase: una plataforma experimental de baix cost que emula instrumentacio avionica i recorre tota la cadena, del sensor a la pantalla. OMPLE: el teu nom complet. TEMPS TOTAL OBJECTIU: ~18 min parlat + demo, mai passar de 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ca-ES"/>
              <a:t>1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a-ES" dirty="0"/>
              <a:t>INDEX (~20 s). Enuncia el recorregut rapid sense aturar-te. Serveix perque el tribunal sapiga l'estructura.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ca-ES"/>
              <a:t>2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a-ES" dirty="0"/>
              <a:t>MOTIVACIO (~1,5 min). Tres idees: la instrumentacio comercial es cara i tancada; falta material didactic que mostri la cadena completa; avui es viable fer-ho per menys de 100 EUR amb sensors MEMS i microcontroladors. Connecta-ho amb l'objectiu.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ca-ES"/>
              <a:t>3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a-ES" dirty="0"/>
              <a:t>OBJECTIU (~1,5 min). L'objectiu es dissenyar i implementar la plataforma. Resultat: tres subsistemes (PCB, software, PFD) que operen com un sol sistema. Recolza't en les tres targetes.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ca-ES"/>
              <a:t>4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a-ES" dirty="0"/>
              <a:t>REQUISITS (~1 min). NO llegeixis la taula sencera. Digues que vas fixar objectius mesurables derivats de normes aeronautiques i anomena'n 2 o 3 (latencia, actitud, GNSS, cost). Anticipa que al final mostraras el compliment. Pregunta tipica del tribunal: per que aquests llindars si no busques certificacio -&gt; son orientatius, coherents amb la norma, per tenir criteris objectius.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ca-ES"/>
              <a:t>5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a-ES" dirty="0"/>
              <a:t>ARQUITECTURA (~2,5 min). Es la columna vertebral. Recorre el diagrama d'esquerra a dreta: sensors -&gt; MCU transmissor (ESP32-S3) -&gt; transceptor RF -&gt; transceptor RF -&gt; MCU receptor (ESP32-C3) -&gt; PC amb el PFD. Un transceptor NRF24 a cada node, connectat per SPI al seu MCU. Menciona els busos (I2C/UART, SPI, RF, SPI, USB).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ca-ES"/>
              <a:t>6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a-ES" dirty="0"/>
              <a:t>HARDWARE - DISSENY (~1,5 min). Placa propia de 2 capes, 180x115 mm, fabricada a JLCPCB. ESP32-S3 + suite de sensors. Alimentacio USB-C amb LDO a 3,3 V. Ensenya els renders.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ca-ES"/>
              <a:t>8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a-ES" dirty="0"/>
              <a:t>HARDWARE - PLACA REAL (~1 min). El pas de disseny a hardware fisic, muntat i verificat electricament. Transmissor (esq.) i receptor (dta.). El hardware real causa bona impressio: atura-t'hi un segon.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ca-ES"/>
              <a:t>9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a-ES" dirty="0"/>
              <a:t>FIRMWARE - FUSIO (~1,5 min). Filtre Mahony MARG: combina accelerometre, giroscopi i magnetometre per donar actitud i rumb estables a 100 Hz. Parametres Kp=3,0 i Ki=1,0 (els del slide i la memoria). Quaternio inicialitzat analiticament des de l'accelerometre i el magnetometre: actitud valida des de l'arrencada, l'integrador nomes segueix la deriva lenta. Important: la calibracio del magnetometre es fa amb tot actiu i la radio emetent. Si pregunten per la tilt-compensation: la rotacio a marc terra del filtre ja ho fa.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ca-ES"/>
              <a:t>11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a-ES" dirty="0"/>
              <a:t>TELEMETRIA ARINC (~1,5 min). El diferenciador. Es reutilitza la capa logica d'ARINC 429 sobre la radio. 8 paraules de 32 bits = 32 B, just el payload del NRF24. Tres paraules fixes (actitud i rumb a 20 Hz) i cinc multiplexades amb un planificador EDF que prioritza el parametre mes endarrerit: baro, VSI, radar i ToF a 10 Hz; GNSS i estat a 5 Hz. Abast ~100 m per marge de disseny, no mesurat.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ca-ES"/>
              <a:t>12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a-ES" dirty="0"/>
              <a:t>PFD (~1,5 min). Disposicio Basic-T conforme al patro de l'AC 25-11B (RN01): horitzo al centre, velocitat a l'esquerra, altitud a la dreta, rumb a sota. Tanca la cadena del sensor a la pantalla. Desenvolupat en Processing.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ca-ES"/>
              <a:t>13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a-ES" dirty="0"/>
              <a:t>MAPA (~45 s). Pantalla independent del PFD que dibuixa la posicio GNSS sobre cartografia. Tessel.les offline de l'ICGC, vista commutable per teclat; la descarrega en linia queda com a treball futur. Pots passar rapid.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ca-ES"/>
              <a:t>14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a-ES" dirty="0"/>
              <a:t>COMPLIMENT (~2 min). Diapositiva clau. Tots els requisits de rendiment es compleixen. Destaca: latencia ~85 ms davant de 200, actitud 1,8 graus davant de 3, GNSS 1,00 m CEP50 davant de 2,5, 60 FPS i ~100 m. I els funcionals tambe. IMPORTANT per a preguntes: tingues clar que la latencia de ~85 ms es pressupost de disseny, no mesura directa; prepara't per justificar-ho.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ca-ES"/>
              <a:t>15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a-ES" dirty="0"/>
              <a:t>XIFRES DE MERIT (~1 min). Quatre numeros amb la seva naturalesa explicita: CEP50 1,00 m i actitud 1,8 graus son mesurats en estatic; la latencia de 85 ms es fita analitica de pitjor cas; l'abast de 100 m es marge de disseny del full de dades, no mesurat. Dir-ho tal qual transmet rigor i desactiva les preguntes de si s'ha mesurat.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ca-ES"/>
              <a:t>16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a-ES" dirty="0"/>
              <a:t>CONCLUSIONS (~1,5 min). Objectiu complert, cadena completa, plataforma oberta i replicable per menys de 100 EUR. Sigues honest amb les limitacions: sense redundancia i rumb en interior limitat per l'entorn magnetic.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ca-ES"/>
              <a:t>17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a-ES" dirty="0"/>
              <a:t>TREBALL FUTUR (~45 s). Quatre linies: cartografia en linia, caracteritzacio real de l'enllac (abast i perdua de paquets), radar com a font de proximitat, i integracio en vol. Les dues centrals tanquen els punts ajornats a la validacio.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ca-ES"/>
              <a:t>18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a-ES" dirty="0"/>
              <a:t>DEMO + GRACIES. Engega la demo: inclina la placa (l'horitzo respon), gira (el rumb respon), ensenya altitud/VSI i un fix GNSS sobre el mapa. REGLA D'OR: tingues un video de reserva de 60-90 s per si falla la radio, l'USB o el projector. Logistica: porta el teu portatil, prova el projector abans i tingues la placa encesa i aparellada abans d'entrar. Tanca amb un gracies i obre el torn de preguntes.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ca-ES"/>
              <a:t>19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jpeg"/><Relationship Id="rId4" Type="http://schemas.openxmlformats.org/officeDocument/2006/relationships/image" Target="../media/image18.jpe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4.png"/><Relationship Id="rId4" Type="http://schemas.openxmlformats.org/officeDocument/2006/relationships/image" Target="../media/image2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2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ca-E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Disseny i implementació d'una plataforma experimental d'instrumentació aviònica</a:t>
            </a:r>
            <a:endParaRPr lang="ca-ES" sz="2800" dirty="0"/>
          </a:p>
        </p:txBody>
      </p:sp>
      <p:sp>
        <p:nvSpPr>
          <p:cNvPr id="4" name="Text 1"/>
          <p:cNvSpPr/>
          <p:nvPr/>
        </p:nvSpPr>
        <p:spPr>
          <a:xfrm>
            <a:off x="475488" y="2743200"/>
            <a:ext cx="42062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ca-E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Autor: Arnau Mora Perez</a:t>
            </a:r>
            <a:endParaRPr lang="ca-ES" sz="1300" dirty="0"/>
          </a:p>
          <a:p>
            <a:pPr marL="0" indent="0" algn="l">
              <a:spcAft>
                <a:spcPts val="600"/>
              </a:spcAft>
              <a:buNone/>
            </a:pPr>
            <a:r>
              <a:rPr lang="ca-ES" sz="13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Directors: Juan Mon González i Javier Gago Barrio</a:t>
            </a:r>
            <a:endParaRPr lang="ca-ES" sz="1300" dirty="0"/>
          </a:p>
          <a:p>
            <a:pPr marL="0" indent="0" algn="l">
              <a:spcAft>
                <a:spcPts val="600"/>
              </a:spcAft>
              <a:buNone/>
            </a:pPr>
            <a:r>
              <a:rPr lang="ca-ES" sz="13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Grau en Enginyeria en Vehicles Aeroespacials</a:t>
            </a:r>
            <a:endParaRPr lang="ca-ES" sz="1300" dirty="0"/>
          </a:p>
          <a:p>
            <a:pPr marL="0" indent="0" algn="l">
              <a:spcAft>
                <a:spcPts val="600"/>
              </a:spcAft>
              <a:buNone/>
            </a:pPr>
            <a:r>
              <a:rPr lang="ca-ES" sz="13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ESEIAAT - UPC</a:t>
            </a:r>
            <a:endParaRPr lang="ca-ES" sz="1300" dirty="0"/>
          </a:p>
          <a:p>
            <a:pPr marL="0" indent="0" algn="l">
              <a:spcAft>
                <a:spcPts val="600"/>
              </a:spcAft>
              <a:buNone/>
            </a:pPr>
            <a:r>
              <a:rPr lang="ca-ES" sz="13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Convocatòria Primavera 2026</a:t>
            </a:r>
            <a:endParaRPr lang="ca-ES" sz="1300" dirty="0"/>
          </a:p>
        </p:txBody>
      </p:sp>
      <p:sp>
        <p:nvSpPr>
          <p:cNvPr id="5" name="Shape 2"/>
          <p:cNvSpPr/>
          <p:nvPr/>
        </p:nvSpPr>
        <p:spPr>
          <a:xfrm>
            <a:off x="4937760" y="2697480"/>
            <a:ext cx="3749040" cy="1783080"/>
          </a:xfrm>
          <a:prstGeom prst="roundRect">
            <a:avLst>
              <a:gd name="adj" fmla="val 3590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  <a:effectLst>
            <a:outerShdw blurRad="101600" dist="38100" dir="2700000" algn="bl" rotWithShape="0">
              <a:srgbClr val="1B2A3A">
                <a:alpha val="16000"/>
              </a:srgbClr>
            </a:outerShdw>
          </a:effectLst>
        </p:spPr>
        <p:txBody>
          <a:bodyPr/>
          <a:lstStyle/>
          <a:p>
            <a:endParaRPr lang="ca-ES"/>
          </a:p>
        </p:txBody>
      </p:sp>
      <p:pic>
        <p:nvPicPr>
          <p:cNvPr id="6" name="Image 1" descr="assets/iso_pc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0023" y="2843784"/>
            <a:ext cx="3204515" cy="149047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937760" y="449884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1000" i="1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transmissor - render KiCad</a:t>
            </a:r>
            <a:endParaRPr lang="ca-ES" sz="1000" dirty="0"/>
          </a:p>
        </p:txBody>
      </p:sp>
      <p:pic>
        <p:nvPicPr>
          <p:cNvPr id="9" name="Picture 8" descr="A black background with blue text  AI-generated content may be incorrect.">
            <a:extLst>
              <a:ext uri="{FF2B5EF4-FFF2-40B4-BE49-F238E27FC236}">
                <a16:creationId xmlns:a16="http://schemas.microsoft.com/office/drawing/2014/main" id="{9E980788-A87A-71C0-9056-BAEB00285C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186002"/>
            <a:ext cx="2905221" cy="77411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48640" cy="548640"/>
          </a:xfrm>
          <a:prstGeom prst="ellipse">
            <a:avLst/>
          </a:prstGeom>
          <a:solidFill>
            <a:srgbClr val="F2A900"/>
          </a:solidFill>
          <a:ln/>
          <a:effectLst>
            <a:outerShdw blurRad="101600" dist="38100" dir="2700000" algn="bl" rotWithShape="0">
              <a:srgbClr val="1B2A3A">
                <a:alpha val="16000"/>
              </a:srgbClr>
            </a:outerShdw>
          </a:effectLst>
        </p:spPr>
        <p:txBody>
          <a:bodyPr/>
          <a:lstStyle/>
          <a:p>
            <a:endParaRPr lang="ca-E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502920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8404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ca-ES" sz="2600" b="1" dirty="0">
                <a:solidFill>
                  <a:srgbClr val="0E22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Índex</a:t>
            </a:r>
            <a:endParaRPr lang="ca-ES" sz="2600" dirty="0"/>
          </a:p>
        </p:txBody>
      </p:sp>
      <p:sp>
        <p:nvSpPr>
          <p:cNvPr id="5" name="Shape 2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F2A900"/>
          </a:solidFill>
          <a:ln/>
        </p:spPr>
        <p:txBody>
          <a:bodyPr/>
          <a:lstStyle/>
          <a:p>
            <a:endParaRPr lang="ca-E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1618488"/>
            <a:ext cx="237744" cy="23774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243584" y="15087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ca-ES" sz="1500" b="1" dirty="0">
                <a:solidFill>
                  <a:srgbClr val="0E22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Motivació i objectiu</a:t>
            </a:r>
            <a:endParaRPr lang="ca-ES" sz="1500" dirty="0"/>
          </a:p>
        </p:txBody>
      </p:sp>
      <p:sp>
        <p:nvSpPr>
          <p:cNvPr id="8" name="Shape 4"/>
          <p:cNvSpPr/>
          <p:nvPr/>
        </p:nvSpPr>
        <p:spPr>
          <a:xfrm>
            <a:off x="640080" y="2295144"/>
            <a:ext cx="457200" cy="457200"/>
          </a:xfrm>
          <a:prstGeom prst="ellipse">
            <a:avLst/>
          </a:prstGeom>
          <a:solidFill>
            <a:srgbClr val="F2A900"/>
          </a:solidFill>
          <a:ln/>
        </p:spPr>
        <p:txBody>
          <a:bodyPr/>
          <a:lstStyle/>
          <a:p>
            <a:endParaRPr lang="ca-ES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08" y="2404872"/>
            <a:ext cx="237744" cy="237744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243584" y="229514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ca-ES" sz="1500" b="1" dirty="0">
                <a:solidFill>
                  <a:srgbClr val="0E22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Arquitectura del sistema</a:t>
            </a:r>
            <a:endParaRPr lang="ca-ES" sz="1500" dirty="0"/>
          </a:p>
        </p:txBody>
      </p:sp>
      <p:sp>
        <p:nvSpPr>
          <p:cNvPr id="11" name="Shape 6"/>
          <p:cNvSpPr/>
          <p:nvPr/>
        </p:nvSpPr>
        <p:spPr>
          <a:xfrm>
            <a:off x="640080" y="3081528"/>
            <a:ext cx="457200" cy="457200"/>
          </a:xfrm>
          <a:prstGeom prst="ellipse">
            <a:avLst/>
          </a:prstGeom>
          <a:solidFill>
            <a:srgbClr val="F2A900"/>
          </a:solidFill>
          <a:ln/>
        </p:spPr>
        <p:txBody>
          <a:bodyPr/>
          <a:lstStyle/>
          <a:p>
            <a:endParaRPr lang="ca-ES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808" y="3191256"/>
            <a:ext cx="237744" cy="237744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243584" y="308152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ca-ES" sz="1500" b="1" dirty="0">
                <a:solidFill>
                  <a:srgbClr val="0E22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Disseny hardware: la PCB</a:t>
            </a:r>
            <a:endParaRPr lang="ca-ES" sz="1500" dirty="0"/>
          </a:p>
        </p:txBody>
      </p:sp>
      <p:sp>
        <p:nvSpPr>
          <p:cNvPr id="14" name="Shape 8"/>
          <p:cNvSpPr/>
          <p:nvPr/>
        </p:nvSpPr>
        <p:spPr>
          <a:xfrm>
            <a:off x="640080" y="3867912"/>
            <a:ext cx="457200" cy="457200"/>
          </a:xfrm>
          <a:prstGeom prst="ellipse">
            <a:avLst/>
          </a:prstGeom>
          <a:solidFill>
            <a:srgbClr val="F2A900"/>
          </a:solidFill>
          <a:ln/>
        </p:spPr>
        <p:txBody>
          <a:bodyPr/>
          <a:lstStyle/>
          <a:p>
            <a:endParaRPr lang="ca-ES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808" y="3977640"/>
            <a:ext cx="237744" cy="237744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243584" y="386791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ca-ES" sz="1500" b="1" dirty="0">
                <a:solidFill>
                  <a:srgbClr val="0E22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Software i fusió sensorial</a:t>
            </a:r>
            <a:endParaRPr lang="ca-ES" sz="1500" dirty="0"/>
          </a:p>
        </p:txBody>
      </p:sp>
      <p:sp>
        <p:nvSpPr>
          <p:cNvPr id="17" name="Shape 10"/>
          <p:cNvSpPr/>
          <p:nvPr/>
        </p:nvSpPr>
        <p:spPr>
          <a:xfrm>
            <a:off x="4754880" y="1508760"/>
            <a:ext cx="457200" cy="457200"/>
          </a:xfrm>
          <a:prstGeom prst="ellipse">
            <a:avLst/>
          </a:prstGeom>
          <a:solidFill>
            <a:srgbClr val="F2A900"/>
          </a:solidFill>
          <a:ln/>
        </p:spPr>
        <p:txBody>
          <a:bodyPr/>
          <a:lstStyle/>
          <a:p>
            <a:endParaRPr lang="ca-ES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64608" y="1618488"/>
            <a:ext cx="237744" cy="237744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5358384" y="15087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ca-ES" sz="1500" b="1" dirty="0">
                <a:solidFill>
                  <a:srgbClr val="0E22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Telemetria ARINC 429</a:t>
            </a:r>
            <a:endParaRPr lang="ca-ES" sz="1500" dirty="0"/>
          </a:p>
        </p:txBody>
      </p:sp>
      <p:sp>
        <p:nvSpPr>
          <p:cNvPr id="20" name="Shape 12"/>
          <p:cNvSpPr/>
          <p:nvPr/>
        </p:nvSpPr>
        <p:spPr>
          <a:xfrm>
            <a:off x="4754880" y="2295144"/>
            <a:ext cx="457200" cy="457200"/>
          </a:xfrm>
          <a:prstGeom prst="ellipse">
            <a:avLst/>
          </a:prstGeom>
          <a:solidFill>
            <a:srgbClr val="F2A900"/>
          </a:solidFill>
          <a:ln/>
        </p:spPr>
        <p:txBody>
          <a:bodyPr/>
          <a:lstStyle/>
          <a:p>
            <a:endParaRPr lang="ca-ES"/>
          </a:p>
        </p:txBody>
      </p:sp>
      <p:pic>
        <p:nvPicPr>
          <p:cNvPr id="21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64608" y="2404872"/>
            <a:ext cx="237744" cy="237744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5358384" y="229514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ca-ES" sz="1500" b="1" dirty="0">
                <a:solidFill>
                  <a:srgbClr val="0E22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 Visualització: el PFD</a:t>
            </a:r>
            <a:endParaRPr lang="ca-ES" sz="1500" dirty="0"/>
          </a:p>
        </p:txBody>
      </p:sp>
      <p:sp>
        <p:nvSpPr>
          <p:cNvPr id="23" name="Shape 14"/>
          <p:cNvSpPr/>
          <p:nvPr/>
        </p:nvSpPr>
        <p:spPr>
          <a:xfrm>
            <a:off x="4754880" y="3081528"/>
            <a:ext cx="457200" cy="457200"/>
          </a:xfrm>
          <a:prstGeom prst="ellipse">
            <a:avLst/>
          </a:prstGeom>
          <a:solidFill>
            <a:srgbClr val="F2A900"/>
          </a:solidFill>
          <a:ln/>
        </p:spPr>
        <p:txBody>
          <a:bodyPr/>
          <a:lstStyle/>
          <a:p>
            <a:endParaRPr lang="ca-ES"/>
          </a:p>
        </p:txBody>
      </p:sp>
      <p:pic>
        <p:nvPicPr>
          <p:cNvPr id="24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64608" y="3191256"/>
            <a:ext cx="237744" cy="237744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5358384" y="308152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ca-ES" sz="1500" b="1" dirty="0">
                <a:solidFill>
                  <a:srgbClr val="0E22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 Validació i resultats</a:t>
            </a:r>
            <a:endParaRPr lang="ca-ES" sz="1500" dirty="0"/>
          </a:p>
        </p:txBody>
      </p:sp>
      <p:sp>
        <p:nvSpPr>
          <p:cNvPr id="26" name="Shape 16"/>
          <p:cNvSpPr/>
          <p:nvPr/>
        </p:nvSpPr>
        <p:spPr>
          <a:xfrm>
            <a:off x="4754880" y="3867912"/>
            <a:ext cx="457200" cy="457200"/>
          </a:xfrm>
          <a:prstGeom prst="ellipse">
            <a:avLst/>
          </a:prstGeom>
          <a:solidFill>
            <a:srgbClr val="F2A900"/>
          </a:solidFill>
          <a:ln/>
        </p:spPr>
        <p:txBody>
          <a:bodyPr/>
          <a:lstStyle/>
          <a:p>
            <a:endParaRPr lang="ca-ES"/>
          </a:p>
        </p:txBody>
      </p:sp>
      <p:pic>
        <p:nvPicPr>
          <p:cNvPr id="27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64608" y="3977640"/>
            <a:ext cx="237744" cy="237744"/>
          </a:xfrm>
          <a:prstGeom prst="rect">
            <a:avLst/>
          </a:prstGeom>
        </p:spPr>
      </p:pic>
      <p:sp>
        <p:nvSpPr>
          <p:cNvPr id="28" name="Text 17"/>
          <p:cNvSpPr/>
          <p:nvPr/>
        </p:nvSpPr>
        <p:spPr>
          <a:xfrm>
            <a:off x="5358384" y="386791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ca-ES" sz="1500" b="1" dirty="0">
                <a:solidFill>
                  <a:srgbClr val="0E22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 Conclusions i demo</a:t>
            </a:r>
            <a:endParaRPr lang="ca-E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48640" cy="548640"/>
          </a:xfrm>
          <a:prstGeom prst="ellipse">
            <a:avLst/>
          </a:prstGeom>
          <a:solidFill>
            <a:srgbClr val="F2A900"/>
          </a:solidFill>
          <a:ln/>
          <a:effectLst>
            <a:outerShdw blurRad="101600" dist="38100" dir="2700000" algn="bl" rotWithShape="0">
              <a:srgbClr val="1B2A3A">
                <a:alpha val="16000"/>
              </a:srgbClr>
            </a:outerShdw>
          </a:effectLst>
        </p:spPr>
        <p:txBody>
          <a:bodyPr/>
          <a:lstStyle/>
          <a:p>
            <a:endParaRPr lang="ca-E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502920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8404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ca-ES" sz="2600" b="1" dirty="0">
                <a:solidFill>
                  <a:srgbClr val="0E22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Motivació</a:t>
            </a:r>
            <a:endParaRPr lang="ca-ES" sz="2600" dirty="0"/>
          </a:p>
        </p:txBody>
      </p:sp>
      <p:sp>
        <p:nvSpPr>
          <p:cNvPr id="5" name="Shape 2"/>
          <p:cNvSpPr/>
          <p:nvPr/>
        </p:nvSpPr>
        <p:spPr>
          <a:xfrm>
            <a:off x="548640" y="1417320"/>
            <a:ext cx="420624" cy="420624"/>
          </a:xfrm>
          <a:prstGeom prst="ellipse">
            <a:avLst/>
          </a:prstGeom>
          <a:solidFill>
            <a:srgbClr val="F2A900"/>
          </a:solidFill>
          <a:ln/>
        </p:spPr>
        <p:txBody>
          <a:bodyPr/>
          <a:lstStyle/>
          <a:p>
            <a:endParaRPr lang="ca-E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508760"/>
            <a:ext cx="237744" cy="23774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115568" y="1380744"/>
            <a:ext cx="4187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ca-ES" sz="1450" b="1" dirty="0">
                <a:solidFill>
                  <a:srgbClr val="0E22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Instrumentació cara i tancada</a:t>
            </a:r>
            <a:endParaRPr lang="ca-ES" sz="1450" dirty="0"/>
          </a:p>
          <a:p>
            <a:pPr marL="0" indent="0" algn="l">
              <a:lnSpc>
                <a:spcPct val="100000"/>
              </a:lnSpc>
              <a:buNone/>
            </a:pPr>
            <a:r>
              <a:rPr lang="ca-E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 sistemes comercials són costosos i propietaris, poc accessibles per a la docència.</a:t>
            </a:r>
            <a:endParaRPr lang="ca-ES" sz="1450" dirty="0"/>
          </a:p>
        </p:txBody>
      </p:sp>
      <p:sp>
        <p:nvSpPr>
          <p:cNvPr id="8" name="Shape 4"/>
          <p:cNvSpPr/>
          <p:nvPr/>
        </p:nvSpPr>
        <p:spPr>
          <a:xfrm>
            <a:off x="548640" y="2468880"/>
            <a:ext cx="420624" cy="420624"/>
          </a:xfrm>
          <a:prstGeom prst="ellipse">
            <a:avLst/>
          </a:prstGeom>
          <a:solidFill>
            <a:srgbClr val="F2A900"/>
          </a:solidFill>
          <a:ln/>
        </p:spPr>
        <p:txBody>
          <a:bodyPr/>
          <a:lstStyle/>
          <a:p>
            <a:endParaRPr lang="ca-ES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2560320"/>
            <a:ext cx="237744" cy="237744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115568" y="2432304"/>
            <a:ext cx="4187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ca-ES" sz="1450" b="1" dirty="0">
                <a:solidFill>
                  <a:srgbClr val="0E22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Buit didàctic</a:t>
            </a:r>
            <a:endParaRPr lang="ca-ES" sz="1450" dirty="0"/>
          </a:p>
          <a:p>
            <a:pPr marL="0" indent="0" algn="l">
              <a:lnSpc>
                <a:spcPct val="100000"/>
              </a:lnSpc>
              <a:buNone/>
            </a:pPr>
            <a:r>
              <a:rPr lang="ca-E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Falten plataformes obertes que mostrin tota la cadena, del sensor a la pantalla.</a:t>
            </a:r>
            <a:endParaRPr lang="ca-ES" sz="1450" dirty="0"/>
          </a:p>
        </p:txBody>
      </p:sp>
      <p:sp>
        <p:nvSpPr>
          <p:cNvPr id="11" name="Shape 6"/>
          <p:cNvSpPr/>
          <p:nvPr/>
        </p:nvSpPr>
        <p:spPr>
          <a:xfrm>
            <a:off x="548640" y="3520440"/>
            <a:ext cx="420624" cy="420624"/>
          </a:xfrm>
          <a:prstGeom prst="ellipse">
            <a:avLst/>
          </a:prstGeom>
          <a:solidFill>
            <a:srgbClr val="F2A900"/>
          </a:solidFill>
          <a:ln/>
        </p:spPr>
        <p:txBody>
          <a:bodyPr/>
          <a:lstStyle/>
          <a:p>
            <a:endParaRPr lang="ca-ES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3611880"/>
            <a:ext cx="237744" cy="237744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115568" y="3483864"/>
            <a:ext cx="4187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ca-ES" sz="1450" b="1" dirty="0">
                <a:solidFill>
                  <a:srgbClr val="0E22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Avui és viable a baix cost</a:t>
            </a:r>
            <a:endParaRPr lang="ca-ES" sz="1450" dirty="0"/>
          </a:p>
          <a:p>
            <a:pPr marL="0" indent="0" algn="l">
              <a:lnSpc>
                <a:spcPct val="100000"/>
              </a:lnSpc>
              <a:buNone/>
            </a:pPr>
            <a:r>
              <a:rPr lang="ca-E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 sensors MEMS i els microcontroladors potents permeten replicar la cadena.</a:t>
            </a:r>
            <a:endParaRPr lang="ca-ES" sz="1450" dirty="0"/>
          </a:p>
        </p:txBody>
      </p:sp>
      <p:sp>
        <p:nvSpPr>
          <p:cNvPr id="14" name="Shape 8"/>
          <p:cNvSpPr/>
          <p:nvPr/>
        </p:nvSpPr>
        <p:spPr>
          <a:xfrm>
            <a:off x="5532120" y="1417320"/>
            <a:ext cx="3200400" cy="1783080"/>
          </a:xfrm>
          <a:prstGeom prst="roundRect">
            <a:avLst>
              <a:gd name="adj" fmla="val 3590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  <a:effectLst>
            <a:outerShdw blurRad="101600" dist="38100" dir="2700000" algn="bl" rotWithShape="0">
              <a:srgbClr val="1B2A3A">
                <a:alpha val="16000"/>
              </a:srgbClr>
            </a:outerShdw>
          </a:effectLst>
        </p:spPr>
        <p:txBody>
          <a:bodyPr/>
          <a:lstStyle/>
          <a:p>
            <a:endParaRPr lang="ca-ES"/>
          </a:p>
        </p:txBody>
      </p:sp>
      <p:pic>
        <p:nvPicPr>
          <p:cNvPr id="15" name="Image 4" descr="assets/top_clean_pc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78424" y="1632629"/>
            <a:ext cx="2907792" cy="1352461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5532120" y="321868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1000" i="1" dirty="0">
                <a:solidFill>
                  <a:srgbClr val="5E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desenvolupada</a:t>
            </a:r>
            <a:endParaRPr lang="ca-ES" sz="1000" dirty="0"/>
          </a:p>
        </p:txBody>
      </p:sp>
      <p:sp>
        <p:nvSpPr>
          <p:cNvPr id="17" name="Shape 10"/>
          <p:cNvSpPr/>
          <p:nvPr/>
        </p:nvSpPr>
        <p:spPr>
          <a:xfrm>
            <a:off x="5532120" y="3520440"/>
            <a:ext cx="3200400" cy="1005840"/>
          </a:xfrm>
          <a:prstGeom prst="roundRect">
            <a:avLst>
              <a:gd name="adj" fmla="val 7273"/>
            </a:avLst>
          </a:prstGeom>
          <a:solidFill>
            <a:srgbClr val="F1F6FC"/>
          </a:solidFill>
          <a:ln w="12700">
            <a:solidFill>
              <a:srgbClr val="D7E2EF"/>
            </a:solidFill>
            <a:prstDash val="solid"/>
          </a:ln>
          <a:effectLst>
            <a:outerShdw blurRad="101600" dist="38100" dir="2700000" algn="bl" rotWithShape="0">
              <a:srgbClr val="1B2A3A">
                <a:alpha val="16000"/>
              </a:srgbClr>
            </a:outerShdw>
          </a:effectLst>
        </p:spPr>
        <p:txBody>
          <a:bodyPr/>
          <a:lstStyle/>
          <a:p>
            <a:endParaRPr lang="ca-ES"/>
          </a:p>
        </p:txBody>
      </p:sp>
      <p:sp>
        <p:nvSpPr>
          <p:cNvPr id="18" name="Text 11"/>
          <p:cNvSpPr/>
          <p:nvPr/>
        </p:nvSpPr>
        <p:spPr>
          <a:xfrm>
            <a:off x="5532120" y="356616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3000" b="1" dirty="0">
                <a:solidFill>
                  <a:srgbClr val="F2A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100 €</a:t>
            </a:r>
            <a:endParaRPr lang="ca-ES" sz="3000" dirty="0"/>
          </a:p>
          <a:p>
            <a:pPr marL="0" indent="0" algn="ctr">
              <a:buNone/>
            </a:pPr>
            <a:r>
              <a:rPr lang="ca-E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de materials</a:t>
            </a:r>
            <a:endParaRPr lang="ca-ES" sz="3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48640" cy="548640"/>
          </a:xfrm>
          <a:prstGeom prst="ellipse">
            <a:avLst/>
          </a:prstGeom>
          <a:solidFill>
            <a:srgbClr val="F2A900"/>
          </a:solidFill>
          <a:ln/>
          <a:effectLst>
            <a:outerShdw blurRad="101600" dist="38100" dir="2700000" algn="bl" rotWithShape="0">
              <a:srgbClr val="1B2A3A">
                <a:alpha val="16000"/>
              </a:srgbClr>
            </a:outerShdw>
          </a:effectLst>
        </p:spPr>
        <p:txBody>
          <a:bodyPr/>
          <a:lstStyle/>
          <a:p>
            <a:endParaRPr lang="ca-E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502920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8404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ca-ES" sz="2600" b="1" dirty="0">
                <a:solidFill>
                  <a:srgbClr val="0E22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Objectiu</a:t>
            </a:r>
            <a:endParaRPr lang="ca-ES" sz="2600" dirty="0"/>
          </a:p>
        </p:txBody>
      </p:sp>
      <p:sp>
        <p:nvSpPr>
          <p:cNvPr id="5" name="Text 2"/>
          <p:cNvSpPr/>
          <p:nvPr/>
        </p:nvSpPr>
        <p:spPr>
          <a:xfrm>
            <a:off x="475488" y="107899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ca-ES" sz="1400" i="1" dirty="0">
                <a:solidFill>
                  <a:srgbClr val="5E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experimental de baix cost que recorre la cadena completa: del sensor a la pantalla.</a:t>
            </a:r>
            <a:endParaRPr lang="ca-E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691640"/>
            <a:ext cx="2651760" cy="2788920"/>
          </a:xfrm>
          <a:prstGeom prst="roundRect">
            <a:avLst>
              <a:gd name="adj" fmla="val 3103"/>
            </a:avLst>
          </a:prstGeom>
          <a:solidFill>
            <a:srgbClr val="F1F6FC"/>
          </a:solidFill>
          <a:ln w="12700">
            <a:solidFill>
              <a:srgbClr val="D7E2EF"/>
            </a:solidFill>
            <a:prstDash val="solid"/>
          </a:ln>
          <a:effectLst>
            <a:outerShdw blurRad="101600" dist="38100" dir="2700000" algn="bl" rotWithShape="0">
              <a:srgbClr val="1B2A3A">
                <a:alpha val="16000"/>
              </a:srgbClr>
            </a:outerShdw>
          </a:effectLst>
        </p:spPr>
        <p:txBody>
          <a:bodyPr/>
          <a:lstStyle/>
          <a:p>
            <a:endParaRPr lang="ca-ES"/>
          </a:p>
        </p:txBody>
      </p:sp>
      <p:sp>
        <p:nvSpPr>
          <p:cNvPr id="7" name="Shape 4"/>
          <p:cNvSpPr/>
          <p:nvPr/>
        </p:nvSpPr>
        <p:spPr>
          <a:xfrm>
            <a:off x="1417320" y="1965960"/>
            <a:ext cx="731520" cy="731520"/>
          </a:xfrm>
          <a:prstGeom prst="ellipse">
            <a:avLst/>
          </a:prstGeom>
          <a:solidFill>
            <a:srgbClr val="F2A900"/>
          </a:solidFill>
          <a:ln/>
        </p:spPr>
        <p:txBody>
          <a:bodyPr/>
          <a:lstStyle/>
          <a:p>
            <a:endParaRPr lang="ca-ES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0200" y="2148840"/>
            <a:ext cx="365760" cy="3657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57200" y="27889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1900" b="1" dirty="0">
                <a:solidFill>
                  <a:srgbClr val="0E22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PCB</a:t>
            </a:r>
            <a:endParaRPr lang="ca-ES" sz="1900" dirty="0"/>
          </a:p>
        </p:txBody>
      </p:sp>
      <p:sp>
        <p:nvSpPr>
          <p:cNvPr id="10" name="Text 6"/>
          <p:cNvSpPr/>
          <p:nvPr/>
        </p:nvSpPr>
        <p:spPr>
          <a:xfrm>
            <a:off x="685800" y="324612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ca-E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 el microcontrolador i els sensors en una placa pròpia.</a:t>
            </a:r>
            <a:endParaRPr lang="ca-ES" sz="1250" dirty="0"/>
          </a:p>
        </p:txBody>
      </p:sp>
      <p:sp>
        <p:nvSpPr>
          <p:cNvPr id="11" name="Shape 7"/>
          <p:cNvSpPr/>
          <p:nvPr/>
        </p:nvSpPr>
        <p:spPr>
          <a:xfrm>
            <a:off x="3319272" y="1691640"/>
            <a:ext cx="2651760" cy="2788920"/>
          </a:xfrm>
          <a:prstGeom prst="roundRect">
            <a:avLst>
              <a:gd name="adj" fmla="val 3103"/>
            </a:avLst>
          </a:prstGeom>
          <a:solidFill>
            <a:srgbClr val="F1F6FC"/>
          </a:solidFill>
          <a:ln w="12700">
            <a:solidFill>
              <a:srgbClr val="D7E2EF"/>
            </a:solidFill>
            <a:prstDash val="solid"/>
          </a:ln>
          <a:effectLst>
            <a:outerShdw blurRad="101600" dist="38100" dir="2700000" algn="bl" rotWithShape="0">
              <a:srgbClr val="1B2A3A">
                <a:alpha val="16000"/>
              </a:srgbClr>
            </a:outerShdw>
          </a:effectLst>
        </p:spPr>
        <p:txBody>
          <a:bodyPr/>
          <a:lstStyle/>
          <a:p>
            <a:endParaRPr lang="ca-ES"/>
          </a:p>
        </p:txBody>
      </p:sp>
      <p:sp>
        <p:nvSpPr>
          <p:cNvPr id="12" name="Shape 8"/>
          <p:cNvSpPr/>
          <p:nvPr/>
        </p:nvSpPr>
        <p:spPr>
          <a:xfrm>
            <a:off x="4279392" y="1965960"/>
            <a:ext cx="731520" cy="731520"/>
          </a:xfrm>
          <a:prstGeom prst="ellipse">
            <a:avLst/>
          </a:prstGeom>
          <a:solidFill>
            <a:srgbClr val="F2A900"/>
          </a:solidFill>
          <a:ln/>
        </p:spPr>
        <p:txBody>
          <a:bodyPr/>
          <a:lstStyle/>
          <a:p>
            <a:endParaRPr lang="ca-E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2272" y="2148840"/>
            <a:ext cx="365760" cy="36576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319272" y="27889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1900" b="1" dirty="0">
                <a:solidFill>
                  <a:srgbClr val="0E22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Software</a:t>
            </a:r>
            <a:endParaRPr lang="ca-ES" sz="1900" dirty="0"/>
          </a:p>
        </p:txBody>
      </p:sp>
      <p:sp>
        <p:nvSpPr>
          <p:cNvPr id="15" name="Text 10"/>
          <p:cNvSpPr/>
          <p:nvPr/>
        </p:nvSpPr>
        <p:spPr>
          <a:xfrm>
            <a:off x="3547872" y="324612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ca-E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Adquireix, calibra, fusiona i transmet les dades.</a:t>
            </a:r>
            <a:endParaRPr lang="ca-ES" sz="1250" dirty="0"/>
          </a:p>
        </p:txBody>
      </p:sp>
      <p:sp>
        <p:nvSpPr>
          <p:cNvPr id="16" name="Shape 11"/>
          <p:cNvSpPr/>
          <p:nvPr/>
        </p:nvSpPr>
        <p:spPr>
          <a:xfrm>
            <a:off x="6181344" y="1691640"/>
            <a:ext cx="2651760" cy="2788920"/>
          </a:xfrm>
          <a:prstGeom prst="roundRect">
            <a:avLst>
              <a:gd name="adj" fmla="val 3103"/>
            </a:avLst>
          </a:prstGeom>
          <a:solidFill>
            <a:srgbClr val="F1F6FC"/>
          </a:solidFill>
          <a:ln w="12700">
            <a:solidFill>
              <a:srgbClr val="D7E2EF"/>
            </a:solidFill>
            <a:prstDash val="solid"/>
          </a:ln>
          <a:effectLst>
            <a:outerShdw blurRad="101600" dist="38100" dir="2700000" algn="bl" rotWithShape="0">
              <a:srgbClr val="1B2A3A">
                <a:alpha val="16000"/>
              </a:srgbClr>
            </a:outerShdw>
          </a:effectLst>
        </p:spPr>
        <p:txBody>
          <a:bodyPr/>
          <a:lstStyle/>
          <a:p>
            <a:endParaRPr lang="ca-ES"/>
          </a:p>
        </p:txBody>
      </p:sp>
      <p:sp>
        <p:nvSpPr>
          <p:cNvPr id="17" name="Shape 12"/>
          <p:cNvSpPr/>
          <p:nvPr/>
        </p:nvSpPr>
        <p:spPr>
          <a:xfrm>
            <a:off x="7141464" y="1965960"/>
            <a:ext cx="731520" cy="731520"/>
          </a:xfrm>
          <a:prstGeom prst="ellipse">
            <a:avLst/>
          </a:prstGeom>
          <a:solidFill>
            <a:srgbClr val="F2A900"/>
          </a:solidFill>
          <a:ln/>
        </p:spPr>
        <p:txBody>
          <a:bodyPr/>
          <a:lstStyle/>
          <a:p>
            <a:endParaRPr lang="ca-ES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24344" y="2148840"/>
            <a:ext cx="365760" cy="36576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181344" y="27889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1900" b="1" dirty="0">
                <a:solidFill>
                  <a:srgbClr val="0E22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PFD</a:t>
            </a:r>
            <a:endParaRPr lang="ca-ES" sz="1900" dirty="0"/>
          </a:p>
        </p:txBody>
      </p:sp>
      <p:sp>
        <p:nvSpPr>
          <p:cNvPr id="20" name="Text 14"/>
          <p:cNvSpPr/>
          <p:nvPr/>
        </p:nvSpPr>
        <p:spPr>
          <a:xfrm>
            <a:off x="6409944" y="324612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ca-E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Mostra els paràmetres en disposició Basic-T en temps real.</a:t>
            </a:r>
            <a:endParaRPr lang="ca-E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48640" cy="548640"/>
          </a:xfrm>
          <a:prstGeom prst="ellipse">
            <a:avLst/>
          </a:prstGeom>
          <a:solidFill>
            <a:srgbClr val="F2A900"/>
          </a:solidFill>
          <a:ln/>
          <a:effectLst>
            <a:outerShdw blurRad="101600" dist="38100" dir="2700000" algn="bl" rotWithShape="0">
              <a:srgbClr val="1B2A3A">
                <a:alpha val="16000"/>
              </a:srgbClr>
            </a:outerShdw>
          </a:effectLst>
        </p:spPr>
        <p:txBody>
          <a:bodyPr/>
          <a:lstStyle/>
          <a:p>
            <a:endParaRPr lang="ca-E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502920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8404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ca-ES" sz="2600" b="1" dirty="0">
                <a:solidFill>
                  <a:srgbClr val="0E22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Requisits</a:t>
            </a:r>
            <a:endParaRPr lang="ca-ES" sz="2600" dirty="0"/>
          </a:p>
        </p:txBody>
      </p:sp>
      <p:sp>
        <p:nvSpPr>
          <p:cNvPr id="5" name="Text 2"/>
          <p:cNvSpPr/>
          <p:nvPr/>
        </p:nvSpPr>
        <p:spPr>
          <a:xfrm>
            <a:off x="475488" y="107899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ca-ES" sz="1400" i="1" dirty="0">
                <a:solidFill>
                  <a:srgbClr val="5E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Objectius mesurables derivats de normes aeronàutiques de referència.</a:t>
            </a:r>
            <a:endParaRPr lang="ca-E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508760"/>
            <a:ext cx="1920240" cy="868680"/>
          </a:xfrm>
          <a:prstGeom prst="roundRect">
            <a:avLst>
              <a:gd name="adj" fmla="val 6316"/>
            </a:avLst>
          </a:prstGeom>
          <a:solidFill>
            <a:srgbClr val="0E2244"/>
          </a:solidFill>
          <a:ln w="15875">
            <a:solidFill>
              <a:srgbClr val="0E2244"/>
            </a:solidFill>
            <a:prstDash val="solid"/>
          </a:ln>
          <a:effectLst>
            <a:outerShdw blurRad="101600" dist="38100" dir="2700000" algn="bl" rotWithShape="0">
              <a:srgbClr val="1B2A3A">
                <a:alpha val="16000"/>
              </a:srgbClr>
            </a:outerShdw>
          </a:effectLst>
        </p:spPr>
        <p:txBody>
          <a:bodyPr/>
          <a:lstStyle/>
          <a:p>
            <a:endParaRPr lang="ca-ES"/>
          </a:p>
        </p:txBody>
      </p:sp>
      <p:sp>
        <p:nvSpPr>
          <p:cNvPr id="7" name="Text 4"/>
          <p:cNvSpPr/>
          <p:nvPr/>
        </p:nvSpPr>
        <p:spPr>
          <a:xfrm>
            <a:off x="457200" y="150876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18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</a:t>
            </a:r>
            <a:endParaRPr lang="ca-ES" sz="1800" dirty="0"/>
          </a:p>
          <a:p>
            <a:pPr marL="0" indent="0" algn="ctr">
              <a:buNone/>
            </a:pPr>
            <a:r>
              <a:rPr lang="ca-ES" sz="11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Funcionals</a:t>
            </a:r>
            <a:endParaRPr lang="ca-ES" sz="1800" dirty="0"/>
          </a:p>
        </p:txBody>
      </p:sp>
      <p:sp>
        <p:nvSpPr>
          <p:cNvPr id="8" name="Shape 5"/>
          <p:cNvSpPr/>
          <p:nvPr/>
        </p:nvSpPr>
        <p:spPr>
          <a:xfrm>
            <a:off x="2587752" y="1508760"/>
            <a:ext cx="1920240" cy="868680"/>
          </a:xfrm>
          <a:prstGeom prst="roundRect">
            <a:avLst>
              <a:gd name="adj" fmla="val 6316"/>
            </a:avLst>
          </a:prstGeom>
          <a:solidFill>
            <a:srgbClr val="0E2244"/>
          </a:solidFill>
          <a:ln w="15875">
            <a:solidFill>
              <a:srgbClr val="0E2244"/>
            </a:solidFill>
            <a:prstDash val="solid"/>
          </a:ln>
          <a:effectLst>
            <a:outerShdw blurRad="101600" dist="38100" dir="2700000" algn="bl" rotWithShape="0">
              <a:srgbClr val="1B2A3A">
                <a:alpha val="16000"/>
              </a:srgbClr>
            </a:outerShdw>
          </a:effectLst>
        </p:spPr>
        <p:txBody>
          <a:bodyPr/>
          <a:lstStyle/>
          <a:p>
            <a:endParaRPr lang="ca-ES"/>
          </a:p>
        </p:txBody>
      </p:sp>
      <p:sp>
        <p:nvSpPr>
          <p:cNvPr id="9" name="Text 6"/>
          <p:cNvSpPr/>
          <p:nvPr/>
        </p:nvSpPr>
        <p:spPr>
          <a:xfrm>
            <a:off x="2587752" y="150876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18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</a:t>
            </a:r>
            <a:endParaRPr lang="ca-ES" sz="1800" dirty="0"/>
          </a:p>
          <a:p>
            <a:pPr marL="0" indent="0" algn="ctr">
              <a:buNone/>
            </a:pPr>
            <a:r>
              <a:rPr lang="ca-ES" sz="11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Rendiment</a:t>
            </a:r>
            <a:endParaRPr lang="ca-ES" sz="1800" dirty="0"/>
          </a:p>
        </p:txBody>
      </p:sp>
      <p:sp>
        <p:nvSpPr>
          <p:cNvPr id="10" name="Shape 7"/>
          <p:cNvSpPr/>
          <p:nvPr/>
        </p:nvSpPr>
        <p:spPr>
          <a:xfrm>
            <a:off x="4718304" y="1508760"/>
            <a:ext cx="1920240" cy="868680"/>
          </a:xfrm>
          <a:prstGeom prst="roundRect">
            <a:avLst>
              <a:gd name="adj" fmla="val 6316"/>
            </a:avLst>
          </a:prstGeom>
          <a:solidFill>
            <a:srgbClr val="0E2244"/>
          </a:solidFill>
          <a:ln w="15875">
            <a:solidFill>
              <a:srgbClr val="0E2244"/>
            </a:solidFill>
            <a:prstDash val="solid"/>
          </a:ln>
          <a:effectLst>
            <a:outerShdw blurRad="101600" dist="38100" dir="2700000" algn="bl" rotWithShape="0">
              <a:srgbClr val="1B2A3A">
                <a:alpha val="16000"/>
              </a:srgbClr>
            </a:outerShdw>
          </a:effectLst>
        </p:spPr>
        <p:txBody>
          <a:bodyPr/>
          <a:lstStyle/>
          <a:p>
            <a:endParaRPr lang="ca-ES"/>
          </a:p>
        </p:txBody>
      </p:sp>
      <p:sp>
        <p:nvSpPr>
          <p:cNvPr id="11" name="Text 8"/>
          <p:cNvSpPr/>
          <p:nvPr/>
        </p:nvSpPr>
        <p:spPr>
          <a:xfrm>
            <a:off x="4718304" y="150876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18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</a:t>
            </a:r>
            <a:endParaRPr lang="ca-ES" sz="1800" dirty="0"/>
          </a:p>
          <a:p>
            <a:pPr marL="0" indent="0" algn="ctr">
              <a:buNone/>
            </a:pPr>
            <a:r>
              <a:rPr lang="ca-ES" sz="11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Restriccions</a:t>
            </a:r>
            <a:endParaRPr lang="ca-ES" sz="1800" dirty="0"/>
          </a:p>
        </p:txBody>
      </p:sp>
      <p:sp>
        <p:nvSpPr>
          <p:cNvPr id="12" name="Shape 9"/>
          <p:cNvSpPr/>
          <p:nvPr/>
        </p:nvSpPr>
        <p:spPr>
          <a:xfrm>
            <a:off x="6848856" y="1508760"/>
            <a:ext cx="1920240" cy="868680"/>
          </a:xfrm>
          <a:prstGeom prst="roundRect">
            <a:avLst>
              <a:gd name="adj" fmla="val 6316"/>
            </a:avLst>
          </a:prstGeom>
          <a:solidFill>
            <a:srgbClr val="0E2244"/>
          </a:solidFill>
          <a:ln w="15875">
            <a:solidFill>
              <a:srgbClr val="0E2244"/>
            </a:solidFill>
            <a:prstDash val="solid"/>
          </a:ln>
          <a:effectLst>
            <a:outerShdw blurRad="101600" dist="38100" dir="2700000" algn="bl" rotWithShape="0">
              <a:srgbClr val="1B2A3A">
                <a:alpha val="16000"/>
              </a:srgbClr>
            </a:outerShdw>
          </a:effectLst>
        </p:spPr>
        <p:txBody>
          <a:bodyPr/>
          <a:lstStyle/>
          <a:p>
            <a:endParaRPr lang="ca-ES"/>
          </a:p>
        </p:txBody>
      </p:sp>
      <p:sp>
        <p:nvSpPr>
          <p:cNvPr id="13" name="Text 10"/>
          <p:cNvSpPr/>
          <p:nvPr/>
        </p:nvSpPr>
        <p:spPr>
          <a:xfrm>
            <a:off x="6848856" y="150876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18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</a:t>
            </a:r>
            <a:endParaRPr lang="ca-ES" sz="1800" dirty="0"/>
          </a:p>
          <a:p>
            <a:pPr marL="0" indent="0" algn="ctr">
              <a:buNone/>
            </a:pPr>
            <a:r>
              <a:rPr lang="ca-ES" sz="11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Normatius</a:t>
            </a:r>
            <a:endParaRPr lang="ca-ES" sz="1800" dirty="0"/>
          </a:p>
        </p:txBody>
      </p:sp>
      <p:sp>
        <p:nvSpPr>
          <p:cNvPr id="14" name="Text 11"/>
          <p:cNvSpPr/>
          <p:nvPr/>
        </p:nvSpPr>
        <p:spPr>
          <a:xfrm>
            <a:off x="475488" y="2606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ca-ES" sz="1400" b="1" dirty="0">
                <a:solidFill>
                  <a:srgbClr val="0E22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Objectius clau</a:t>
            </a:r>
            <a:endParaRPr lang="ca-ES" sz="1400" dirty="0"/>
          </a:p>
        </p:txBody>
      </p:sp>
      <p:sp>
        <p:nvSpPr>
          <p:cNvPr id="15" name="Text 12"/>
          <p:cNvSpPr/>
          <p:nvPr/>
        </p:nvSpPr>
        <p:spPr>
          <a:xfrm>
            <a:off x="548640" y="29718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ca-E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Latència extrem a extrem &lt; 200 ms</a:t>
            </a:r>
            <a:endParaRPr lang="ca-ES" sz="1300" dirty="0"/>
          </a:p>
        </p:txBody>
      </p:sp>
      <p:sp>
        <p:nvSpPr>
          <p:cNvPr id="16" name="Text 13"/>
          <p:cNvSpPr/>
          <p:nvPr/>
        </p:nvSpPr>
        <p:spPr>
          <a:xfrm>
            <a:off x="4846320" y="29718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ca-E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Refresc del PFD &gt;= 30 FPS</a:t>
            </a:r>
            <a:endParaRPr lang="ca-ES" sz="1300" dirty="0"/>
          </a:p>
        </p:txBody>
      </p:sp>
      <p:sp>
        <p:nvSpPr>
          <p:cNvPr id="17" name="Text 14"/>
          <p:cNvSpPr/>
          <p:nvPr/>
        </p:nvSpPr>
        <p:spPr>
          <a:xfrm>
            <a:off x="548640" y="33832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ca-E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Actitud dins de +-3°</a:t>
            </a:r>
            <a:endParaRPr lang="ca-ES" sz="1300" dirty="0"/>
          </a:p>
        </p:txBody>
      </p:sp>
      <p:sp>
        <p:nvSpPr>
          <p:cNvPr id="18" name="Text 15"/>
          <p:cNvSpPr/>
          <p:nvPr/>
        </p:nvSpPr>
        <p:spPr>
          <a:xfrm>
            <a:off x="4846320" y="33832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ca-E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Posicionament GNSS &lt;= 2,5 m CEP</a:t>
            </a:r>
            <a:endParaRPr lang="ca-ES" sz="1300" dirty="0"/>
          </a:p>
        </p:txBody>
      </p:sp>
      <p:sp>
        <p:nvSpPr>
          <p:cNvPr id="19" name="Text 16"/>
          <p:cNvSpPr/>
          <p:nvPr/>
        </p:nvSpPr>
        <p:spPr>
          <a:xfrm>
            <a:off x="548640" y="37947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ca-E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de materials &lt; 100 €</a:t>
            </a:r>
            <a:endParaRPr lang="ca-ES" sz="1300" dirty="0"/>
          </a:p>
        </p:txBody>
      </p:sp>
      <p:sp>
        <p:nvSpPr>
          <p:cNvPr id="20" name="Text 17"/>
          <p:cNvSpPr/>
          <p:nvPr/>
        </p:nvSpPr>
        <p:spPr>
          <a:xfrm>
            <a:off x="4846320" y="37947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ca-E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Alimentació per USB-C, software obert</a:t>
            </a:r>
            <a:endParaRPr lang="ca-E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48640" cy="548640"/>
          </a:xfrm>
          <a:prstGeom prst="ellipse">
            <a:avLst/>
          </a:prstGeom>
          <a:solidFill>
            <a:srgbClr val="F2A900"/>
          </a:solidFill>
          <a:ln/>
          <a:effectLst>
            <a:outerShdw blurRad="101600" dist="38100" dir="2700000" algn="bl" rotWithShape="0">
              <a:srgbClr val="1B2A3A">
                <a:alpha val="16000"/>
              </a:srgbClr>
            </a:outerShdw>
          </a:effectLst>
        </p:spPr>
        <p:txBody>
          <a:bodyPr/>
          <a:lstStyle/>
          <a:p>
            <a:endParaRPr lang="ca-E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502920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8404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ca-ES" sz="2600" b="1" dirty="0">
                <a:solidFill>
                  <a:srgbClr val="0E22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Arquitectura del sistema</a:t>
            </a:r>
            <a:endParaRPr lang="ca-ES" sz="2600" dirty="0"/>
          </a:p>
        </p:txBody>
      </p:sp>
      <p:sp>
        <p:nvSpPr>
          <p:cNvPr id="5" name="Text 2"/>
          <p:cNvSpPr/>
          <p:nvPr/>
        </p:nvSpPr>
        <p:spPr>
          <a:xfrm>
            <a:off x="475488" y="107899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ca-ES" sz="1400" i="1" dirty="0">
                <a:solidFill>
                  <a:srgbClr val="5E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transmissor - receptor amb enllaç sense fils.</a:t>
            </a:r>
            <a:endParaRPr lang="ca-ES" sz="1400" dirty="0"/>
          </a:p>
        </p:txBody>
      </p:sp>
      <p:sp>
        <p:nvSpPr>
          <p:cNvPr id="6" name="Shape 3"/>
          <p:cNvSpPr/>
          <p:nvPr/>
        </p:nvSpPr>
        <p:spPr>
          <a:xfrm>
            <a:off x="393192" y="2331720"/>
            <a:ext cx="1316736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5875">
            <a:solidFill>
              <a:srgbClr val="0E2244"/>
            </a:solidFill>
            <a:prstDash val="solid"/>
          </a:ln>
          <a:effectLst>
            <a:outerShdw blurRad="101600" dist="38100" dir="2700000" algn="bl" rotWithShape="0">
              <a:srgbClr val="1B2A3A">
                <a:alpha val="16000"/>
              </a:srgbClr>
            </a:outerShdw>
          </a:effectLst>
        </p:spPr>
        <p:txBody>
          <a:bodyPr/>
          <a:lstStyle/>
          <a:p>
            <a:endParaRPr lang="ca-ES"/>
          </a:p>
        </p:txBody>
      </p:sp>
      <p:sp>
        <p:nvSpPr>
          <p:cNvPr id="7" name="Text 4"/>
          <p:cNvSpPr/>
          <p:nvPr/>
        </p:nvSpPr>
        <p:spPr>
          <a:xfrm>
            <a:off x="393192" y="2331720"/>
            <a:ext cx="131673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1250" b="1" dirty="0">
                <a:solidFill>
                  <a:srgbClr val="0E22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Sensors</a:t>
            </a:r>
            <a:endParaRPr lang="ca-ES" sz="1250" dirty="0"/>
          </a:p>
          <a:p>
            <a:pPr marL="0" indent="0" algn="ctr">
              <a:buNone/>
            </a:pPr>
            <a:r>
              <a:rPr lang="ca-ES" sz="950" dirty="0">
                <a:solidFill>
                  <a:srgbClr val="5E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IMU · Baro · GNSS</a:t>
            </a:r>
            <a:endParaRPr lang="ca-ES" sz="1250" dirty="0"/>
          </a:p>
          <a:p>
            <a:pPr marL="0" indent="0" algn="ctr">
              <a:buNone/>
            </a:pPr>
            <a:r>
              <a:rPr lang="ca-ES" sz="950" dirty="0">
                <a:solidFill>
                  <a:srgbClr val="5E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ToF · Radar</a:t>
            </a:r>
            <a:endParaRPr lang="ca-ES" sz="1250" dirty="0"/>
          </a:p>
        </p:txBody>
      </p:sp>
      <p:sp>
        <p:nvSpPr>
          <p:cNvPr id="8" name="Shape 5"/>
          <p:cNvSpPr/>
          <p:nvPr/>
        </p:nvSpPr>
        <p:spPr>
          <a:xfrm>
            <a:off x="1911096" y="2331720"/>
            <a:ext cx="120700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5875">
            <a:solidFill>
              <a:srgbClr val="0E2244"/>
            </a:solidFill>
            <a:prstDash val="solid"/>
          </a:ln>
          <a:effectLst>
            <a:outerShdw blurRad="101600" dist="38100" dir="2700000" algn="bl" rotWithShape="0">
              <a:srgbClr val="1B2A3A">
                <a:alpha val="16000"/>
              </a:srgbClr>
            </a:outerShdw>
          </a:effectLst>
        </p:spPr>
        <p:txBody>
          <a:bodyPr/>
          <a:lstStyle/>
          <a:p>
            <a:endParaRPr lang="ca-ES"/>
          </a:p>
        </p:txBody>
      </p:sp>
      <p:sp>
        <p:nvSpPr>
          <p:cNvPr id="9" name="Text 6"/>
          <p:cNvSpPr/>
          <p:nvPr/>
        </p:nvSpPr>
        <p:spPr>
          <a:xfrm>
            <a:off x="1911096" y="2331720"/>
            <a:ext cx="120700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1250" b="1" dirty="0">
                <a:solidFill>
                  <a:srgbClr val="0E22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MCU Transmissor</a:t>
            </a:r>
            <a:endParaRPr lang="ca-ES" sz="1250" dirty="0"/>
          </a:p>
          <a:p>
            <a:pPr marL="0" indent="0" algn="ctr">
              <a:buNone/>
            </a:pPr>
            <a:r>
              <a:rPr lang="ca-ES" sz="950" dirty="0">
                <a:solidFill>
                  <a:srgbClr val="5E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ESP32-S3</a:t>
            </a:r>
            <a:endParaRPr lang="ca-ES" sz="1250" dirty="0"/>
          </a:p>
        </p:txBody>
      </p:sp>
      <p:sp>
        <p:nvSpPr>
          <p:cNvPr id="10" name="Shape 7"/>
          <p:cNvSpPr/>
          <p:nvPr/>
        </p:nvSpPr>
        <p:spPr>
          <a:xfrm>
            <a:off x="3319992" y="2331720"/>
            <a:ext cx="1207008" cy="1325880"/>
          </a:xfrm>
          <a:prstGeom prst="roundRect">
            <a:avLst>
              <a:gd name="adj" fmla="val 4138"/>
            </a:avLst>
          </a:prstGeom>
          <a:solidFill>
            <a:srgbClr val="FDF1D6"/>
          </a:solidFill>
          <a:ln w="22225">
            <a:solidFill>
              <a:srgbClr val="F2A900"/>
            </a:solidFill>
            <a:prstDash val="solid"/>
          </a:ln>
          <a:effectLst>
            <a:outerShdw blurRad="101600" dist="38100" dir="2700000" algn="bl" rotWithShape="0">
              <a:srgbClr val="1B2A3A">
                <a:alpha val="16000"/>
              </a:srgbClr>
            </a:outerShdw>
          </a:effectLst>
        </p:spPr>
        <p:txBody>
          <a:bodyPr/>
          <a:lstStyle/>
          <a:p>
            <a:endParaRPr lang="ca-ES"/>
          </a:p>
        </p:txBody>
      </p:sp>
      <p:sp>
        <p:nvSpPr>
          <p:cNvPr id="11" name="Text 8"/>
          <p:cNvSpPr/>
          <p:nvPr/>
        </p:nvSpPr>
        <p:spPr>
          <a:xfrm>
            <a:off x="3319992" y="2331720"/>
            <a:ext cx="120700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1250" b="1" dirty="0">
                <a:solidFill>
                  <a:srgbClr val="0E22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Transceptor RF</a:t>
            </a:r>
            <a:endParaRPr lang="ca-ES" sz="1250" dirty="0"/>
          </a:p>
          <a:p>
            <a:pPr marL="0" indent="0" algn="ctr">
              <a:buNone/>
            </a:pPr>
            <a:r>
              <a:rPr lang="ca-ES" sz="950" dirty="0">
                <a:solidFill>
                  <a:srgbClr val="5E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NRF24L01+</a:t>
            </a:r>
            <a:endParaRPr lang="ca-ES" sz="1250" dirty="0"/>
          </a:p>
        </p:txBody>
      </p:sp>
      <p:sp>
        <p:nvSpPr>
          <p:cNvPr id="12" name="Shape 9"/>
          <p:cNvSpPr/>
          <p:nvPr/>
        </p:nvSpPr>
        <p:spPr>
          <a:xfrm>
            <a:off x="6135624" y="2331720"/>
            <a:ext cx="120700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5875">
            <a:solidFill>
              <a:srgbClr val="0E2244"/>
            </a:solidFill>
            <a:prstDash val="solid"/>
          </a:ln>
          <a:effectLst>
            <a:outerShdw blurRad="101600" dist="38100" dir="2700000" algn="bl" rotWithShape="0">
              <a:srgbClr val="1B2A3A">
                <a:alpha val="16000"/>
              </a:srgbClr>
            </a:outerShdw>
          </a:effectLst>
        </p:spPr>
        <p:txBody>
          <a:bodyPr/>
          <a:lstStyle/>
          <a:p>
            <a:endParaRPr lang="ca-ES"/>
          </a:p>
        </p:txBody>
      </p:sp>
      <p:sp>
        <p:nvSpPr>
          <p:cNvPr id="13" name="Text 10"/>
          <p:cNvSpPr/>
          <p:nvPr/>
        </p:nvSpPr>
        <p:spPr>
          <a:xfrm>
            <a:off x="6135624" y="2331720"/>
            <a:ext cx="120700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1250" b="1" dirty="0">
                <a:solidFill>
                  <a:srgbClr val="0E22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MCU Receptor</a:t>
            </a:r>
            <a:endParaRPr lang="ca-ES" sz="1250" dirty="0"/>
          </a:p>
          <a:p>
            <a:pPr marL="0" indent="0" algn="ctr">
              <a:buNone/>
            </a:pPr>
            <a:r>
              <a:rPr lang="ca-ES" sz="950" dirty="0">
                <a:solidFill>
                  <a:srgbClr val="5E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ESP32-C3</a:t>
            </a:r>
            <a:endParaRPr lang="ca-ES" sz="1250" dirty="0"/>
          </a:p>
        </p:txBody>
      </p:sp>
      <p:sp>
        <p:nvSpPr>
          <p:cNvPr id="14" name="Shape 11"/>
          <p:cNvSpPr/>
          <p:nvPr/>
        </p:nvSpPr>
        <p:spPr>
          <a:xfrm>
            <a:off x="7543800" y="2331720"/>
            <a:ext cx="120700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5875">
            <a:solidFill>
              <a:srgbClr val="0E2244"/>
            </a:solidFill>
            <a:prstDash val="solid"/>
          </a:ln>
          <a:effectLst>
            <a:outerShdw blurRad="101600" dist="38100" dir="2700000" algn="bl" rotWithShape="0">
              <a:srgbClr val="1B2A3A">
                <a:alpha val="16000"/>
              </a:srgbClr>
            </a:outerShdw>
          </a:effectLst>
        </p:spPr>
        <p:txBody>
          <a:bodyPr/>
          <a:lstStyle/>
          <a:p>
            <a:endParaRPr lang="ca-ES"/>
          </a:p>
        </p:txBody>
      </p:sp>
      <p:sp>
        <p:nvSpPr>
          <p:cNvPr id="15" name="Text 12"/>
          <p:cNvSpPr/>
          <p:nvPr/>
        </p:nvSpPr>
        <p:spPr>
          <a:xfrm>
            <a:off x="7543800" y="2331720"/>
            <a:ext cx="120700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1250" b="1" dirty="0">
                <a:solidFill>
                  <a:srgbClr val="0E22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 / PFD</a:t>
            </a:r>
            <a:endParaRPr lang="ca-ES" sz="1250" dirty="0"/>
          </a:p>
          <a:p>
            <a:pPr marL="0" indent="0" algn="ctr">
              <a:buNone/>
            </a:pPr>
            <a:r>
              <a:rPr lang="ca-ES" sz="950" dirty="0">
                <a:solidFill>
                  <a:srgbClr val="5E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</a:t>
            </a:r>
            <a:endParaRPr lang="ca-ES" sz="1250" dirty="0"/>
          </a:p>
        </p:txBody>
      </p:sp>
      <p:sp>
        <p:nvSpPr>
          <p:cNvPr id="16" name="Shape 13"/>
          <p:cNvSpPr/>
          <p:nvPr/>
        </p:nvSpPr>
        <p:spPr>
          <a:xfrm>
            <a:off x="1728216" y="2994660"/>
            <a:ext cx="164592" cy="0"/>
          </a:xfrm>
          <a:prstGeom prst="line">
            <a:avLst/>
          </a:prstGeom>
          <a:noFill/>
          <a:ln w="31750">
            <a:solidFill>
              <a:srgbClr val="F2A900"/>
            </a:solidFill>
            <a:prstDash val="solid"/>
          </a:ln>
        </p:spPr>
        <p:txBody>
          <a:bodyPr/>
          <a:lstStyle/>
          <a:p>
            <a:endParaRPr lang="ca-ES"/>
          </a:p>
        </p:txBody>
      </p:sp>
      <p:sp>
        <p:nvSpPr>
          <p:cNvPr id="17" name="Text 14"/>
          <p:cNvSpPr/>
          <p:nvPr/>
        </p:nvSpPr>
        <p:spPr>
          <a:xfrm>
            <a:off x="1719072" y="2848356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18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ca-ES" sz="1800" dirty="0"/>
          </a:p>
        </p:txBody>
      </p:sp>
      <p:sp>
        <p:nvSpPr>
          <p:cNvPr id="18" name="Text 15"/>
          <p:cNvSpPr/>
          <p:nvPr/>
        </p:nvSpPr>
        <p:spPr>
          <a:xfrm>
            <a:off x="1609344" y="2610612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950" dirty="0">
                <a:solidFill>
                  <a:srgbClr val="5E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I2C / UART</a:t>
            </a:r>
            <a:endParaRPr lang="ca-ES" sz="950" dirty="0"/>
          </a:p>
        </p:txBody>
      </p:sp>
      <p:sp>
        <p:nvSpPr>
          <p:cNvPr id="19" name="Shape 16"/>
          <p:cNvSpPr/>
          <p:nvPr/>
        </p:nvSpPr>
        <p:spPr>
          <a:xfrm>
            <a:off x="3136392" y="2994660"/>
            <a:ext cx="164592" cy="0"/>
          </a:xfrm>
          <a:prstGeom prst="line">
            <a:avLst/>
          </a:prstGeom>
          <a:noFill/>
          <a:ln w="31750">
            <a:solidFill>
              <a:srgbClr val="F2A900"/>
            </a:solidFill>
            <a:prstDash val="solid"/>
          </a:ln>
        </p:spPr>
        <p:txBody>
          <a:bodyPr/>
          <a:lstStyle/>
          <a:p>
            <a:endParaRPr lang="ca-ES"/>
          </a:p>
        </p:txBody>
      </p:sp>
      <p:sp>
        <p:nvSpPr>
          <p:cNvPr id="20" name="Text 17"/>
          <p:cNvSpPr/>
          <p:nvPr/>
        </p:nvSpPr>
        <p:spPr>
          <a:xfrm>
            <a:off x="3127248" y="2848356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18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ca-ES" sz="1800" dirty="0"/>
          </a:p>
        </p:txBody>
      </p:sp>
      <p:sp>
        <p:nvSpPr>
          <p:cNvPr id="21" name="Text 18"/>
          <p:cNvSpPr/>
          <p:nvPr/>
        </p:nvSpPr>
        <p:spPr>
          <a:xfrm>
            <a:off x="3017520" y="2610612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950" dirty="0">
                <a:solidFill>
                  <a:srgbClr val="5E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</a:t>
            </a:r>
            <a:endParaRPr lang="ca-ES" sz="950" dirty="0"/>
          </a:p>
        </p:txBody>
      </p:sp>
      <p:sp>
        <p:nvSpPr>
          <p:cNvPr id="22" name="Shape 19"/>
          <p:cNvSpPr/>
          <p:nvPr/>
        </p:nvSpPr>
        <p:spPr>
          <a:xfrm>
            <a:off x="4544568" y="2994660"/>
            <a:ext cx="164592" cy="0"/>
          </a:xfrm>
          <a:prstGeom prst="line">
            <a:avLst/>
          </a:prstGeom>
          <a:noFill/>
          <a:ln w="31750">
            <a:solidFill>
              <a:srgbClr val="F2A900"/>
            </a:solidFill>
            <a:prstDash val="solid"/>
          </a:ln>
        </p:spPr>
        <p:txBody>
          <a:bodyPr/>
          <a:lstStyle/>
          <a:p>
            <a:endParaRPr lang="ca-ES"/>
          </a:p>
        </p:txBody>
      </p:sp>
      <p:sp>
        <p:nvSpPr>
          <p:cNvPr id="23" name="Text 20"/>
          <p:cNvSpPr/>
          <p:nvPr/>
        </p:nvSpPr>
        <p:spPr>
          <a:xfrm>
            <a:off x="4535424" y="2848356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18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ca-ES" sz="1800" dirty="0"/>
          </a:p>
        </p:txBody>
      </p:sp>
      <p:sp>
        <p:nvSpPr>
          <p:cNvPr id="24" name="Text 21"/>
          <p:cNvSpPr/>
          <p:nvPr/>
        </p:nvSpPr>
        <p:spPr>
          <a:xfrm>
            <a:off x="4425696" y="2610612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950" dirty="0">
                <a:solidFill>
                  <a:srgbClr val="5E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</a:t>
            </a:r>
            <a:endParaRPr lang="ca-ES" sz="950" dirty="0"/>
          </a:p>
        </p:txBody>
      </p:sp>
      <p:sp>
        <p:nvSpPr>
          <p:cNvPr id="25" name="Shape 22"/>
          <p:cNvSpPr/>
          <p:nvPr/>
        </p:nvSpPr>
        <p:spPr>
          <a:xfrm>
            <a:off x="5952744" y="2994660"/>
            <a:ext cx="164592" cy="0"/>
          </a:xfrm>
          <a:prstGeom prst="line">
            <a:avLst/>
          </a:prstGeom>
          <a:noFill/>
          <a:ln w="31750">
            <a:solidFill>
              <a:srgbClr val="F2A900"/>
            </a:solidFill>
            <a:prstDash val="solid"/>
          </a:ln>
        </p:spPr>
        <p:txBody>
          <a:bodyPr/>
          <a:lstStyle/>
          <a:p>
            <a:endParaRPr lang="ca-ES"/>
          </a:p>
        </p:txBody>
      </p:sp>
      <p:sp>
        <p:nvSpPr>
          <p:cNvPr id="26" name="Text 23"/>
          <p:cNvSpPr/>
          <p:nvPr/>
        </p:nvSpPr>
        <p:spPr>
          <a:xfrm>
            <a:off x="5943600" y="2848356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18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ca-ES" sz="1800" dirty="0"/>
          </a:p>
        </p:txBody>
      </p:sp>
      <p:sp>
        <p:nvSpPr>
          <p:cNvPr id="27" name="Text 24"/>
          <p:cNvSpPr/>
          <p:nvPr/>
        </p:nvSpPr>
        <p:spPr>
          <a:xfrm>
            <a:off x="5833872" y="2610612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950" dirty="0">
                <a:solidFill>
                  <a:srgbClr val="5E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</a:t>
            </a:r>
            <a:endParaRPr lang="ca-ES" sz="950" dirty="0"/>
          </a:p>
        </p:txBody>
      </p:sp>
      <p:sp>
        <p:nvSpPr>
          <p:cNvPr id="28" name="Text 25"/>
          <p:cNvSpPr/>
          <p:nvPr/>
        </p:nvSpPr>
        <p:spPr>
          <a:xfrm>
            <a:off x="475488" y="3977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paquet: tres paraules ARINC 429 fixes (actitud i rumb, 20 Hz) i cinc slots multiplexats sobre l'enllaç de ràdio.</a:t>
            </a:r>
            <a:endParaRPr lang="ca-ES" sz="1200" dirty="0"/>
          </a:p>
        </p:txBody>
      </p:sp>
      <p:sp>
        <p:nvSpPr>
          <p:cNvPr id="29" name="Shape 7"/>
          <p:cNvSpPr/>
          <p:nvPr/>
        </p:nvSpPr>
        <p:spPr>
          <a:xfrm>
            <a:off x="4727448" y="2331720"/>
            <a:ext cx="1207008" cy="1325880"/>
          </a:xfrm>
          <a:prstGeom prst="roundRect">
            <a:avLst>
              <a:gd name="adj" fmla="val 4138"/>
            </a:avLst>
          </a:prstGeom>
          <a:solidFill>
            <a:srgbClr val="FDF1D6"/>
          </a:solidFill>
          <a:ln w="22225">
            <a:solidFill>
              <a:srgbClr val="F2A900"/>
            </a:solidFill>
            <a:prstDash val="solid"/>
          </a:ln>
          <a:effectLst>
            <a:outerShdw blurRad="101600" dist="38100" dir="2700000" algn="bl" rotWithShape="0">
              <a:srgbClr val="1B2A3A">
                <a:alpha val="16000"/>
              </a:srgbClr>
            </a:outerShdw>
          </a:effectLst>
        </p:spPr>
        <p:txBody>
          <a:bodyPr/>
          <a:lstStyle/>
          <a:p>
            <a:endParaRPr lang="ca-ES"/>
          </a:p>
        </p:txBody>
      </p:sp>
      <p:sp>
        <p:nvSpPr>
          <p:cNvPr id="30" name="Text 8"/>
          <p:cNvSpPr/>
          <p:nvPr/>
        </p:nvSpPr>
        <p:spPr>
          <a:xfrm>
            <a:off x="4727448" y="2331720"/>
            <a:ext cx="120700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1250" b="1" dirty="0">
                <a:solidFill>
                  <a:srgbClr val="0E22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Transceptor RF</a:t>
            </a:r>
            <a:endParaRPr lang="ca-ES" sz="1250" dirty="0"/>
          </a:p>
          <a:p>
            <a:pPr marL="0" indent="0" algn="ctr">
              <a:buNone/>
            </a:pPr>
            <a:r>
              <a:rPr lang="ca-ES" sz="950" dirty="0">
                <a:solidFill>
                  <a:srgbClr val="5E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NRF24L01+</a:t>
            </a:r>
            <a:endParaRPr lang="ca-ES" sz="1250" dirty="0"/>
          </a:p>
        </p:txBody>
      </p:sp>
      <p:sp>
        <p:nvSpPr>
          <p:cNvPr id="31" name="Shape 22"/>
          <p:cNvSpPr/>
          <p:nvPr/>
        </p:nvSpPr>
        <p:spPr>
          <a:xfrm>
            <a:off x="7360920" y="2994660"/>
            <a:ext cx="164592" cy="0"/>
          </a:xfrm>
          <a:prstGeom prst="line">
            <a:avLst/>
          </a:prstGeom>
          <a:noFill/>
          <a:ln w="31750">
            <a:solidFill>
              <a:srgbClr val="F2A900"/>
            </a:solidFill>
            <a:prstDash val="solid"/>
          </a:ln>
        </p:spPr>
        <p:txBody>
          <a:bodyPr/>
          <a:lstStyle/>
          <a:p>
            <a:endParaRPr lang="ca-ES"/>
          </a:p>
        </p:txBody>
      </p:sp>
      <p:sp>
        <p:nvSpPr>
          <p:cNvPr id="32" name="Text 23"/>
          <p:cNvSpPr/>
          <p:nvPr/>
        </p:nvSpPr>
        <p:spPr>
          <a:xfrm>
            <a:off x="7351776" y="2848356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18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ca-ES" sz="1800" dirty="0"/>
          </a:p>
        </p:txBody>
      </p:sp>
      <p:sp>
        <p:nvSpPr>
          <p:cNvPr id="33" name="Text 24"/>
          <p:cNvSpPr/>
          <p:nvPr/>
        </p:nvSpPr>
        <p:spPr>
          <a:xfrm>
            <a:off x="7242048" y="2610612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950" dirty="0">
                <a:solidFill>
                  <a:srgbClr val="5E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USB</a:t>
            </a:r>
            <a:endParaRPr lang="ca-E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48640" cy="548640"/>
          </a:xfrm>
          <a:prstGeom prst="ellipse">
            <a:avLst/>
          </a:prstGeom>
          <a:solidFill>
            <a:srgbClr val="F2A900"/>
          </a:solidFill>
          <a:ln/>
          <a:effectLst>
            <a:outerShdw blurRad="101600" dist="38100" dir="2700000" algn="bl" rotWithShape="0">
              <a:srgbClr val="1B2A3A">
                <a:alpha val="16000"/>
              </a:srgbClr>
            </a:outerShdw>
          </a:effectLst>
        </p:spPr>
        <p:txBody>
          <a:bodyPr/>
          <a:lstStyle/>
          <a:p>
            <a:endParaRPr lang="ca-E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502920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8404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ca-ES" sz="2600" b="1" dirty="0">
                <a:solidFill>
                  <a:srgbClr val="0E22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Decisions de disseny: arquitectura i enllaç</a:t>
            </a:r>
            <a:endParaRPr lang="ca-ES" sz="2600" dirty="0"/>
          </a:p>
        </p:txBody>
      </p:sp>
      <p:sp>
        <p:nvSpPr>
          <p:cNvPr id="5" name="Text 2"/>
          <p:cNvSpPr/>
          <p:nvPr/>
        </p:nvSpPr>
        <p:spPr>
          <a:xfrm>
            <a:off x="475488" y="107899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ca-ES" sz="1400" i="1" dirty="0">
                <a:solidFill>
                  <a:srgbClr val="5E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què dos nodes, un enllaç de ràdio i telemetria ARINC 429.</a:t>
            </a:r>
            <a:endParaRPr lang="ca-E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1600200"/>
            <a:ext cx="3962400" cy="30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ca-ES" sz="1400" b="1" dirty="0">
                <a:solidFill>
                  <a:srgbClr val="0E22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Partició transmissor / receptor</a:t>
            </a:r>
            <a:endParaRPr lang="ca-E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1920240"/>
            <a:ext cx="39624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Bef>
                <a:spcPts val="300"/>
              </a:spcBef>
              <a:buSzPct val="100000"/>
              <a:buChar char="•"/>
            </a:pPr>
            <a:r>
              <a:rPr lang="ca-E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Reflecteix l'arquitectura real d'una aeronau.</a:t>
            </a:r>
          </a:p>
          <a:p>
            <a:pPr marL="177800" indent="-177800">
              <a:spcBef>
                <a:spcPts val="600"/>
              </a:spcBef>
              <a:buSzPct val="100000"/>
              <a:buChar char="•"/>
            </a:pPr>
            <a:r>
              <a:rPr lang="ca-E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Dona mobilitat al node de sensors davant del PC fix.</a:t>
            </a:r>
          </a:p>
          <a:p>
            <a:pPr marL="177800" indent="-177800">
              <a:spcBef>
                <a:spcPts val="600"/>
              </a:spcBef>
              <a:buSzPct val="100000"/>
              <a:buChar char="•"/>
            </a:pPr>
            <a:r>
              <a:rPr lang="ca-E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Afegeix un enllaç sense fils amb valor docent.</a:t>
            </a:r>
          </a:p>
        </p:txBody>
      </p:sp>
      <p:sp>
        <p:nvSpPr>
          <p:cNvPr id="8" name="Text 5"/>
          <p:cNvSpPr/>
          <p:nvPr/>
        </p:nvSpPr>
        <p:spPr>
          <a:xfrm>
            <a:off x="457200" y="3093720"/>
            <a:ext cx="3962400" cy="30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ca-ES" sz="1400" b="1" dirty="0">
                <a:solidFill>
                  <a:srgbClr val="0E22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Enllaç de ràdio: RF 2,4 GHz (ISM)</a:t>
            </a:r>
            <a:endParaRPr lang="ca-E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3413760"/>
            <a:ext cx="3962400" cy="9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Bef>
                <a:spcPts val="300"/>
              </a:spcBef>
              <a:buSzPct val="100000"/>
              <a:buChar char="•"/>
            </a:pPr>
            <a:r>
              <a:rPr lang="ca-E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Descartats cable sèrie, WiFi-UDP i Bluetooth / BLE.</a:t>
            </a:r>
          </a:p>
          <a:p>
            <a:pPr marL="177800" indent="-177800">
              <a:spcBef>
                <a:spcPts val="600"/>
              </a:spcBef>
              <a:buSzPct val="100000"/>
              <a:buChar char="•"/>
            </a:pPr>
            <a:r>
              <a:rPr lang="ca-E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Triat per baixa latència, abast suficient i baix cost.</a:t>
            </a:r>
          </a:p>
        </p:txBody>
      </p:sp>
      <p:sp>
        <p:nvSpPr>
          <p:cNvPr id="10" name="Shape 7"/>
          <p:cNvSpPr/>
          <p:nvPr/>
        </p:nvSpPr>
        <p:spPr>
          <a:xfrm>
            <a:off x="4724400" y="1600200"/>
            <a:ext cx="3962400" cy="2713320"/>
          </a:xfrm>
          <a:prstGeom prst="roundRect">
            <a:avLst>
              <a:gd name="adj" fmla="val 6316"/>
            </a:avLst>
          </a:prstGeom>
          <a:solidFill>
            <a:srgbClr val="0E2244"/>
          </a:solidFill>
          <a:ln w="15875">
            <a:solidFill>
              <a:srgbClr val="0E2244"/>
            </a:solidFill>
            <a:prstDash val="solid"/>
          </a:ln>
          <a:effectLst>
            <a:outerShdw blurRad="101600" dist="38100" dir="2700000" algn="bl" rotWithShape="0">
              <a:srgbClr val="1B2A3A">
                <a:alpha val="16000"/>
              </a:srgbClr>
            </a:outerShdw>
          </a:effectLst>
        </p:spPr>
        <p:txBody>
          <a:bodyPr/>
          <a:lstStyle/>
          <a:p>
            <a:endParaRPr lang="ca-ES"/>
          </a:p>
        </p:txBody>
      </p:sp>
      <p:sp>
        <p:nvSpPr>
          <p:cNvPr id="11" name="Text 8"/>
          <p:cNvSpPr/>
          <p:nvPr/>
        </p:nvSpPr>
        <p:spPr>
          <a:xfrm>
            <a:off x="4968240" y="1798320"/>
            <a:ext cx="3474720" cy="2332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ca-ES" sz="18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 lògica ARINC 429</a:t>
            </a:r>
          </a:p>
          <a:p>
            <a:pPr marL="177800" indent="-177800">
              <a:spcBef>
                <a:spcPts val="600"/>
              </a:spcBef>
              <a:buSzPct val="100000"/>
              <a:buChar char="•"/>
            </a:pPr>
            <a:r>
              <a:rPr lang="ca-ES" sz="13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Traçabilitat amb la pràctica aeronàutica real.</a:t>
            </a:r>
          </a:p>
          <a:p>
            <a:pPr marL="177800" indent="-177800">
              <a:spcBef>
                <a:spcPts val="600"/>
              </a:spcBef>
              <a:buSzPct val="100000"/>
              <a:buChar char="•"/>
            </a:pPr>
            <a:r>
              <a:rPr lang="ca-ES" sz="13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docent: etiquetes, BNR, paritat i SSM.</a:t>
            </a:r>
          </a:p>
          <a:p>
            <a:pPr marL="177800" indent="-177800">
              <a:spcBef>
                <a:spcPts val="600"/>
              </a:spcBef>
              <a:buSzPct val="100000"/>
              <a:buChar char="•"/>
            </a:pPr>
            <a:r>
              <a:rPr lang="ca-ES" sz="13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Paraula de 32 bits ja estructurada; sense dissenyar un format des de zero.</a:t>
            </a:r>
          </a:p>
        </p:txBody>
      </p:sp>
      <p:sp>
        <p:nvSpPr>
          <p:cNvPr id="12" name="Text 9"/>
          <p:cNvSpPr/>
          <p:nvPr/>
        </p:nvSpPr>
        <p:spPr>
          <a:xfrm>
            <a:off x="475488" y="4485155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ca-ES" sz="1050" i="1" dirty="0">
                <a:solidFill>
                  <a:srgbClr val="5E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payload de 32 B del NRF24 equival exactament a 8 paraules ARINC 429 de 32 bits.</a:t>
            </a:r>
            <a:endParaRPr lang="ca-E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48640" cy="548640"/>
          </a:xfrm>
          <a:prstGeom prst="ellipse">
            <a:avLst/>
          </a:prstGeom>
          <a:solidFill>
            <a:srgbClr val="F2A900"/>
          </a:solidFill>
          <a:ln/>
          <a:effectLst>
            <a:outerShdw blurRad="101600" dist="38100" dir="2700000" algn="bl" rotWithShape="0">
              <a:srgbClr val="1B2A3A">
                <a:alpha val="16000"/>
              </a:srgbClr>
            </a:outerShdw>
          </a:effectLst>
        </p:spPr>
        <p:txBody>
          <a:bodyPr/>
          <a:lstStyle/>
          <a:p>
            <a:endParaRPr lang="ca-E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502920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88643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ca-ES" sz="2600" b="1" dirty="0">
                <a:solidFill>
                  <a:srgbClr val="0E22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Hardware: disseny de la PCB</a:t>
            </a:r>
            <a:endParaRPr lang="ca-E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71600"/>
            <a:ext cx="4069080" cy="1892808"/>
          </a:xfrm>
          <a:prstGeom prst="roundRect">
            <a:avLst>
              <a:gd name="adj" fmla="val 3382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  <a:effectLst>
            <a:outerShdw blurRad="101600" dist="38100" dir="2700000" algn="bl" rotWithShape="0">
              <a:srgbClr val="1B2A3A">
                <a:alpha val="16000"/>
              </a:srgbClr>
            </a:outerShdw>
          </a:effectLst>
        </p:spPr>
        <p:txBody>
          <a:bodyPr/>
          <a:lstStyle/>
          <a:p>
            <a:endParaRPr lang="ca-ES"/>
          </a:p>
        </p:txBody>
      </p:sp>
      <p:pic>
        <p:nvPicPr>
          <p:cNvPr id="6" name="Image 1" descr="assets/iso_pc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525" y="1517904"/>
            <a:ext cx="3440430" cy="16002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57200" y="3282696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1000" i="1" dirty="0">
                <a:solidFill>
                  <a:srgbClr val="5E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isomètric (KiCad)</a:t>
            </a:r>
            <a:endParaRPr lang="ca-ES" sz="1000" dirty="0"/>
          </a:p>
        </p:txBody>
      </p:sp>
      <p:sp>
        <p:nvSpPr>
          <p:cNvPr id="8" name="Shape 4"/>
          <p:cNvSpPr/>
          <p:nvPr/>
        </p:nvSpPr>
        <p:spPr>
          <a:xfrm>
            <a:off x="4663440" y="1371600"/>
            <a:ext cx="4069080" cy="1892808"/>
          </a:xfrm>
          <a:prstGeom prst="roundRect">
            <a:avLst>
              <a:gd name="adj" fmla="val 3382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  <a:effectLst>
            <a:outerShdw blurRad="101600" dist="38100" dir="2700000" algn="bl" rotWithShape="0">
              <a:srgbClr val="1B2A3A">
                <a:alpha val="16000"/>
              </a:srgbClr>
            </a:outerShdw>
          </a:effectLst>
        </p:spPr>
        <p:txBody>
          <a:bodyPr/>
          <a:lstStyle/>
          <a:p>
            <a:endParaRPr lang="ca-ES"/>
          </a:p>
        </p:txBody>
      </p:sp>
      <p:pic>
        <p:nvPicPr>
          <p:cNvPr id="9" name="Image 2" descr="assets/top_clean_pc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77765" y="1517904"/>
            <a:ext cx="3440430" cy="16002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663440" y="3282696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1000" i="1" dirty="0">
                <a:solidFill>
                  <a:srgbClr val="5E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superior (KiCad)</a:t>
            </a:r>
            <a:endParaRPr lang="ca-ES" sz="1000" dirty="0"/>
          </a:p>
        </p:txBody>
      </p:sp>
      <p:sp>
        <p:nvSpPr>
          <p:cNvPr id="11" name="Text 6"/>
          <p:cNvSpPr/>
          <p:nvPr/>
        </p:nvSpPr>
        <p:spPr>
          <a:xfrm>
            <a:off x="548640" y="366679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 algn="l">
              <a:spcAft>
                <a:spcPts val="600"/>
              </a:spcAft>
              <a:buSzPct val="100000"/>
              <a:buChar char="•"/>
            </a:pPr>
            <a:r>
              <a:rPr lang="ca-E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Placa pròpia de 2 capes (180 x 115 mm), fabricada a JLCPCB.</a:t>
            </a:r>
            <a:endParaRPr lang="ca-ES" sz="1300" dirty="0"/>
          </a:p>
          <a:p>
            <a:pPr marL="203200" indent="-203200" algn="l">
              <a:spcAft>
                <a:spcPts val="600"/>
              </a:spcAft>
              <a:buSzPct val="100000"/>
              <a:buChar char="•"/>
            </a:pPr>
            <a:r>
              <a:rPr lang="ca-E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Nucli ESP32-S3 amb la suite de sensors: IMU, baròmetre, GNSS, ToF i radar.</a:t>
            </a:r>
            <a:endParaRPr lang="ca-ES" sz="1300" dirty="0"/>
          </a:p>
          <a:p>
            <a:pPr marL="203200" indent="-203200" algn="l">
              <a:spcAft>
                <a:spcPts val="600"/>
              </a:spcAft>
              <a:buSzPct val="100000"/>
              <a:buChar char="•"/>
            </a:pPr>
            <a:r>
              <a:rPr lang="ca-E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Alimentació per USB-C amb LDO a 3,3 V, rail de 5 V per als mòduls que ho requereixen.</a:t>
            </a:r>
            <a:endParaRPr lang="ca-E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48640" cy="548640"/>
          </a:xfrm>
          <a:prstGeom prst="ellipse">
            <a:avLst/>
          </a:prstGeom>
          <a:solidFill>
            <a:srgbClr val="F2A900"/>
          </a:solidFill>
          <a:ln/>
          <a:effectLst>
            <a:outerShdw blurRad="101600" dist="38100" dir="2700000" algn="bl" rotWithShape="0">
              <a:srgbClr val="1B2A3A">
                <a:alpha val="16000"/>
              </a:srgbClr>
            </a:outerShdw>
          </a:effectLst>
        </p:spPr>
        <p:txBody>
          <a:bodyPr/>
          <a:lstStyle/>
          <a:p>
            <a:endParaRPr lang="ca-E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502920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8404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ca-ES" sz="2600" b="1" dirty="0">
                <a:solidFill>
                  <a:srgbClr val="0E22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Hardware: la placa fabricada</a:t>
            </a:r>
            <a:endParaRPr lang="ca-ES" sz="2600" dirty="0"/>
          </a:p>
        </p:txBody>
      </p:sp>
      <p:sp>
        <p:nvSpPr>
          <p:cNvPr id="5" name="Text 2"/>
          <p:cNvSpPr/>
          <p:nvPr/>
        </p:nvSpPr>
        <p:spPr>
          <a:xfrm>
            <a:off x="475488" y="107899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ca-ES" sz="1400" i="1" dirty="0">
                <a:solidFill>
                  <a:srgbClr val="5E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disseny a la placa real, muntada i verificada elèctricament.</a:t>
            </a:r>
            <a:endParaRPr lang="ca-E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371600"/>
            <a:ext cx="4937760" cy="3154680"/>
          </a:xfrm>
          <a:prstGeom prst="roundRect">
            <a:avLst>
              <a:gd name="adj" fmla="val 2029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  <a:effectLst>
            <a:outerShdw blurRad="101600" dist="38100" dir="2700000" algn="bl" rotWithShape="0">
              <a:srgbClr val="1B2A3A">
                <a:alpha val="16000"/>
              </a:srgbClr>
            </a:outerShdw>
          </a:effectLst>
        </p:spPr>
        <p:txBody>
          <a:bodyPr/>
          <a:lstStyle/>
          <a:p>
            <a:endParaRPr lang="ca-ES"/>
          </a:p>
        </p:txBody>
      </p:sp>
      <p:pic>
        <p:nvPicPr>
          <p:cNvPr id="7" name="Image 1" descr="assets/real_pcb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4181" y="1517904"/>
            <a:ext cx="3863797" cy="286207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57200" y="4544568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1000" i="1" dirty="0">
                <a:solidFill>
                  <a:srgbClr val="5E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transmissor muntat</a:t>
            </a:r>
            <a:endParaRPr lang="ca-ES" sz="1000" dirty="0"/>
          </a:p>
        </p:txBody>
      </p:sp>
      <p:sp>
        <p:nvSpPr>
          <p:cNvPr id="9" name="Shape 5"/>
          <p:cNvSpPr/>
          <p:nvPr/>
        </p:nvSpPr>
        <p:spPr>
          <a:xfrm>
            <a:off x="5577840" y="1371600"/>
            <a:ext cx="3108960" cy="3154680"/>
          </a:xfrm>
          <a:prstGeom prst="roundRect">
            <a:avLst>
              <a:gd name="adj" fmla="val 2059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  <a:effectLst>
            <a:outerShdw blurRad="101600" dist="38100" dir="2700000" algn="bl" rotWithShape="0">
              <a:srgbClr val="1B2A3A">
                <a:alpha val="16000"/>
              </a:srgbClr>
            </a:outerShdw>
          </a:effectLst>
        </p:spPr>
        <p:txBody>
          <a:bodyPr/>
          <a:lstStyle/>
          <a:p>
            <a:endParaRPr lang="ca-ES"/>
          </a:p>
        </p:txBody>
      </p:sp>
      <p:pic>
        <p:nvPicPr>
          <p:cNvPr id="10" name="Image 2" descr="assets/real_reciever_pcb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73353" y="1517904"/>
            <a:ext cx="2117933" cy="286207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5577840" y="454456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1000" i="1" dirty="0">
                <a:solidFill>
                  <a:srgbClr val="5E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receptor (ESP32-C3)</a:t>
            </a:r>
            <a:endParaRPr lang="ca-E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48640" cy="548640"/>
          </a:xfrm>
          <a:prstGeom prst="ellipse">
            <a:avLst/>
          </a:prstGeom>
          <a:solidFill>
            <a:srgbClr val="F2A900"/>
          </a:solidFill>
          <a:ln/>
          <a:effectLst>
            <a:outerShdw blurRad="101600" dist="38100" dir="2700000" algn="bl" rotWithShape="0">
              <a:srgbClr val="1B2A3A">
                <a:alpha val="16000"/>
              </a:srgbClr>
            </a:outerShdw>
          </a:effectLst>
        </p:spPr>
        <p:txBody>
          <a:bodyPr/>
          <a:lstStyle/>
          <a:p>
            <a:endParaRPr lang="ca-E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502920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8404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ca-ES" sz="2600" b="1" dirty="0">
                <a:solidFill>
                  <a:srgbClr val="0E22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Selecció del filtre de fusió</a:t>
            </a:r>
            <a:endParaRPr lang="ca-ES" sz="2600" dirty="0"/>
          </a:p>
        </p:txBody>
      </p:sp>
      <p:sp>
        <p:nvSpPr>
          <p:cNvPr id="5" name="Text 2"/>
          <p:cNvSpPr/>
          <p:nvPr/>
        </p:nvSpPr>
        <p:spPr>
          <a:xfrm>
            <a:off x="475488" y="107899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ca-ES" sz="1400" i="1" dirty="0">
                <a:solidFill>
                  <a:srgbClr val="5E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Comparativa d'algorismes sobre l'ESP32: cost de còmput davant de precisió.</a:t>
            </a:r>
            <a:endParaRPr lang="ca-E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1600200"/>
            <a:ext cx="396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ca-ES" sz="1400" b="1" dirty="0">
                <a:solidFill>
                  <a:srgbClr val="0E22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Alternatives considerades</a:t>
            </a:r>
            <a:endParaRPr lang="ca-E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1965960"/>
            <a:ext cx="3962400" cy="2438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Bef>
                <a:spcPts val="300"/>
              </a:spcBef>
              <a:buSzPct val="100000"/>
              <a:buChar char="•"/>
            </a:pPr>
            <a:r>
              <a:rPr lang="ca-E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Filtre complementari: un paràmetre, sense estimació de bias ni correcció de la deriva.</a:t>
            </a:r>
          </a:p>
          <a:p>
            <a:pPr marL="177800" indent="-177800">
              <a:spcBef>
                <a:spcPts val="600"/>
              </a:spcBef>
              <a:buSzPct val="100000"/>
              <a:buChar char="•"/>
            </a:pPr>
            <a:r>
              <a:rPr lang="ca-E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Madgwick: precisió similar, sense ajust independent del transitori.</a:t>
            </a:r>
          </a:p>
          <a:p>
            <a:pPr marL="177800" indent="-177800">
              <a:spcBef>
                <a:spcPts val="600"/>
              </a:spcBef>
              <a:buSzPct val="100000"/>
              <a:buChar char="•"/>
            </a:pPr>
            <a:r>
              <a:rPr lang="ca-E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EKF / UKF: més cost de còmput, no justificat en aquest àmbit.</a:t>
            </a:r>
          </a:p>
          <a:p>
            <a:pPr marL="177800" indent="-177800">
              <a:spcBef>
                <a:spcPts val="600"/>
              </a:spcBef>
              <a:buSzPct val="100000"/>
              <a:buChar char="•"/>
            </a:pPr>
            <a:r>
              <a:rPr lang="ca-E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Filtre de partícules: màxima precisió, inviable en temps real sobre l'ESP32.</a:t>
            </a:r>
          </a:p>
        </p:txBody>
      </p:sp>
      <p:sp>
        <p:nvSpPr>
          <p:cNvPr id="8" name="Shape 5"/>
          <p:cNvSpPr/>
          <p:nvPr/>
        </p:nvSpPr>
        <p:spPr>
          <a:xfrm>
            <a:off x="4724400" y="1600200"/>
            <a:ext cx="3962400" cy="2438400"/>
          </a:xfrm>
          <a:prstGeom prst="roundRect">
            <a:avLst>
              <a:gd name="adj" fmla="val 6316"/>
            </a:avLst>
          </a:prstGeom>
          <a:solidFill>
            <a:srgbClr val="0E2244"/>
          </a:solidFill>
          <a:ln w="15875">
            <a:solidFill>
              <a:srgbClr val="0E2244"/>
            </a:solidFill>
            <a:prstDash val="solid"/>
          </a:ln>
          <a:effectLst>
            <a:outerShdw blurRad="101600" dist="38100" dir="2700000" algn="bl" rotWithShape="0">
              <a:srgbClr val="1B2A3A">
                <a:alpha val="16000"/>
              </a:srgbClr>
            </a:outerShdw>
          </a:effectLst>
        </p:spPr>
        <p:txBody>
          <a:bodyPr/>
          <a:lstStyle/>
          <a:p>
            <a:endParaRPr lang="ca-ES"/>
          </a:p>
        </p:txBody>
      </p:sp>
      <p:sp>
        <p:nvSpPr>
          <p:cNvPr id="9" name="Text 6"/>
          <p:cNvSpPr/>
          <p:nvPr/>
        </p:nvSpPr>
        <p:spPr>
          <a:xfrm>
            <a:off x="4968240" y="1798320"/>
            <a:ext cx="34747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ca-ES" sz="18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Mahony (seleccionat)</a:t>
            </a:r>
          </a:p>
          <a:p>
            <a:pPr marL="177800" indent="-177800">
              <a:spcBef>
                <a:spcPts val="600"/>
              </a:spcBef>
              <a:buSzPct val="100000"/>
              <a:buChar char="•"/>
            </a:pPr>
            <a:r>
              <a:rPr lang="ca-ES" sz="13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Compensa la deriva del giroscopi amb el seu terme integral (PI).</a:t>
            </a:r>
          </a:p>
          <a:p>
            <a:pPr marL="177800" indent="-177800">
              <a:spcBef>
                <a:spcPts val="600"/>
              </a:spcBef>
              <a:buSzPct val="100000"/>
              <a:buChar char="•"/>
            </a:pPr>
            <a:r>
              <a:rPr lang="ca-ES" sz="13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de còmput baix, adequat per a l'ESP32.</a:t>
            </a:r>
          </a:p>
          <a:p>
            <a:pPr marL="177800" indent="-177800">
              <a:spcBef>
                <a:spcPts val="600"/>
              </a:spcBef>
              <a:buSzPct val="100000"/>
              <a:buChar char="•"/>
            </a:pPr>
            <a:r>
              <a:rPr lang="ca-ES" sz="13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 transitòria ajustable mitjançant Kp i Ki.</a:t>
            </a:r>
          </a:p>
          <a:p>
            <a:pPr marL="177800" indent="-177800">
              <a:spcBef>
                <a:spcPts val="600"/>
              </a:spcBef>
              <a:buSzPct val="100000"/>
              <a:buChar char="•"/>
            </a:pPr>
            <a:r>
              <a:rPr lang="ca-ES" sz="13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Avalat per estudis recents en plataformes ESP32.</a:t>
            </a:r>
          </a:p>
        </p:txBody>
      </p:sp>
      <p:sp>
        <p:nvSpPr>
          <p:cNvPr id="10" name="Text 9"/>
          <p:cNvSpPr/>
          <p:nvPr/>
        </p:nvSpPr>
        <p:spPr>
          <a:xfrm>
            <a:off x="475488" y="44805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ca-ES" sz="1050" i="1" dirty="0">
                <a:solidFill>
                  <a:srgbClr val="5E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Referències: Mahony (2008) · Cocoli i Badia (2023) · Uyar (2024) · Gui et al. (2015)</a:t>
            </a:r>
            <a:endParaRPr lang="ca-E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48640" cy="548640"/>
          </a:xfrm>
          <a:prstGeom prst="ellipse">
            <a:avLst/>
          </a:prstGeom>
          <a:solidFill>
            <a:srgbClr val="F2A900"/>
          </a:solidFill>
          <a:ln/>
          <a:effectLst>
            <a:outerShdw blurRad="101600" dist="38100" dir="2700000" algn="bl" rotWithShape="0">
              <a:srgbClr val="1B2A3A">
                <a:alpha val="16000"/>
              </a:srgbClr>
            </a:outerShdw>
          </a:effectLst>
        </p:spPr>
        <p:txBody>
          <a:bodyPr/>
          <a:lstStyle/>
          <a:p>
            <a:endParaRPr lang="ca-E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502920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8404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ca-ES" sz="2600" b="1" dirty="0">
                <a:solidFill>
                  <a:srgbClr val="0E22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Firmware: fusió sensorial (AHRS)</a:t>
            </a:r>
            <a:endParaRPr lang="ca-E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417320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 algn="l">
              <a:spcAft>
                <a:spcPts val="1000"/>
              </a:spcAft>
              <a:buSzPct val="100000"/>
              <a:buChar char="•"/>
            </a:pPr>
            <a:r>
              <a:rPr lang="ca-ES" sz="13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Filtre Mahony MARG (complementari) per a actitud i rumb en temps real.</a:t>
            </a:r>
            <a:endParaRPr lang="ca-ES" sz="1350" dirty="0"/>
          </a:p>
          <a:p>
            <a:pPr marL="203200" indent="-203200" algn="l">
              <a:spcAft>
                <a:spcPts val="1000"/>
              </a:spcAft>
              <a:buSzPct val="100000"/>
              <a:buChar char="•"/>
            </a:pPr>
            <a:r>
              <a:rPr lang="ca-ES" sz="13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Quaternió inicialitzat analíticament: actitud vàlida des de l'arrencada.</a:t>
            </a:r>
            <a:endParaRPr lang="ca-ES" sz="1350" dirty="0"/>
          </a:p>
          <a:p>
            <a:pPr marL="203200" indent="-203200" algn="l">
              <a:spcAft>
                <a:spcPts val="1000"/>
              </a:spcAft>
              <a:buSzPct val="100000"/>
              <a:buChar char="•"/>
            </a:pPr>
            <a:r>
              <a:rPr lang="ca-ES" sz="13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Calibració amb tots els perifèrics actius i la ràdio transmetent.</a:t>
            </a:r>
            <a:endParaRPr lang="ca-ES" sz="1350" dirty="0"/>
          </a:p>
          <a:p>
            <a:pPr marL="0" indent="0" algn="l">
              <a:spcAft>
                <a:spcPts val="1000"/>
              </a:spcAft>
              <a:buNone/>
            </a:pPr>
            <a:r>
              <a:rPr lang="ca-ES" sz="1350" b="1" dirty="0">
                <a:solidFill>
                  <a:srgbClr val="0E22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 = 3,0   ·   Ki = 1,0   ·   fusió a 100 Hz</a:t>
            </a:r>
            <a:endParaRPr lang="ca-ES" sz="1350" dirty="0"/>
          </a:p>
        </p:txBody>
      </p:sp>
      <p:sp>
        <p:nvSpPr>
          <p:cNvPr id="6" name="Shape 3"/>
          <p:cNvSpPr/>
          <p:nvPr/>
        </p:nvSpPr>
        <p:spPr>
          <a:xfrm>
            <a:off x="5440680" y="1417320"/>
            <a:ext cx="1417320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875">
            <a:solidFill>
              <a:srgbClr val="0E2244"/>
            </a:solidFill>
            <a:prstDash val="solid"/>
          </a:ln>
        </p:spPr>
        <p:txBody>
          <a:bodyPr/>
          <a:lstStyle/>
          <a:p>
            <a:endParaRPr lang="ca-ES"/>
          </a:p>
        </p:txBody>
      </p:sp>
      <p:sp>
        <p:nvSpPr>
          <p:cNvPr id="7" name="Text 4"/>
          <p:cNvSpPr/>
          <p:nvPr/>
        </p:nvSpPr>
        <p:spPr>
          <a:xfrm>
            <a:off x="5440680" y="1417320"/>
            <a:ext cx="1417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1050" b="1" dirty="0">
                <a:solidFill>
                  <a:srgbClr val="0E22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Acceleròmetre</a:t>
            </a:r>
            <a:endParaRPr lang="ca-ES" sz="1050" dirty="0"/>
          </a:p>
        </p:txBody>
      </p:sp>
      <p:sp>
        <p:nvSpPr>
          <p:cNvPr id="8" name="Shape 5"/>
          <p:cNvSpPr/>
          <p:nvPr/>
        </p:nvSpPr>
        <p:spPr>
          <a:xfrm>
            <a:off x="5440680" y="2020824"/>
            <a:ext cx="1417320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875">
            <a:solidFill>
              <a:srgbClr val="0E2244"/>
            </a:solidFill>
            <a:prstDash val="solid"/>
          </a:ln>
        </p:spPr>
        <p:txBody>
          <a:bodyPr/>
          <a:lstStyle/>
          <a:p>
            <a:endParaRPr lang="ca-ES"/>
          </a:p>
        </p:txBody>
      </p:sp>
      <p:sp>
        <p:nvSpPr>
          <p:cNvPr id="9" name="Text 6"/>
          <p:cNvSpPr/>
          <p:nvPr/>
        </p:nvSpPr>
        <p:spPr>
          <a:xfrm>
            <a:off x="5440680" y="2020824"/>
            <a:ext cx="1417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1050" b="1" dirty="0">
                <a:solidFill>
                  <a:srgbClr val="0E22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Giroscopi</a:t>
            </a:r>
            <a:endParaRPr lang="ca-ES" sz="1050" dirty="0"/>
          </a:p>
        </p:txBody>
      </p:sp>
      <p:sp>
        <p:nvSpPr>
          <p:cNvPr id="10" name="Shape 7"/>
          <p:cNvSpPr/>
          <p:nvPr/>
        </p:nvSpPr>
        <p:spPr>
          <a:xfrm>
            <a:off x="5440680" y="2624328"/>
            <a:ext cx="1417320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875">
            <a:solidFill>
              <a:srgbClr val="0E2244"/>
            </a:solidFill>
            <a:prstDash val="solid"/>
          </a:ln>
        </p:spPr>
        <p:txBody>
          <a:bodyPr/>
          <a:lstStyle/>
          <a:p>
            <a:endParaRPr lang="ca-ES"/>
          </a:p>
        </p:txBody>
      </p:sp>
      <p:sp>
        <p:nvSpPr>
          <p:cNvPr id="11" name="Text 8"/>
          <p:cNvSpPr/>
          <p:nvPr/>
        </p:nvSpPr>
        <p:spPr>
          <a:xfrm>
            <a:off x="5440680" y="2624328"/>
            <a:ext cx="1417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1050" b="1" dirty="0">
                <a:solidFill>
                  <a:srgbClr val="0E22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Magnetòmetre</a:t>
            </a:r>
            <a:endParaRPr lang="ca-ES" sz="1050" dirty="0"/>
          </a:p>
        </p:txBody>
      </p:sp>
      <p:sp>
        <p:nvSpPr>
          <p:cNvPr id="12" name="Shape 9"/>
          <p:cNvSpPr/>
          <p:nvPr/>
        </p:nvSpPr>
        <p:spPr>
          <a:xfrm>
            <a:off x="7178040" y="1828800"/>
            <a:ext cx="960120" cy="960120"/>
          </a:xfrm>
          <a:prstGeom prst="roundRect">
            <a:avLst>
              <a:gd name="adj" fmla="val 5714"/>
            </a:avLst>
          </a:prstGeom>
          <a:solidFill>
            <a:srgbClr val="FDF1D6"/>
          </a:solidFill>
          <a:ln w="22225">
            <a:solidFill>
              <a:srgbClr val="F2A900"/>
            </a:solidFill>
            <a:prstDash val="solid"/>
          </a:ln>
          <a:effectLst>
            <a:outerShdw blurRad="101600" dist="38100" dir="2700000" algn="bl" rotWithShape="0">
              <a:srgbClr val="1B2A3A">
                <a:alpha val="16000"/>
              </a:srgbClr>
            </a:outerShdw>
          </a:effectLst>
        </p:spPr>
        <p:txBody>
          <a:bodyPr/>
          <a:lstStyle/>
          <a:p>
            <a:endParaRPr lang="ca-ES"/>
          </a:p>
        </p:txBody>
      </p:sp>
      <p:sp>
        <p:nvSpPr>
          <p:cNvPr id="13" name="Text 10"/>
          <p:cNvSpPr/>
          <p:nvPr/>
        </p:nvSpPr>
        <p:spPr>
          <a:xfrm>
            <a:off x="7178040" y="182880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1200" b="1" dirty="0">
                <a:solidFill>
                  <a:srgbClr val="0E22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Mahony</a:t>
            </a:r>
            <a:endParaRPr lang="ca-ES" sz="1200" dirty="0"/>
          </a:p>
          <a:p>
            <a:pPr marL="0" indent="0" algn="ctr">
              <a:buNone/>
            </a:pPr>
            <a:r>
              <a:rPr lang="ca-ES" sz="1200" b="1" dirty="0">
                <a:solidFill>
                  <a:srgbClr val="0E22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</a:t>
            </a:r>
            <a:endParaRPr lang="ca-ES" sz="1200" dirty="0"/>
          </a:p>
        </p:txBody>
      </p:sp>
      <p:sp>
        <p:nvSpPr>
          <p:cNvPr id="14" name="Shape 11"/>
          <p:cNvSpPr/>
          <p:nvPr/>
        </p:nvSpPr>
        <p:spPr>
          <a:xfrm>
            <a:off x="6903720" y="3291840"/>
            <a:ext cx="1554480" cy="640080"/>
          </a:xfrm>
          <a:prstGeom prst="roundRect">
            <a:avLst>
              <a:gd name="adj" fmla="val 8571"/>
            </a:avLst>
          </a:prstGeom>
          <a:solidFill>
            <a:srgbClr val="0E2244"/>
          </a:solidFill>
          <a:ln w="15875">
            <a:solidFill>
              <a:srgbClr val="0E2244"/>
            </a:solidFill>
            <a:prstDash val="solid"/>
          </a:ln>
          <a:effectLst>
            <a:outerShdw blurRad="101600" dist="38100" dir="2700000" algn="bl" rotWithShape="0">
              <a:srgbClr val="1B2A3A">
                <a:alpha val="16000"/>
              </a:srgbClr>
            </a:outerShdw>
          </a:effectLst>
        </p:spPr>
        <p:txBody>
          <a:bodyPr/>
          <a:lstStyle/>
          <a:p>
            <a:endParaRPr lang="ca-ES"/>
          </a:p>
        </p:txBody>
      </p:sp>
      <p:sp>
        <p:nvSpPr>
          <p:cNvPr id="15" name="Text 12"/>
          <p:cNvSpPr/>
          <p:nvPr/>
        </p:nvSpPr>
        <p:spPr>
          <a:xfrm>
            <a:off x="6903720" y="32918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Actitud i rumb</a:t>
            </a:r>
            <a:endParaRPr lang="ca-ES" sz="1200" dirty="0"/>
          </a:p>
        </p:txBody>
      </p:sp>
      <p:sp>
        <p:nvSpPr>
          <p:cNvPr id="16" name="Shape 13"/>
          <p:cNvSpPr/>
          <p:nvPr/>
        </p:nvSpPr>
        <p:spPr>
          <a:xfrm>
            <a:off x="6858000" y="1664208"/>
            <a:ext cx="310896" cy="640080"/>
          </a:xfrm>
          <a:prstGeom prst="line">
            <a:avLst/>
          </a:prstGeom>
          <a:noFill/>
          <a:ln w="22225">
            <a:solidFill>
              <a:srgbClr val="F2A900"/>
            </a:solidFill>
            <a:prstDash val="solid"/>
          </a:ln>
        </p:spPr>
        <p:txBody>
          <a:bodyPr/>
          <a:lstStyle/>
          <a:p>
            <a:endParaRPr lang="ca-ES"/>
          </a:p>
        </p:txBody>
      </p:sp>
      <p:sp>
        <p:nvSpPr>
          <p:cNvPr id="17" name="Shape 14"/>
          <p:cNvSpPr/>
          <p:nvPr/>
        </p:nvSpPr>
        <p:spPr>
          <a:xfrm>
            <a:off x="6858000" y="2267712"/>
            <a:ext cx="310896" cy="36576"/>
          </a:xfrm>
          <a:prstGeom prst="line">
            <a:avLst/>
          </a:prstGeom>
          <a:noFill/>
          <a:ln w="22225">
            <a:solidFill>
              <a:srgbClr val="F2A900"/>
            </a:solidFill>
            <a:prstDash val="solid"/>
          </a:ln>
        </p:spPr>
        <p:txBody>
          <a:bodyPr/>
          <a:lstStyle/>
          <a:p>
            <a:endParaRPr lang="ca-ES"/>
          </a:p>
        </p:txBody>
      </p:sp>
      <p:sp>
        <p:nvSpPr>
          <p:cNvPr id="18" name="Shape 15"/>
          <p:cNvSpPr/>
          <p:nvPr/>
        </p:nvSpPr>
        <p:spPr>
          <a:xfrm flipV="1">
            <a:off x="6858000" y="2304288"/>
            <a:ext cx="310879" cy="566928"/>
          </a:xfrm>
          <a:prstGeom prst="line">
            <a:avLst/>
          </a:prstGeom>
          <a:noFill/>
          <a:ln w="22225">
            <a:solidFill>
              <a:srgbClr val="F2A900"/>
            </a:solidFill>
            <a:prstDash val="solid"/>
          </a:ln>
        </p:spPr>
        <p:txBody>
          <a:bodyPr/>
          <a:lstStyle/>
          <a:p>
            <a:endParaRPr lang="ca-ES"/>
          </a:p>
        </p:txBody>
      </p:sp>
      <p:sp>
        <p:nvSpPr>
          <p:cNvPr id="19" name="Shape 16"/>
          <p:cNvSpPr/>
          <p:nvPr/>
        </p:nvSpPr>
        <p:spPr>
          <a:xfrm>
            <a:off x="7653528" y="2788920"/>
            <a:ext cx="0" cy="502920"/>
          </a:xfrm>
          <a:prstGeom prst="line">
            <a:avLst/>
          </a:prstGeom>
          <a:noFill/>
          <a:ln w="25400">
            <a:solidFill>
              <a:srgbClr val="F2A900"/>
            </a:solidFill>
            <a:prstDash val="solid"/>
          </a:ln>
        </p:spPr>
        <p:txBody>
          <a:bodyPr/>
          <a:lstStyle/>
          <a:p>
            <a:endParaRPr lang="ca-E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48640" cy="548640"/>
          </a:xfrm>
          <a:prstGeom prst="ellipse">
            <a:avLst/>
          </a:prstGeom>
          <a:solidFill>
            <a:srgbClr val="F2A900"/>
          </a:solidFill>
          <a:ln/>
          <a:effectLst>
            <a:outerShdw blurRad="101600" dist="38100" dir="2700000" algn="bl" rotWithShape="0">
              <a:srgbClr val="1B2A3A">
                <a:alpha val="16000"/>
              </a:srgbClr>
            </a:outerShdw>
          </a:effectLst>
        </p:spPr>
        <p:txBody>
          <a:bodyPr/>
          <a:lstStyle/>
          <a:p>
            <a:endParaRPr lang="ca-E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502920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8404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ca-ES" sz="2600" b="1" dirty="0">
                <a:solidFill>
                  <a:srgbClr val="0E22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Telemetria: ARINC 429 sobre NRF24</a:t>
            </a:r>
            <a:endParaRPr lang="ca-E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554480"/>
            <a:ext cx="978408" cy="822960"/>
          </a:xfrm>
          <a:prstGeom prst="roundRect">
            <a:avLst>
              <a:gd name="adj" fmla="val 6667"/>
            </a:avLst>
          </a:prstGeom>
          <a:solidFill>
            <a:srgbClr val="F2A900"/>
          </a:solidFill>
          <a:ln w="15875">
            <a:solidFill>
              <a:srgbClr val="F2A900"/>
            </a:solidFill>
            <a:prstDash val="solid"/>
          </a:ln>
        </p:spPr>
        <p:txBody>
          <a:bodyPr/>
          <a:lstStyle/>
          <a:p>
            <a:endParaRPr lang="ca-ES"/>
          </a:p>
        </p:txBody>
      </p:sp>
      <p:sp>
        <p:nvSpPr>
          <p:cNvPr id="6" name="Text 3"/>
          <p:cNvSpPr/>
          <p:nvPr/>
        </p:nvSpPr>
        <p:spPr>
          <a:xfrm>
            <a:off x="457200" y="1554480"/>
            <a:ext cx="978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1150" b="1" dirty="0">
                <a:solidFill>
                  <a:srgbClr val="0E22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</a:t>
            </a:r>
            <a:endParaRPr lang="ca-ES" sz="1150" dirty="0"/>
          </a:p>
        </p:txBody>
      </p:sp>
      <p:sp>
        <p:nvSpPr>
          <p:cNvPr id="7" name="Text 4"/>
          <p:cNvSpPr/>
          <p:nvPr/>
        </p:nvSpPr>
        <p:spPr>
          <a:xfrm>
            <a:off x="457200" y="2157984"/>
            <a:ext cx="9784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850" dirty="0">
                <a:solidFill>
                  <a:srgbClr val="0E22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#0</a:t>
            </a:r>
            <a:endParaRPr lang="ca-ES" sz="850" dirty="0"/>
          </a:p>
        </p:txBody>
      </p:sp>
      <p:sp>
        <p:nvSpPr>
          <p:cNvPr id="8" name="Shape 5"/>
          <p:cNvSpPr/>
          <p:nvPr/>
        </p:nvSpPr>
        <p:spPr>
          <a:xfrm>
            <a:off x="1504188" y="1554480"/>
            <a:ext cx="978408" cy="822960"/>
          </a:xfrm>
          <a:prstGeom prst="roundRect">
            <a:avLst>
              <a:gd name="adj" fmla="val 6667"/>
            </a:avLst>
          </a:prstGeom>
          <a:solidFill>
            <a:srgbClr val="F2A900"/>
          </a:solidFill>
          <a:ln w="15875">
            <a:solidFill>
              <a:srgbClr val="F2A900"/>
            </a:solidFill>
            <a:prstDash val="solid"/>
          </a:ln>
        </p:spPr>
        <p:txBody>
          <a:bodyPr/>
          <a:lstStyle/>
          <a:p>
            <a:endParaRPr lang="ca-ES"/>
          </a:p>
        </p:txBody>
      </p:sp>
      <p:sp>
        <p:nvSpPr>
          <p:cNvPr id="9" name="Text 6"/>
          <p:cNvSpPr/>
          <p:nvPr/>
        </p:nvSpPr>
        <p:spPr>
          <a:xfrm>
            <a:off x="1504188" y="1554480"/>
            <a:ext cx="978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1150" b="1" dirty="0">
                <a:solidFill>
                  <a:srgbClr val="0E22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</a:t>
            </a:r>
            <a:endParaRPr lang="ca-ES" sz="1150" dirty="0"/>
          </a:p>
        </p:txBody>
      </p:sp>
      <p:sp>
        <p:nvSpPr>
          <p:cNvPr id="10" name="Text 7"/>
          <p:cNvSpPr/>
          <p:nvPr/>
        </p:nvSpPr>
        <p:spPr>
          <a:xfrm>
            <a:off x="1504188" y="2157984"/>
            <a:ext cx="9784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850" dirty="0">
                <a:solidFill>
                  <a:srgbClr val="0E22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</a:t>
            </a:r>
            <a:endParaRPr lang="ca-ES" sz="850" dirty="0"/>
          </a:p>
        </p:txBody>
      </p:sp>
      <p:sp>
        <p:nvSpPr>
          <p:cNvPr id="11" name="Shape 8"/>
          <p:cNvSpPr/>
          <p:nvPr/>
        </p:nvSpPr>
        <p:spPr>
          <a:xfrm>
            <a:off x="2551176" y="1554480"/>
            <a:ext cx="978408" cy="822960"/>
          </a:xfrm>
          <a:prstGeom prst="roundRect">
            <a:avLst>
              <a:gd name="adj" fmla="val 6667"/>
            </a:avLst>
          </a:prstGeom>
          <a:solidFill>
            <a:srgbClr val="F2A900"/>
          </a:solidFill>
          <a:ln w="15875">
            <a:solidFill>
              <a:srgbClr val="F2A900"/>
            </a:solidFill>
            <a:prstDash val="solid"/>
          </a:ln>
        </p:spPr>
        <p:txBody>
          <a:bodyPr/>
          <a:lstStyle/>
          <a:p>
            <a:endParaRPr lang="ca-ES"/>
          </a:p>
        </p:txBody>
      </p:sp>
      <p:sp>
        <p:nvSpPr>
          <p:cNvPr id="12" name="Text 9"/>
          <p:cNvSpPr/>
          <p:nvPr/>
        </p:nvSpPr>
        <p:spPr>
          <a:xfrm>
            <a:off x="2551176" y="1554480"/>
            <a:ext cx="978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1150" b="1" dirty="0">
                <a:solidFill>
                  <a:srgbClr val="0E22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Heading</a:t>
            </a:r>
            <a:endParaRPr lang="ca-ES" sz="1150" dirty="0"/>
          </a:p>
        </p:txBody>
      </p:sp>
      <p:sp>
        <p:nvSpPr>
          <p:cNvPr id="13" name="Text 10"/>
          <p:cNvSpPr/>
          <p:nvPr/>
        </p:nvSpPr>
        <p:spPr>
          <a:xfrm>
            <a:off x="2551176" y="2157984"/>
            <a:ext cx="9784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850" dirty="0">
                <a:solidFill>
                  <a:srgbClr val="0E22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</a:t>
            </a:r>
            <a:endParaRPr lang="ca-ES" sz="850" dirty="0"/>
          </a:p>
        </p:txBody>
      </p:sp>
      <p:sp>
        <p:nvSpPr>
          <p:cNvPr id="14" name="Shape 11"/>
          <p:cNvSpPr/>
          <p:nvPr/>
        </p:nvSpPr>
        <p:spPr>
          <a:xfrm>
            <a:off x="3598164" y="1554480"/>
            <a:ext cx="978408" cy="822960"/>
          </a:xfrm>
          <a:prstGeom prst="roundRect">
            <a:avLst>
              <a:gd name="adj" fmla="val 6667"/>
            </a:avLst>
          </a:prstGeom>
          <a:solidFill>
            <a:srgbClr val="0E2244"/>
          </a:solidFill>
          <a:ln w="15875">
            <a:solidFill>
              <a:srgbClr val="0E2244"/>
            </a:solidFill>
            <a:prstDash val="solid"/>
          </a:ln>
        </p:spPr>
        <p:txBody>
          <a:bodyPr/>
          <a:lstStyle/>
          <a:p>
            <a:endParaRPr lang="ca-ES"/>
          </a:p>
        </p:txBody>
      </p:sp>
      <p:sp>
        <p:nvSpPr>
          <p:cNvPr id="15" name="Text 12"/>
          <p:cNvSpPr/>
          <p:nvPr/>
        </p:nvSpPr>
        <p:spPr>
          <a:xfrm>
            <a:off x="3598164" y="1554480"/>
            <a:ext cx="978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Slot 3</a:t>
            </a:r>
            <a:endParaRPr lang="ca-ES" sz="1150" dirty="0"/>
          </a:p>
        </p:txBody>
      </p:sp>
      <p:sp>
        <p:nvSpPr>
          <p:cNvPr id="16" name="Text 13"/>
          <p:cNvSpPr/>
          <p:nvPr/>
        </p:nvSpPr>
        <p:spPr>
          <a:xfrm>
            <a:off x="3598164" y="2157984"/>
            <a:ext cx="9784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85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#3</a:t>
            </a:r>
            <a:endParaRPr lang="ca-ES" sz="850" dirty="0"/>
          </a:p>
        </p:txBody>
      </p:sp>
      <p:sp>
        <p:nvSpPr>
          <p:cNvPr id="17" name="Shape 14"/>
          <p:cNvSpPr/>
          <p:nvPr/>
        </p:nvSpPr>
        <p:spPr>
          <a:xfrm>
            <a:off x="4645152" y="1554480"/>
            <a:ext cx="978408" cy="822960"/>
          </a:xfrm>
          <a:prstGeom prst="roundRect">
            <a:avLst>
              <a:gd name="adj" fmla="val 6667"/>
            </a:avLst>
          </a:prstGeom>
          <a:solidFill>
            <a:srgbClr val="0E2244"/>
          </a:solidFill>
          <a:ln w="15875">
            <a:solidFill>
              <a:srgbClr val="0E2244"/>
            </a:solidFill>
            <a:prstDash val="solid"/>
          </a:ln>
        </p:spPr>
        <p:txBody>
          <a:bodyPr/>
          <a:lstStyle/>
          <a:p>
            <a:endParaRPr lang="ca-ES"/>
          </a:p>
        </p:txBody>
      </p:sp>
      <p:sp>
        <p:nvSpPr>
          <p:cNvPr id="18" name="Text 15"/>
          <p:cNvSpPr/>
          <p:nvPr/>
        </p:nvSpPr>
        <p:spPr>
          <a:xfrm>
            <a:off x="4645152" y="1554480"/>
            <a:ext cx="978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Slot 4</a:t>
            </a:r>
            <a:endParaRPr lang="ca-ES" sz="1150" dirty="0"/>
          </a:p>
        </p:txBody>
      </p:sp>
      <p:sp>
        <p:nvSpPr>
          <p:cNvPr id="19" name="Text 16"/>
          <p:cNvSpPr/>
          <p:nvPr/>
        </p:nvSpPr>
        <p:spPr>
          <a:xfrm>
            <a:off x="4645152" y="2157984"/>
            <a:ext cx="9784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85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#4</a:t>
            </a:r>
            <a:endParaRPr lang="ca-ES" sz="850" dirty="0"/>
          </a:p>
        </p:txBody>
      </p:sp>
      <p:sp>
        <p:nvSpPr>
          <p:cNvPr id="20" name="Shape 17"/>
          <p:cNvSpPr/>
          <p:nvPr/>
        </p:nvSpPr>
        <p:spPr>
          <a:xfrm>
            <a:off x="5692140" y="1554480"/>
            <a:ext cx="978408" cy="822960"/>
          </a:xfrm>
          <a:prstGeom prst="roundRect">
            <a:avLst>
              <a:gd name="adj" fmla="val 6667"/>
            </a:avLst>
          </a:prstGeom>
          <a:solidFill>
            <a:srgbClr val="0E2244"/>
          </a:solidFill>
          <a:ln w="15875">
            <a:solidFill>
              <a:srgbClr val="0E2244"/>
            </a:solidFill>
            <a:prstDash val="solid"/>
          </a:ln>
        </p:spPr>
        <p:txBody>
          <a:bodyPr/>
          <a:lstStyle/>
          <a:p>
            <a:endParaRPr lang="ca-ES"/>
          </a:p>
        </p:txBody>
      </p:sp>
      <p:sp>
        <p:nvSpPr>
          <p:cNvPr id="21" name="Text 18"/>
          <p:cNvSpPr/>
          <p:nvPr/>
        </p:nvSpPr>
        <p:spPr>
          <a:xfrm>
            <a:off x="5692140" y="1554480"/>
            <a:ext cx="978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Slot 5</a:t>
            </a:r>
            <a:endParaRPr lang="ca-ES" sz="1150" dirty="0"/>
          </a:p>
        </p:txBody>
      </p:sp>
      <p:sp>
        <p:nvSpPr>
          <p:cNvPr id="22" name="Text 19"/>
          <p:cNvSpPr/>
          <p:nvPr/>
        </p:nvSpPr>
        <p:spPr>
          <a:xfrm>
            <a:off x="5692140" y="2157984"/>
            <a:ext cx="9784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85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#5</a:t>
            </a:r>
            <a:endParaRPr lang="ca-ES" sz="850" dirty="0"/>
          </a:p>
        </p:txBody>
      </p:sp>
      <p:sp>
        <p:nvSpPr>
          <p:cNvPr id="23" name="Shape 20"/>
          <p:cNvSpPr/>
          <p:nvPr/>
        </p:nvSpPr>
        <p:spPr>
          <a:xfrm>
            <a:off x="6739128" y="1554480"/>
            <a:ext cx="978408" cy="822960"/>
          </a:xfrm>
          <a:prstGeom prst="roundRect">
            <a:avLst>
              <a:gd name="adj" fmla="val 6667"/>
            </a:avLst>
          </a:prstGeom>
          <a:solidFill>
            <a:srgbClr val="0E2244"/>
          </a:solidFill>
          <a:ln w="15875">
            <a:solidFill>
              <a:srgbClr val="0E2244"/>
            </a:solidFill>
            <a:prstDash val="solid"/>
          </a:ln>
        </p:spPr>
        <p:txBody>
          <a:bodyPr/>
          <a:lstStyle/>
          <a:p>
            <a:endParaRPr lang="ca-ES"/>
          </a:p>
        </p:txBody>
      </p:sp>
      <p:sp>
        <p:nvSpPr>
          <p:cNvPr id="24" name="Text 21"/>
          <p:cNvSpPr/>
          <p:nvPr/>
        </p:nvSpPr>
        <p:spPr>
          <a:xfrm>
            <a:off x="6739128" y="1554480"/>
            <a:ext cx="978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Slot 6</a:t>
            </a:r>
            <a:endParaRPr lang="ca-ES" sz="1150" dirty="0"/>
          </a:p>
        </p:txBody>
      </p:sp>
      <p:sp>
        <p:nvSpPr>
          <p:cNvPr id="25" name="Text 22"/>
          <p:cNvSpPr/>
          <p:nvPr/>
        </p:nvSpPr>
        <p:spPr>
          <a:xfrm>
            <a:off x="6739128" y="2157984"/>
            <a:ext cx="9784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85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#6</a:t>
            </a:r>
            <a:endParaRPr lang="ca-ES" sz="850" dirty="0"/>
          </a:p>
        </p:txBody>
      </p:sp>
      <p:sp>
        <p:nvSpPr>
          <p:cNvPr id="26" name="Shape 23"/>
          <p:cNvSpPr/>
          <p:nvPr/>
        </p:nvSpPr>
        <p:spPr>
          <a:xfrm>
            <a:off x="7786116" y="1554480"/>
            <a:ext cx="978408" cy="822960"/>
          </a:xfrm>
          <a:prstGeom prst="roundRect">
            <a:avLst>
              <a:gd name="adj" fmla="val 6667"/>
            </a:avLst>
          </a:prstGeom>
          <a:solidFill>
            <a:srgbClr val="0E2244"/>
          </a:solidFill>
          <a:ln w="15875">
            <a:solidFill>
              <a:srgbClr val="0E2244"/>
            </a:solidFill>
            <a:prstDash val="solid"/>
          </a:ln>
        </p:spPr>
        <p:txBody>
          <a:bodyPr/>
          <a:lstStyle/>
          <a:p>
            <a:endParaRPr lang="ca-ES"/>
          </a:p>
        </p:txBody>
      </p:sp>
      <p:sp>
        <p:nvSpPr>
          <p:cNvPr id="27" name="Text 24"/>
          <p:cNvSpPr/>
          <p:nvPr/>
        </p:nvSpPr>
        <p:spPr>
          <a:xfrm>
            <a:off x="7786116" y="1554480"/>
            <a:ext cx="978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Slot 7</a:t>
            </a:r>
            <a:endParaRPr lang="ca-ES" sz="1150" dirty="0"/>
          </a:p>
        </p:txBody>
      </p:sp>
      <p:sp>
        <p:nvSpPr>
          <p:cNvPr id="28" name="Text 25"/>
          <p:cNvSpPr/>
          <p:nvPr/>
        </p:nvSpPr>
        <p:spPr>
          <a:xfrm>
            <a:off x="7786116" y="2157984"/>
            <a:ext cx="9784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85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#7</a:t>
            </a:r>
            <a:endParaRPr lang="ca-ES" sz="850" dirty="0"/>
          </a:p>
        </p:txBody>
      </p:sp>
      <p:sp>
        <p:nvSpPr>
          <p:cNvPr id="29" name="Text 26"/>
          <p:cNvSpPr/>
          <p:nvPr/>
        </p:nvSpPr>
        <p:spPr>
          <a:xfrm>
            <a:off x="457200" y="2432304"/>
            <a:ext cx="3072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11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Fixos (20 Hz)</a:t>
            </a:r>
            <a:endParaRPr lang="ca-ES" sz="1100" dirty="0"/>
          </a:p>
        </p:txBody>
      </p:sp>
      <p:sp>
        <p:nvSpPr>
          <p:cNvPr id="30" name="Text 27"/>
          <p:cNvSpPr/>
          <p:nvPr/>
        </p:nvSpPr>
        <p:spPr>
          <a:xfrm>
            <a:off x="3598164" y="2432304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1100" b="1" dirty="0">
                <a:solidFill>
                  <a:srgbClr val="0E22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Multiplexats (planificador EDF)</a:t>
            </a:r>
            <a:endParaRPr lang="ca-ES" sz="1100" dirty="0"/>
          </a:p>
        </p:txBody>
      </p:sp>
      <p:sp>
        <p:nvSpPr>
          <p:cNvPr id="32" name="Text 29"/>
          <p:cNvSpPr/>
          <p:nvPr/>
        </p:nvSpPr>
        <p:spPr>
          <a:xfrm>
            <a:off x="548640" y="324612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 algn="l">
              <a:spcAft>
                <a:spcPts val="600"/>
              </a:spcAft>
              <a:buSzPct val="100000"/>
              <a:buChar char="•"/>
            </a:pPr>
            <a:r>
              <a:rPr lang="ca-E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reutilitza la capa lògica de l'estàndard ARINC 429 sobre l'enllaç de ràdio.</a:t>
            </a:r>
            <a:endParaRPr lang="ca-ES" sz="1300" dirty="0"/>
          </a:p>
          <a:p>
            <a:pPr marL="203200" indent="-203200" algn="l">
              <a:spcAft>
                <a:spcPts val="600"/>
              </a:spcAft>
              <a:buSzPct val="100000"/>
              <a:buChar char="•"/>
            </a:pPr>
            <a:r>
              <a:rPr lang="ca-E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planificador EDF reparteix els slots: baro, VSI, radar i ToF a 10 Hz; GNSS i estat a 5 Hz.</a:t>
            </a:r>
            <a:endParaRPr lang="ca-ES" sz="1300" dirty="0"/>
          </a:p>
          <a:p>
            <a:pPr marL="203200" indent="-203200" algn="l">
              <a:spcAft>
                <a:spcPts val="600"/>
              </a:spcAft>
              <a:buSzPct val="100000"/>
              <a:buChar char="•"/>
            </a:pPr>
            <a:r>
              <a:rPr lang="ca-E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Enllaç a 250 kbps, abast en interior ~100 m, justificat per marge de disseny.</a:t>
            </a:r>
            <a:endParaRPr lang="ca-E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48640" cy="548640"/>
          </a:xfrm>
          <a:prstGeom prst="ellipse">
            <a:avLst/>
          </a:prstGeom>
          <a:solidFill>
            <a:srgbClr val="F2A900"/>
          </a:solidFill>
          <a:ln/>
          <a:effectLst>
            <a:outerShdw blurRad="101600" dist="38100" dir="2700000" algn="bl" rotWithShape="0">
              <a:srgbClr val="1B2A3A">
                <a:alpha val="16000"/>
              </a:srgbClr>
            </a:outerShdw>
          </a:effectLst>
        </p:spPr>
        <p:txBody>
          <a:bodyPr/>
          <a:lstStyle/>
          <a:p>
            <a:endParaRPr lang="ca-E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502920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8404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ca-ES" sz="2600" b="1" dirty="0">
                <a:solidFill>
                  <a:srgbClr val="0E22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Visualització: el PFD (Primary Flight Display)</a:t>
            </a:r>
            <a:endParaRPr lang="ca-E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71600"/>
            <a:ext cx="4846320" cy="3154680"/>
          </a:xfrm>
          <a:prstGeom prst="roundRect">
            <a:avLst>
              <a:gd name="adj" fmla="val 2029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  <a:effectLst>
            <a:outerShdw blurRad="101600" dist="38100" dir="2700000" algn="bl" rotWithShape="0">
              <a:srgbClr val="1B2A3A">
                <a:alpha val="16000"/>
              </a:srgbClr>
            </a:outerShdw>
          </a:effectLst>
        </p:spPr>
        <p:txBody>
          <a:bodyPr/>
          <a:lstStyle/>
          <a:p>
            <a:endParaRPr lang="ca-ES"/>
          </a:p>
        </p:txBody>
      </p:sp>
      <p:pic>
        <p:nvPicPr>
          <p:cNvPr id="6" name="Image 1" descr="assets/pf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1565" y="1517904"/>
            <a:ext cx="3577590" cy="286207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57200" y="454456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1000" i="1" dirty="0">
                <a:solidFill>
                  <a:srgbClr val="5E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PFD en Processing</a:t>
            </a:r>
            <a:endParaRPr lang="ca-ES" sz="1000" dirty="0"/>
          </a:p>
        </p:txBody>
      </p:sp>
      <p:sp>
        <p:nvSpPr>
          <p:cNvPr id="8" name="Shape 4"/>
          <p:cNvSpPr/>
          <p:nvPr/>
        </p:nvSpPr>
        <p:spPr>
          <a:xfrm>
            <a:off x="5532120" y="1563624"/>
            <a:ext cx="146304" cy="146304"/>
          </a:xfrm>
          <a:prstGeom prst="ellipse">
            <a:avLst/>
          </a:prstGeom>
          <a:solidFill>
            <a:srgbClr val="F2A900"/>
          </a:solidFill>
          <a:ln/>
        </p:spPr>
        <p:txBody>
          <a:bodyPr/>
          <a:lstStyle/>
          <a:p>
            <a:endParaRPr lang="ca-ES"/>
          </a:p>
        </p:txBody>
      </p:sp>
      <p:sp>
        <p:nvSpPr>
          <p:cNvPr id="9" name="Text 5"/>
          <p:cNvSpPr/>
          <p:nvPr/>
        </p:nvSpPr>
        <p:spPr>
          <a:xfrm>
            <a:off x="5806440" y="15087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ca-ES" sz="1300" b="1" dirty="0">
                <a:solidFill>
                  <a:srgbClr val="0E22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Horitzó artificial  </a:t>
            </a:r>
            <a:r>
              <a:rPr lang="ca-ES" sz="1100" dirty="0">
                <a:solidFill>
                  <a:srgbClr val="5E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 - capcineig i balanceig</a:t>
            </a:r>
            <a:endParaRPr lang="ca-ES" sz="1300" dirty="0"/>
          </a:p>
        </p:txBody>
      </p:sp>
      <p:sp>
        <p:nvSpPr>
          <p:cNvPr id="10" name="Shape 6"/>
          <p:cNvSpPr/>
          <p:nvPr/>
        </p:nvSpPr>
        <p:spPr>
          <a:xfrm>
            <a:off x="5532120" y="2157984"/>
            <a:ext cx="146304" cy="146304"/>
          </a:xfrm>
          <a:prstGeom prst="ellipse">
            <a:avLst/>
          </a:prstGeom>
          <a:solidFill>
            <a:srgbClr val="F2A900"/>
          </a:solidFill>
          <a:ln/>
        </p:spPr>
        <p:txBody>
          <a:bodyPr/>
          <a:lstStyle/>
          <a:p>
            <a:endParaRPr lang="ca-ES"/>
          </a:p>
        </p:txBody>
      </p:sp>
      <p:sp>
        <p:nvSpPr>
          <p:cNvPr id="11" name="Text 7"/>
          <p:cNvSpPr/>
          <p:nvPr/>
        </p:nvSpPr>
        <p:spPr>
          <a:xfrm>
            <a:off x="5806440" y="21031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ca-ES" sz="1300" b="1" dirty="0">
                <a:solidFill>
                  <a:srgbClr val="0E22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Velocitat  </a:t>
            </a:r>
            <a:r>
              <a:rPr lang="ca-ES" sz="1100" dirty="0">
                <a:solidFill>
                  <a:srgbClr val="5E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esquerra - GNSS</a:t>
            </a:r>
            <a:endParaRPr lang="ca-ES" sz="1300" dirty="0"/>
          </a:p>
        </p:txBody>
      </p:sp>
      <p:sp>
        <p:nvSpPr>
          <p:cNvPr id="12" name="Shape 8"/>
          <p:cNvSpPr/>
          <p:nvPr/>
        </p:nvSpPr>
        <p:spPr>
          <a:xfrm>
            <a:off x="5532120" y="2752344"/>
            <a:ext cx="146304" cy="146304"/>
          </a:xfrm>
          <a:prstGeom prst="ellipse">
            <a:avLst/>
          </a:prstGeom>
          <a:solidFill>
            <a:srgbClr val="F2A900"/>
          </a:solidFill>
          <a:ln/>
        </p:spPr>
        <p:txBody>
          <a:bodyPr/>
          <a:lstStyle/>
          <a:p>
            <a:endParaRPr lang="ca-ES"/>
          </a:p>
        </p:txBody>
      </p:sp>
      <p:sp>
        <p:nvSpPr>
          <p:cNvPr id="13" name="Text 9"/>
          <p:cNvSpPr/>
          <p:nvPr/>
        </p:nvSpPr>
        <p:spPr>
          <a:xfrm>
            <a:off x="5806440" y="2697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ca-ES" sz="1300" b="1" dirty="0">
                <a:solidFill>
                  <a:srgbClr val="0E22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Altitud  </a:t>
            </a:r>
            <a:r>
              <a:rPr lang="ca-ES" sz="1100" dirty="0">
                <a:solidFill>
                  <a:srgbClr val="5E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dreta - baromètrica</a:t>
            </a:r>
            <a:endParaRPr lang="ca-ES" sz="1300" dirty="0"/>
          </a:p>
        </p:txBody>
      </p:sp>
      <p:sp>
        <p:nvSpPr>
          <p:cNvPr id="14" name="Shape 10"/>
          <p:cNvSpPr/>
          <p:nvPr/>
        </p:nvSpPr>
        <p:spPr>
          <a:xfrm>
            <a:off x="5532120" y="3346704"/>
            <a:ext cx="146304" cy="146304"/>
          </a:xfrm>
          <a:prstGeom prst="ellipse">
            <a:avLst/>
          </a:prstGeom>
          <a:solidFill>
            <a:srgbClr val="F2A900"/>
          </a:solidFill>
          <a:ln/>
        </p:spPr>
        <p:txBody>
          <a:bodyPr/>
          <a:lstStyle/>
          <a:p>
            <a:endParaRPr lang="ca-ES"/>
          </a:p>
        </p:txBody>
      </p:sp>
      <p:sp>
        <p:nvSpPr>
          <p:cNvPr id="15" name="Text 11"/>
          <p:cNvSpPr/>
          <p:nvPr/>
        </p:nvSpPr>
        <p:spPr>
          <a:xfrm>
            <a:off x="5806440" y="32918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ca-ES" sz="1300" b="1" dirty="0">
                <a:solidFill>
                  <a:srgbClr val="0E22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Rumb  </a:t>
            </a:r>
            <a:r>
              <a:rPr lang="ca-ES" sz="1100" dirty="0">
                <a:solidFill>
                  <a:srgbClr val="5E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inferior - magnètic</a:t>
            </a:r>
            <a:endParaRPr lang="ca-ES" sz="1300" dirty="0"/>
          </a:p>
        </p:txBody>
      </p:sp>
      <p:sp>
        <p:nvSpPr>
          <p:cNvPr id="16" name="Shape 12"/>
          <p:cNvSpPr/>
          <p:nvPr/>
        </p:nvSpPr>
        <p:spPr>
          <a:xfrm>
            <a:off x="5532120" y="3941064"/>
            <a:ext cx="146304" cy="146304"/>
          </a:xfrm>
          <a:prstGeom prst="ellipse">
            <a:avLst/>
          </a:prstGeom>
          <a:solidFill>
            <a:srgbClr val="F2A900"/>
          </a:solidFill>
          <a:ln/>
        </p:spPr>
        <p:txBody>
          <a:bodyPr/>
          <a:lstStyle/>
          <a:p>
            <a:endParaRPr lang="ca-ES"/>
          </a:p>
        </p:txBody>
      </p:sp>
      <p:sp>
        <p:nvSpPr>
          <p:cNvPr id="17" name="Text 13"/>
          <p:cNvSpPr/>
          <p:nvPr/>
        </p:nvSpPr>
        <p:spPr>
          <a:xfrm>
            <a:off x="5806440" y="38862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ca-ES" sz="1300" b="1" dirty="0">
                <a:solidFill>
                  <a:srgbClr val="0E22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Proximitat i VSI  </a:t>
            </a:r>
            <a:r>
              <a:rPr lang="ca-ES" sz="1100" dirty="0">
                <a:solidFill>
                  <a:srgbClr val="5E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distància al terra i vel. vertical</a:t>
            </a:r>
            <a:endParaRPr lang="ca-ES" sz="1300" dirty="0"/>
          </a:p>
        </p:txBody>
      </p:sp>
      <p:sp>
        <p:nvSpPr>
          <p:cNvPr id="18" name="Text 14"/>
          <p:cNvSpPr/>
          <p:nvPr/>
        </p:nvSpPr>
        <p:spPr>
          <a:xfrm>
            <a:off x="5532120" y="41605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ca-ES" sz="1100" i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Disposició Basic-T conforme al patró de l'AC 25-11B (RN01). Tanca la cadena del sensor a la pantalla.</a:t>
            </a:r>
            <a:endParaRPr lang="ca-E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48640" cy="548640"/>
          </a:xfrm>
          <a:prstGeom prst="ellipse">
            <a:avLst/>
          </a:prstGeom>
          <a:solidFill>
            <a:srgbClr val="F2A900"/>
          </a:solidFill>
          <a:ln/>
          <a:effectLst>
            <a:outerShdw blurRad="101600" dist="38100" dir="2700000" algn="bl" rotWithShape="0">
              <a:srgbClr val="1B2A3A">
                <a:alpha val="16000"/>
              </a:srgbClr>
            </a:outerShdw>
          </a:effectLst>
        </p:spPr>
        <p:txBody>
          <a:bodyPr/>
          <a:lstStyle/>
          <a:p>
            <a:endParaRPr lang="ca-E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502920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8404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ca-ES" sz="2600" b="1" dirty="0">
                <a:solidFill>
                  <a:srgbClr val="0E22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Navegació: vista de mapa</a:t>
            </a:r>
            <a:endParaRPr lang="ca-ES" sz="2600" dirty="0"/>
          </a:p>
        </p:txBody>
      </p:sp>
      <p:sp>
        <p:nvSpPr>
          <p:cNvPr id="5" name="Text 2"/>
          <p:cNvSpPr/>
          <p:nvPr/>
        </p:nvSpPr>
        <p:spPr>
          <a:xfrm>
            <a:off x="475488" y="107899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ca-ES" sz="1400" i="1" dirty="0">
                <a:solidFill>
                  <a:srgbClr val="5E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independent del PFD, commutable per teclat: traça la posició GNSS.</a:t>
            </a:r>
            <a:endParaRPr lang="ca-ES" sz="1400" dirty="0"/>
          </a:p>
        </p:txBody>
      </p:sp>
      <p:sp>
        <p:nvSpPr>
          <p:cNvPr id="6" name="Shape 3"/>
          <p:cNvSpPr/>
          <p:nvPr/>
        </p:nvSpPr>
        <p:spPr>
          <a:xfrm>
            <a:off x="822960" y="1417320"/>
            <a:ext cx="749808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  <a:effectLst>
            <a:outerShdw blurRad="101600" dist="38100" dir="2700000" algn="bl" rotWithShape="0">
              <a:srgbClr val="1B2A3A">
                <a:alpha val="16000"/>
              </a:srgbClr>
            </a:outerShdw>
          </a:effectLst>
        </p:spPr>
        <p:txBody>
          <a:bodyPr/>
          <a:lstStyle/>
          <a:p>
            <a:endParaRPr lang="ca-ES"/>
          </a:p>
        </p:txBody>
      </p:sp>
      <p:pic>
        <p:nvPicPr>
          <p:cNvPr id="7" name="Image 1" descr="assets/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70420" y="1563624"/>
            <a:ext cx="4803160" cy="245059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22960" y="417880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1000" i="1" dirty="0">
                <a:solidFill>
                  <a:srgbClr val="5E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Traça de posició sobre tessel·les topogràfiques offline de l'ICGC</a:t>
            </a:r>
            <a:endParaRPr lang="ca-ES" sz="1000" dirty="0"/>
          </a:p>
        </p:txBody>
      </p:sp>
      <p:sp>
        <p:nvSpPr>
          <p:cNvPr id="9" name="Text 5"/>
          <p:cNvSpPr/>
          <p:nvPr/>
        </p:nvSpPr>
        <p:spPr>
          <a:xfrm>
            <a:off x="822960" y="443484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1100" i="1" dirty="0">
                <a:solidFill>
                  <a:srgbClr val="5E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Tessel·les precarregades a disc; la descàrrega en línia sota demanda queda com a treball futur.</a:t>
            </a:r>
            <a:endParaRPr lang="ca-E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48640" cy="548640"/>
          </a:xfrm>
          <a:prstGeom prst="ellipse">
            <a:avLst/>
          </a:prstGeom>
          <a:solidFill>
            <a:srgbClr val="F2A900"/>
          </a:solidFill>
          <a:ln/>
          <a:effectLst>
            <a:outerShdw blurRad="101600" dist="38100" dir="2700000" algn="bl" rotWithShape="0">
              <a:srgbClr val="1B2A3A">
                <a:alpha val="16000"/>
              </a:srgbClr>
            </a:outerShdw>
          </a:effectLst>
        </p:spPr>
        <p:txBody>
          <a:bodyPr/>
          <a:lstStyle/>
          <a:p>
            <a:endParaRPr lang="ca-E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502920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8404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ca-ES" sz="2600" b="1" dirty="0">
                <a:solidFill>
                  <a:srgbClr val="0E22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Validació: compliment de requisits</a:t>
            </a:r>
            <a:endParaRPr lang="ca-E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2688336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77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ca-E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ca-E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ca-E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Objectiu</a:t>
                      </a:r>
                      <a:endParaRPr lang="ca-E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a-E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Resultat</a:t>
                      </a:r>
                      <a:endParaRPr lang="ca-E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a-E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Estat</a:t>
                      </a:r>
                      <a:endParaRPr lang="ca-E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a-ES" sz="1250" b="1" dirty="0">
                          <a:solidFill>
                            <a:srgbClr val="0E22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RP01</a:t>
                      </a:r>
                      <a:endParaRPr lang="ca-E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ca-E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Latència &lt; 200 ms</a:t>
                      </a:r>
                      <a:endParaRPr lang="ca-E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a-E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~85 ms</a:t>
                      </a:r>
                      <a:endParaRPr lang="ca-E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a-ES" sz="1250" b="1" dirty="0">
                          <a:solidFill>
                            <a:srgbClr val="1E8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Compleix</a:t>
                      </a:r>
                      <a:endParaRPr lang="ca-E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a-ES" sz="1250" b="1" dirty="0">
                          <a:solidFill>
                            <a:srgbClr val="0E22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RP02</a:t>
                      </a:r>
                      <a:endParaRPr lang="ca-E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ca-E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Refresc del PFD &gt;= 30 FPS</a:t>
                      </a:r>
                      <a:endParaRPr lang="ca-E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a-E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 FPS</a:t>
                      </a:r>
                      <a:endParaRPr lang="ca-E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a-ES" sz="1250" b="1" dirty="0">
                          <a:solidFill>
                            <a:srgbClr val="1E8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Compleix</a:t>
                      </a:r>
                      <a:endParaRPr lang="ca-E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a-ES" sz="1250" b="1" dirty="0">
                          <a:solidFill>
                            <a:srgbClr val="0E22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RP03</a:t>
                      </a:r>
                      <a:endParaRPr lang="ca-E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ca-E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Actitud &gt;= 20 Hz</a:t>
                      </a:r>
                      <a:endParaRPr lang="ca-E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a-E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Hz</a:t>
                      </a:r>
                      <a:endParaRPr lang="ca-E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a-ES" sz="1250" b="1" dirty="0">
                          <a:solidFill>
                            <a:srgbClr val="1E8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Compleix</a:t>
                      </a:r>
                      <a:endParaRPr lang="ca-E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a-ES" sz="1250" b="1" dirty="0">
                          <a:solidFill>
                            <a:srgbClr val="0E22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RP04</a:t>
                      </a:r>
                      <a:endParaRPr lang="ca-E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ca-E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Actitud dins de +-3°</a:t>
                      </a:r>
                      <a:endParaRPr lang="ca-E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a-E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 màx. 1,8°</a:t>
                      </a:r>
                      <a:endParaRPr lang="ca-E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a-ES" sz="1250" b="1" dirty="0">
                          <a:solidFill>
                            <a:srgbClr val="1E8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Compleix</a:t>
                      </a:r>
                      <a:endParaRPr lang="ca-E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a-ES" sz="1250" b="1" dirty="0">
                          <a:solidFill>
                            <a:srgbClr val="0E22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RP05</a:t>
                      </a:r>
                      <a:endParaRPr lang="ca-E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ca-E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GNSS &lt;= 2,5 m CEP</a:t>
                      </a:r>
                      <a:endParaRPr lang="ca-E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a-E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 m CEP50</a:t>
                      </a:r>
                      <a:endParaRPr lang="ca-E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a-ES" sz="1250" b="1" dirty="0">
                          <a:solidFill>
                            <a:srgbClr val="1E8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Compleix</a:t>
                      </a:r>
                      <a:endParaRPr lang="ca-E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a-ES" sz="1250" b="1" dirty="0">
                          <a:solidFill>
                            <a:srgbClr val="0E22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RP06</a:t>
                      </a:r>
                      <a:endParaRPr lang="ca-E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ca-E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Abast de desenes de m (interior)</a:t>
                      </a:r>
                      <a:endParaRPr lang="ca-E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a-E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~100 m</a:t>
                      </a:r>
                      <a:endParaRPr lang="ca-E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a-ES" sz="1250" b="1" dirty="0">
                          <a:solidFill>
                            <a:srgbClr val="1E8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Compleix</a:t>
                      </a:r>
                      <a:endParaRPr lang="ca-E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ca-ES" sz="1150" i="1" dirty="0">
                <a:solidFill>
                  <a:srgbClr val="5E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Tots els requisits funcionals (RF01-RF09) també queden coberts amb el sistema integrat.</a:t>
            </a:r>
            <a:endParaRPr lang="ca-E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48640" cy="548640"/>
          </a:xfrm>
          <a:prstGeom prst="ellipse">
            <a:avLst/>
          </a:prstGeom>
          <a:solidFill>
            <a:srgbClr val="F2A900"/>
          </a:solidFill>
          <a:ln/>
          <a:effectLst>
            <a:outerShdw blurRad="101600" dist="38100" dir="2700000" algn="bl" rotWithShape="0">
              <a:srgbClr val="1B2A3A">
                <a:alpha val="16000"/>
              </a:srgbClr>
            </a:outerShdw>
          </a:effectLst>
        </p:spPr>
        <p:txBody>
          <a:bodyPr/>
          <a:lstStyle/>
          <a:p>
            <a:endParaRPr lang="ca-E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502920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8404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ca-ES" sz="2600" b="1" dirty="0">
                <a:solidFill>
                  <a:srgbClr val="0E22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Validació: xifres de mèrit</a:t>
            </a:r>
            <a:endParaRPr lang="ca-E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417320"/>
            <a:ext cx="3200400" cy="3063240"/>
          </a:xfrm>
          <a:prstGeom prst="roundRect">
            <a:avLst>
              <a:gd name="adj" fmla="val 2090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  <a:effectLst>
            <a:outerShdw blurRad="101600" dist="38100" dir="2700000" algn="bl" rotWithShape="0">
              <a:srgbClr val="1B2A3A">
                <a:alpha val="16000"/>
              </a:srgbClr>
            </a:outerShdw>
          </a:effectLst>
        </p:spPr>
        <p:txBody>
          <a:bodyPr/>
          <a:lstStyle/>
          <a:p>
            <a:endParaRPr lang="ca-ES"/>
          </a:p>
        </p:txBody>
      </p:sp>
      <p:sp>
        <p:nvSpPr>
          <p:cNvPr id="6" name="GNSS Number"/>
          <p:cNvSpPr/>
          <p:nvPr/>
        </p:nvSpPr>
        <p:spPr>
          <a:xfrm>
            <a:off x="457200" y="2050000"/>
            <a:ext cx="320040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5400" b="1" dirty="0">
                <a:solidFill>
                  <a:srgbClr val="F2A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1,00 m</a:t>
            </a:r>
            <a:endParaRPr lang="ca-ES" sz="5400" dirty="0"/>
          </a:p>
        </p:txBody>
      </p:sp>
      <p:sp>
        <p:nvSpPr>
          <p:cNvPr id="7" name="GNSS Label"/>
          <p:cNvSpPr/>
          <p:nvPr/>
        </p:nvSpPr>
        <p:spPr>
          <a:xfrm>
            <a:off x="457200" y="3080000"/>
            <a:ext cx="320040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CEP50 GNSS, mesurat en estàtic</a:t>
            </a:r>
            <a:endParaRPr lang="ca-ES" sz="1250" dirty="0"/>
          </a:p>
        </p:txBody>
      </p:sp>
      <p:sp>
        <p:nvSpPr>
          <p:cNvPr id="14" name="GNSS Sublabel"/>
          <p:cNvSpPr/>
          <p:nvPr/>
        </p:nvSpPr>
        <p:spPr>
          <a:xfrm>
            <a:off x="457200" y="3470000"/>
            <a:ext cx="32004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1100" i="1" dirty="0">
                <a:solidFill>
                  <a:srgbClr val="5E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objectiu &lt;= 2,5 m (RP05)</a:t>
            </a:r>
            <a:endParaRPr lang="ca-ES" sz="1100" dirty="0"/>
          </a:p>
        </p:txBody>
      </p:sp>
      <p:sp>
        <p:nvSpPr>
          <p:cNvPr id="8" name="Text 4"/>
          <p:cNvSpPr/>
          <p:nvPr/>
        </p:nvSpPr>
        <p:spPr>
          <a:xfrm>
            <a:off x="4023360" y="150876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ca-ES" sz="4000" b="1" dirty="0">
                <a:solidFill>
                  <a:srgbClr val="F2A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1,8°</a:t>
            </a:r>
            <a:endParaRPr lang="ca-ES" sz="4000" dirty="0"/>
          </a:p>
        </p:txBody>
      </p:sp>
      <p:sp>
        <p:nvSpPr>
          <p:cNvPr id="9" name="Text 5"/>
          <p:cNvSpPr/>
          <p:nvPr/>
        </p:nvSpPr>
        <p:spPr>
          <a:xfrm>
            <a:off x="4023360" y="211226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ca-E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màx. d'actitud, mesurat en estàtic (req. +-3°)</a:t>
            </a:r>
            <a:endParaRPr lang="ca-ES" sz="1250" dirty="0"/>
          </a:p>
        </p:txBody>
      </p:sp>
      <p:sp>
        <p:nvSpPr>
          <p:cNvPr id="10" name="Text 6"/>
          <p:cNvSpPr/>
          <p:nvPr/>
        </p:nvSpPr>
        <p:spPr>
          <a:xfrm>
            <a:off x="4023360" y="251460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ca-ES" sz="4000" b="1" dirty="0">
                <a:solidFill>
                  <a:srgbClr val="F2A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~85 ms</a:t>
            </a:r>
            <a:endParaRPr lang="ca-ES" sz="4000" dirty="0"/>
          </a:p>
        </p:txBody>
      </p:sp>
      <p:sp>
        <p:nvSpPr>
          <p:cNvPr id="11" name="Text 7"/>
          <p:cNvSpPr/>
          <p:nvPr/>
        </p:nvSpPr>
        <p:spPr>
          <a:xfrm>
            <a:off x="4023360" y="311810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ca-E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latència extrem a extrem, fita analítica (&lt; 200 ms)</a:t>
            </a:r>
            <a:endParaRPr lang="ca-ES" sz="1250" dirty="0"/>
          </a:p>
        </p:txBody>
      </p:sp>
      <p:sp>
        <p:nvSpPr>
          <p:cNvPr id="12" name="Text 8"/>
          <p:cNvSpPr/>
          <p:nvPr/>
        </p:nvSpPr>
        <p:spPr>
          <a:xfrm>
            <a:off x="4023360" y="35204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ca-ES" sz="4000" b="1" dirty="0">
                <a:solidFill>
                  <a:srgbClr val="F2A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~100 m</a:t>
            </a:r>
            <a:endParaRPr lang="ca-ES" sz="4000" dirty="0"/>
          </a:p>
        </p:txBody>
      </p:sp>
      <p:sp>
        <p:nvSpPr>
          <p:cNvPr id="13" name="Text 9"/>
          <p:cNvSpPr/>
          <p:nvPr/>
        </p:nvSpPr>
        <p:spPr>
          <a:xfrm>
            <a:off x="4023360" y="4123944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ca-E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teòrica en interior, validada analíticament per marge de disseny</a:t>
            </a:r>
            <a:endParaRPr lang="ca-E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E22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48640" cy="548640"/>
          </a:xfrm>
          <a:prstGeom prst="ellipse">
            <a:avLst/>
          </a:prstGeom>
          <a:solidFill>
            <a:srgbClr val="F2A900"/>
          </a:solidFill>
          <a:ln/>
          <a:effectLst>
            <a:outerShdw blurRad="101600" dist="38100" dir="2700000" algn="bl" rotWithShape="0">
              <a:srgbClr val="1B2A3A">
                <a:alpha val="16000"/>
              </a:srgbClr>
            </a:outerShdw>
          </a:effectLst>
        </p:spPr>
        <p:txBody>
          <a:bodyPr/>
          <a:lstStyle/>
          <a:p>
            <a:endParaRPr lang="ca-E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502920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8404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ca-E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Conclusions</a:t>
            </a:r>
            <a:endParaRPr lang="ca-ES" sz="260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81328"/>
            <a:ext cx="365760" cy="36576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051560" y="1463040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ca-ES" sz="15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Objectiu complert: els tres subsistemes integrats operen com un únic sistema.</a:t>
            </a:r>
            <a:endParaRPr lang="ca-ES" sz="150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258568"/>
            <a:ext cx="365760" cy="36576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1051560" y="2240280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ca-ES" sz="15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Cadena completa del sensor a la pantalla, amb accés a les magnituds intermèdies.</a:t>
            </a:r>
            <a:endParaRPr lang="ca-ES" sz="1500" dirty="0"/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035808"/>
            <a:ext cx="365760" cy="365760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1051560" y="3017520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ca-ES" sz="15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oberta i replicable per menys de 100 € en materials.</a:t>
            </a:r>
            <a:endParaRPr lang="ca-ES" sz="1500" dirty="0"/>
          </a:p>
        </p:txBody>
      </p:sp>
      <p:pic>
        <p:nvPicPr>
          <p:cNvPr id="11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813048"/>
            <a:ext cx="365760" cy="365760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1051560" y="3794760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ca-ES" sz="15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Limitacions assumides: sense redundància i rumb en interior limitat per l'entorn magnètic.</a:t>
            </a:r>
            <a:endParaRPr lang="ca-E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48640" cy="548640"/>
          </a:xfrm>
          <a:prstGeom prst="ellipse">
            <a:avLst/>
          </a:prstGeom>
          <a:solidFill>
            <a:srgbClr val="F2A900"/>
          </a:solidFill>
          <a:ln/>
          <a:effectLst>
            <a:outerShdw blurRad="101600" dist="38100" dir="2700000" algn="bl" rotWithShape="0">
              <a:srgbClr val="1B2A3A">
                <a:alpha val="16000"/>
              </a:srgbClr>
            </a:outerShdw>
          </a:effectLst>
        </p:spPr>
        <p:txBody>
          <a:bodyPr/>
          <a:lstStyle/>
          <a:p>
            <a:endParaRPr lang="ca-E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502920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8404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ca-ES" sz="2600" b="1" dirty="0">
                <a:solidFill>
                  <a:srgbClr val="0E22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Treball futur</a:t>
            </a:r>
            <a:endParaRPr lang="ca-ES" sz="26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420624" cy="420624"/>
          </a:xfrm>
          <a:prstGeom prst="ellipse">
            <a:avLst/>
          </a:prstGeom>
          <a:solidFill>
            <a:srgbClr val="F2A900"/>
          </a:solidFill>
          <a:ln/>
        </p:spPr>
        <p:txBody>
          <a:bodyPr/>
          <a:lstStyle/>
          <a:p>
            <a:endParaRPr lang="ca-E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554480"/>
            <a:ext cx="237744" cy="23774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115568" y="1426464"/>
            <a:ext cx="7662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ca-ES" sz="1450" b="1" dirty="0">
                <a:solidFill>
                  <a:srgbClr val="0E22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Cartografia en línia</a:t>
            </a:r>
            <a:endParaRPr lang="ca-ES" sz="1450" dirty="0"/>
          </a:p>
          <a:p>
            <a:pPr marL="0" indent="0" algn="l">
              <a:lnSpc>
                <a:spcPct val="100000"/>
              </a:lnSpc>
              <a:buNone/>
            </a:pPr>
            <a:r>
              <a:rPr lang="ca-E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Descarregar les tessel·les sota demanda i cobrir més nivells de zoom.</a:t>
            </a:r>
            <a:endParaRPr lang="ca-ES" sz="1450" dirty="0"/>
          </a:p>
        </p:txBody>
      </p:sp>
      <p:sp>
        <p:nvSpPr>
          <p:cNvPr id="8" name="Shape 4"/>
          <p:cNvSpPr/>
          <p:nvPr/>
        </p:nvSpPr>
        <p:spPr>
          <a:xfrm>
            <a:off x="548640" y="2331720"/>
            <a:ext cx="420624" cy="420624"/>
          </a:xfrm>
          <a:prstGeom prst="ellipse">
            <a:avLst/>
          </a:prstGeom>
          <a:solidFill>
            <a:srgbClr val="F2A900"/>
          </a:solidFill>
          <a:ln/>
        </p:spPr>
        <p:txBody>
          <a:bodyPr/>
          <a:lstStyle/>
          <a:p>
            <a:endParaRPr lang="ca-ES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2423160"/>
            <a:ext cx="237744" cy="237744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115568" y="2295144"/>
            <a:ext cx="7662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ca-ES" sz="1450" b="1" dirty="0">
                <a:solidFill>
                  <a:srgbClr val="0E22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 en vol</a:t>
            </a:r>
            <a:endParaRPr lang="ca-ES" sz="1450" dirty="0"/>
          </a:p>
          <a:p>
            <a:pPr marL="0" indent="0" algn="l">
              <a:lnSpc>
                <a:spcPct val="100000"/>
              </a:lnSpc>
              <a:buNone/>
            </a:pPr>
            <a:r>
              <a:rPr lang="ca-E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Adaptar el sistema per instal·lar-lo en un vehicle aeri real.</a:t>
            </a:r>
            <a:endParaRPr lang="ca-ES" sz="1450" dirty="0"/>
          </a:p>
        </p:txBody>
      </p:sp>
      <p:sp>
        <p:nvSpPr>
          <p:cNvPr id="11" name="Shape 6"/>
          <p:cNvSpPr/>
          <p:nvPr/>
        </p:nvSpPr>
        <p:spPr>
          <a:xfrm>
            <a:off x="548640" y="3200400"/>
            <a:ext cx="420624" cy="420624"/>
          </a:xfrm>
          <a:prstGeom prst="ellipse">
            <a:avLst/>
          </a:prstGeom>
          <a:solidFill>
            <a:srgbClr val="F2A900"/>
          </a:solidFill>
          <a:ln/>
        </p:spPr>
        <p:txBody>
          <a:bodyPr/>
          <a:lstStyle/>
          <a:p>
            <a:endParaRPr lang="ca-ES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3291840"/>
            <a:ext cx="237744" cy="237744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115568" y="3163824"/>
            <a:ext cx="7662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ca-ES" sz="1450" b="1" dirty="0">
                <a:solidFill>
                  <a:srgbClr val="0E22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Caracterització de l'enllaç</a:t>
            </a:r>
            <a:endParaRPr lang="ca-ES" sz="1450" dirty="0"/>
          </a:p>
          <a:p>
            <a:pPr marL="0" indent="0" algn="l">
              <a:lnSpc>
                <a:spcPct val="100000"/>
              </a:lnSpc>
              <a:buNone/>
            </a:pPr>
            <a:r>
              <a:rPr lang="ca-E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Mesures reals d'abast i de taxa de pèrdua de paquets.</a:t>
            </a:r>
            <a:endParaRPr lang="ca-ES" sz="1450" dirty="0"/>
          </a:p>
        </p:txBody>
      </p:sp>
      <p:sp>
        <p:nvSpPr>
          <p:cNvPr id="14" name="Shape 8"/>
          <p:cNvSpPr/>
          <p:nvPr/>
        </p:nvSpPr>
        <p:spPr>
          <a:xfrm>
            <a:off x="548640" y="4069080"/>
            <a:ext cx="420624" cy="420624"/>
          </a:xfrm>
          <a:prstGeom prst="ellipse">
            <a:avLst/>
          </a:prstGeom>
          <a:solidFill>
            <a:srgbClr val="F2A900"/>
          </a:solidFill>
          <a:ln/>
        </p:spPr>
        <p:txBody>
          <a:bodyPr/>
          <a:lstStyle/>
          <a:p>
            <a:endParaRPr lang="ca-ES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4160520"/>
            <a:ext cx="237744" cy="237744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115568" y="4032504"/>
            <a:ext cx="7662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ca-ES" sz="1450" b="1" dirty="0">
                <a:solidFill>
                  <a:srgbClr val="0E22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 com a font de proximitat</a:t>
            </a:r>
            <a:endParaRPr lang="ca-ES" sz="1450" dirty="0"/>
          </a:p>
          <a:p>
            <a:pPr marL="0" indent="0" algn="l">
              <a:lnSpc>
                <a:spcPct val="100000"/>
              </a:lnSpc>
              <a:buNone/>
            </a:pPr>
            <a:r>
              <a:rPr lang="ca-E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Integrar l'HLK-LD2410C a l'indicador un cop estabilitzada la seva lectura.</a:t>
            </a:r>
            <a:endParaRPr lang="ca-ES" sz="14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E22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972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ca-E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Gràcies</a:t>
            </a:r>
            <a:endParaRPr lang="ca-ES" sz="4800" dirty="0"/>
          </a:p>
        </p:txBody>
      </p:sp>
      <p:sp>
        <p:nvSpPr>
          <p:cNvPr id="3" name="Text 1"/>
          <p:cNvSpPr/>
          <p:nvPr/>
        </p:nvSpPr>
        <p:spPr>
          <a:xfrm>
            <a:off x="566928" y="224028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ca-ES" sz="15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Demostració en directe de la plataforma: actitud, rumb, altitud i posició en temps real.</a:t>
            </a:r>
            <a:endParaRPr lang="ca-E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3429000"/>
            <a:ext cx="502920" cy="502920"/>
          </a:xfrm>
          <a:prstGeom prst="ellipse">
            <a:avLst/>
          </a:prstGeom>
          <a:solidFill>
            <a:srgbClr val="F2A900"/>
          </a:solidFill>
          <a:ln/>
        </p:spPr>
        <p:txBody>
          <a:bodyPr/>
          <a:lstStyle/>
          <a:p>
            <a:endParaRPr lang="ca-E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3557016"/>
            <a:ext cx="246888" cy="2468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88720" y="342900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ca-ES" sz="2200" b="1" dirty="0">
                <a:solidFill>
                  <a:srgbClr val="F2A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Preguntes?</a:t>
            </a:r>
            <a:endParaRPr lang="ca-ES" sz="2200" dirty="0"/>
          </a:p>
        </p:txBody>
      </p:sp>
      <p:sp>
        <p:nvSpPr>
          <p:cNvPr id="7" name="Text 4"/>
          <p:cNvSpPr/>
          <p:nvPr/>
        </p:nvSpPr>
        <p:spPr>
          <a:xfrm>
            <a:off x="566928" y="4297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ca-ES" sz="12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Arnau Mora Perez  ·  ESEIAAT - UPC  ·  Primavera 2026</a:t>
            </a:r>
            <a:endParaRPr lang="ca-ES" sz="1200" dirty="0"/>
          </a:p>
        </p:txBody>
      </p:sp>
      <p:sp>
        <p:nvSpPr>
          <p:cNvPr id="8" name="Shape 5"/>
          <p:cNvSpPr/>
          <p:nvPr/>
        </p:nvSpPr>
        <p:spPr>
          <a:xfrm>
            <a:off x="5440680" y="1188720"/>
            <a:ext cx="3246120" cy="3383280"/>
          </a:xfrm>
          <a:prstGeom prst="roundRect">
            <a:avLst>
              <a:gd name="adj" fmla="val 1972"/>
            </a:avLst>
          </a:prstGeom>
          <a:solidFill>
            <a:srgbClr val="FFFFFF"/>
          </a:solidFill>
          <a:ln w="12700">
            <a:solidFill>
              <a:srgbClr val="D7E2EF"/>
            </a:solidFill>
            <a:prstDash val="solid"/>
          </a:ln>
          <a:effectLst>
            <a:outerShdw blurRad="101600" dist="38100" dir="2700000" algn="bl" rotWithShape="0">
              <a:srgbClr val="1B2A3A">
                <a:alpha val="16000"/>
              </a:srgbClr>
            </a:outerShdw>
          </a:effectLst>
        </p:spPr>
        <p:txBody>
          <a:bodyPr/>
          <a:lstStyle/>
          <a:p>
            <a:endParaRPr lang="ca-ES"/>
          </a:p>
        </p:txBody>
      </p:sp>
      <p:pic>
        <p:nvPicPr>
          <p:cNvPr id="9" name="Image 1" descr="assets/IMG_2157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6984" y="1786467"/>
            <a:ext cx="2953512" cy="218778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440680" y="459028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ca-ES" sz="1000" i="1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en funcionament</a:t>
            </a:r>
            <a:endParaRPr lang="ca-E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613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0556171-E85C-40AD-ADC2-81E09E8780E6}">
  <we:reference id="wa200010725" version="1.0.0.1" store="en-US" storeType="OMEX"/>
  <we:alternateReferences>
    <we:reference id="wa200010725" version="1.0.0.1" store="" storeType="OMEX"/>
  </we:alternateReferences>
  <we:properties>
    <we:property name="claude.fileId" value="&quot;480f2074-b829-455e-9e2b-db9449b46643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126</TotalTime>
  <Words>2263</Words>
  <Application>Microsoft Office PowerPoint</Application>
  <PresentationFormat>On-screen Show (16:9)</PresentationFormat>
  <Paragraphs>248</Paragraphs>
  <Slides>19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Defensa TFG - Plataforma d'instrumentacio avionica</dc:title>
  <dc:subject>PptxGenJS Presentation</dc:subject>
  <dc:creator>Arnau</dc:creator>
  <cp:lastModifiedBy>Arnau Mora</cp:lastModifiedBy>
  <cp:revision>7</cp:revision>
  <dcterms:created xsi:type="dcterms:W3CDTF">2026-06-19T19:31:44Z</dcterms:created>
  <dcterms:modified xsi:type="dcterms:W3CDTF">2026-07-06T23:31:09Z</dcterms:modified>
</cp:coreProperties>
</file>