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3" r:id="rId24"/>
    <p:sldId id="262" r:id="rId8"/>
    <p:sldId id="263" r:id="rId9"/>
    <p:sldId id="274" r:id="rId25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(~30 s). Presentate, di el titulo y el objetivo en una frase: una plataforma experimental de bajo coste que emula instrumentacion avionica y recorre toda la cadena, del sensor a la pantalla. RELLENA: tu nombre completo. TIEMPO TOTAL OBJETIVO: ~18 min hablado + demo, nunca pasar de 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INDICE (~20 s). Enuncia el recorrido rapido sin detenerte. Sirve para que el tribunal sepa la estructura.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MOTIVACION (~1,5 min). Tres ideas: la instrumentacion comercial es cara y cerrada; falta material didactico que ensene la cadena completa; hoy es viable hacerlo por menos de 100 EUR con sensores MEMS y microcontroladores. Enlaza con el objetivo.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(~1,5 min). El objetivo es disenar e implementar la plataforma. Resultado: tres subsistemas (PCB, firmware, PFD) que operan como un solo sistema. Apoyate en las tres tarjetas.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REQUISITOS (~1 min). NO leas la tabla entera. Di que fijaste objetivos medibles derivados de normas aeronauticas y nombra 2 o 3 (latencia, actitud, GNSS, coste). Anticipa que al final mostraras el cumplimiento. Pregunta tipica del tribunal: por que esos umbrales si no buscas certificacion -&gt; son orientativos, coherentes con la norma, para tener criterios objetivos.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ARQUITECTURA (~2,5 min). Es la columna vertebral. Recorre el diagrama de izquierda a derecha: sensores -&gt; MCU transmisor (ESP32-S3) -&gt; transceptor RF (NRF24) -&gt; MCU receptor (ESP32-C3) -&gt; PC con el PFD. Menciona los buses (I2C/UART, SPI, RF, USB).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 - DISENO (~1,5 min). Placa propia de 2 capas, 180x115 mm, fabricada en JLCPCB. ESP32-S3 + suite de sensores. Alimentacion USB-C con LDO a 3,3 V. Ensena los renders.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 - PLACA REAL (~1 min). El paso de diseno a hardware fisico, montado y verificado electricamente. Transmisor (izq.) y receptor (der.). El hardware real causa buena impresion: detente un segundo.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FIRMWARE - FUSION (~1,5 min). Filtro Mahony MARG: combina acelerometro, giroscopo y magnetometro para dar actitud y rumbo estables a 100 Hz. Parametros Kp=2,0 e Ki=0,1. Importante: la calibracion del magnetometro se hace con todo activo y la radio emitiendo. Si preguntan por tilt-compensation: la rotacion a marco tierra del filtro ya lo hace.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TELEMETRIA ARINC (~1,5 min). El diferenciador. Se reutiliza la capa logica de ARINC 429 sobre la radio. 8 palabras de 32 bits = 32 B, justo el payload del NRF24. Tres palabras fijas (actitud y rumbo a 20 Hz) y cinco multiplexadas con un planificador EDF que prioriza el parametro mas atrasado.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PFD (~1,5 min). Disposicion Basic-T exigida por AC-25-11B: horizonte al centro, velocidad izquierda, altitud derecha, rumbo abajo. Cierra la cadena del sensor a la pantalla. Desarrollado en Processing.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(~45 s). Pantalla independiente del PFD que traza la posicion GNSS sobre cartografia. Teselas precargadas; la descarga en linea queda como trabajo futuro. Puedes pasar rapido.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CUMPLIMIENTO (~2 min). Diapositiva clave. Todos los requisitos de rendimiento se cumplen. Destaca: latencia ~85 ms frente a 200, actitud 1,8 grados frente a 3, GNSS 1,00 m CEP50 frente a 2,5, 60 FPS y ~100 m. Y los funcionales tambien. IMPORTANTE para preguntas: ten claro que la latencia de ~85 ms es presupuesto de diseno, no medida directa; preparate a justificarlo.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EVIDENCIA (~1 min). Muestra una prueba real (dispersion GNSS) y resalta tres cifras. AVISO: tus dos scatter de GNSS marcan 0,46 m y 11,45 m, pero la tabla dice 1,00 m CEP50. Reconcilia que figura y que numero son los definitivos ANTES de la defensa; la prueba de GNSS tiene muestra pequena y el tribunal puede preguntar.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CONCLUSIONES (~1,5 min). Objetivo cumplido, cadena completa, plataforma abierta y replicable por menos de 100 EUR. Se honesto con las limitaciones: sin redundancia y rumbo en interior limitado por el entorno magnetico.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TRABAJO FUTURO (~1 min). Cuatro lineas: cartografia en linea, integracion en vuelo, Flight Path Vector y sistemas avionicos adicionales (TCAS, ADS-B, FMS).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+ GRACIAS. Lanza la demo: inclina la placa (horizonte responde), gira (rumbo responde), ensena altitud/VSI y un fix GNSS sobre el mapa. REGLA DE ORO: ten un video de respaldo de 60-90 s por si falla la radio, el USB o el proyector. Logistica: lleva tu portatil, prueba el proyector antes y ten la placa encendida y emparejada antes de entrar. Cierra con un gracias y abre el turno de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eseiaa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1828800" cy="55586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e implementación de una plataforma experimental de instrumentación aviónica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75488" y="274320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Autor: Arnau [Apellidos]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Directores: Juan Mon González y Javier Gago Barrio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en Ingeniería en Vehículos Aeroespaciales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ESEIAAT - UPC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Convocatoria Primavera 2026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937760" y="2697480"/>
            <a:ext cx="37490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pic>
        <p:nvPicPr>
          <p:cNvPr id="6" name="Image 1" descr="assets/iso_p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0023" y="2843784"/>
            <a:ext cx="3204515" cy="1490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37760" y="4498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transmisor - render KiCad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18488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43584" y="1508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Motivación y objetivo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40080" y="2295144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404872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43584" y="229514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Arquitectura del sistema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640080" y="3081528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191256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43584" y="30815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Diseño hardware: la PCB</a:t>
            </a:r>
            <a:endParaRPr lang="en-US" sz="1500" dirty="0"/>
          </a:p>
        </p:txBody>
      </p:sp>
      <p:sp>
        <p:nvSpPr>
          <p:cNvPr id="14" name="Shape 8"/>
          <p:cNvSpPr/>
          <p:nvPr/>
        </p:nvSpPr>
        <p:spPr>
          <a:xfrm>
            <a:off x="640080" y="3867912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977640"/>
            <a:ext cx="237744" cy="237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43584" y="38679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Firmware y fusión sensorial</a:t>
            </a:r>
            <a:endParaRPr lang="en-US" sz="1500" dirty="0"/>
          </a:p>
        </p:txBody>
      </p:sp>
      <p:sp>
        <p:nvSpPr>
          <p:cNvPr id="17" name="Shape 10"/>
          <p:cNvSpPr/>
          <p:nvPr/>
        </p:nvSpPr>
        <p:spPr>
          <a:xfrm>
            <a:off x="4754880" y="1508760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1618488"/>
            <a:ext cx="237744" cy="23774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358384" y="1508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Telemetría ARINC 429</a:t>
            </a:r>
            <a:endParaRPr lang="en-US" sz="1500" dirty="0"/>
          </a:p>
        </p:txBody>
      </p:sp>
      <p:sp>
        <p:nvSpPr>
          <p:cNvPr id="20" name="Shape 12"/>
          <p:cNvSpPr/>
          <p:nvPr/>
        </p:nvSpPr>
        <p:spPr>
          <a:xfrm>
            <a:off x="4754880" y="2295144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4608" y="2404872"/>
            <a:ext cx="237744" cy="23774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358384" y="229514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Visualización: el PFD</a:t>
            </a:r>
            <a:endParaRPr lang="en-US" sz="1500" dirty="0"/>
          </a:p>
        </p:txBody>
      </p:sp>
      <p:sp>
        <p:nvSpPr>
          <p:cNvPr id="23" name="Shape 14"/>
          <p:cNvSpPr/>
          <p:nvPr/>
        </p:nvSpPr>
        <p:spPr>
          <a:xfrm>
            <a:off x="4754880" y="3081528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4608" y="3191256"/>
            <a:ext cx="237744" cy="237744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358384" y="30815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Validación y resultados</a:t>
            </a:r>
            <a:endParaRPr lang="en-US" sz="1500" dirty="0"/>
          </a:p>
        </p:txBody>
      </p:sp>
      <p:sp>
        <p:nvSpPr>
          <p:cNvPr id="26" name="Shape 16"/>
          <p:cNvSpPr/>
          <p:nvPr/>
        </p:nvSpPr>
        <p:spPr>
          <a:xfrm>
            <a:off x="4754880" y="3867912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4608" y="3977640"/>
            <a:ext cx="237744" cy="237744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358384" y="38679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Conclusiones y demo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Motivación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08760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15568" y="1380744"/>
            <a:ext cx="4187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Instrumentación cara y cerrada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sistemas comerciales son costosos y propietarios, poco accesibles para docencia.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548640" y="2468880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60320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15568" y="2432304"/>
            <a:ext cx="4187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Hueco didáctico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 plataformas abiertas que muestren toda la cadena, del sensor a la pantalla.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548640" y="3520440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11880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15568" y="3483864"/>
            <a:ext cx="4187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es viable a bajo coste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sensores MEMS y los microcontroladores potentes permiten replicar la cadena.</a:t>
            </a:r>
            <a:endParaRPr lang="en-US" sz="1450" dirty="0"/>
          </a:p>
        </p:txBody>
      </p:sp>
      <p:sp>
        <p:nvSpPr>
          <p:cNvPr id="14" name="Shape 8"/>
          <p:cNvSpPr/>
          <p:nvPr/>
        </p:nvSpPr>
        <p:spPr>
          <a:xfrm>
            <a:off x="5532120" y="1417320"/>
            <a:ext cx="320040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pic>
        <p:nvPicPr>
          <p:cNvPr id="15" name="Image 4" descr="assets/top_clean_pc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424" y="1632629"/>
            <a:ext cx="2907792" cy="135246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532120" y="32186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desarrollada</a:t>
            </a:r>
            <a:endParaRPr lang="en-US" sz="1000" dirty="0"/>
          </a:p>
        </p:txBody>
      </p:sp>
      <p:sp>
        <p:nvSpPr>
          <p:cNvPr id="17" name="Shape 10"/>
          <p:cNvSpPr/>
          <p:nvPr/>
        </p:nvSpPr>
        <p:spPr>
          <a:xfrm>
            <a:off x="5532120" y="35204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1F6FC"/>
          </a:solidFill>
          <a:ln w="12700">
            <a:solidFill>
              <a:srgbClr val="D7E2EF"/>
            </a:solidFill>
            <a:prstDash val="solid"/>
          </a:ln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sp>
        <p:nvSpPr>
          <p:cNvPr id="18" name="Text 11"/>
          <p:cNvSpPr/>
          <p:nvPr/>
        </p:nvSpPr>
        <p:spPr>
          <a:xfrm>
            <a:off x="5532120" y="35661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100 €</a:t>
            </a:r>
            <a:endParaRPr lang="en-US" sz="3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de materiales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75488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experimental de bajo coste que recorre la cadena completa: del sensor a la pantalla.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691640"/>
            <a:ext cx="2651760" cy="2788920"/>
          </a:xfrm>
          <a:prstGeom prst="roundRect">
            <a:avLst>
              <a:gd name="adj" fmla="val 3103"/>
            </a:avLst>
          </a:prstGeom>
          <a:solidFill>
            <a:srgbClr val="F1F6FC"/>
          </a:solidFill>
          <a:ln w="12700">
            <a:solidFill>
              <a:srgbClr val="D7E2EF"/>
            </a:solidFill>
            <a:prstDash val="solid"/>
          </a:ln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17320" y="1965960"/>
            <a:ext cx="731520" cy="73152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1488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2788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PCB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685800" y="32461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el microcontrolador y los sensores en una placa propia.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3319272" y="1691640"/>
            <a:ext cx="2651760" cy="2788920"/>
          </a:xfrm>
          <a:prstGeom prst="roundRect">
            <a:avLst>
              <a:gd name="adj" fmla="val 3103"/>
            </a:avLst>
          </a:prstGeom>
          <a:solidFill>
            <a:srgbClr val="F1F6FC"/>
          </a:solidFill>
          <a:ln w="12700">
            <a:solidFill>
              <a:srgbClr val="D7E2EF"/>
            </a:solidFill>
            <a:prstDash val="solid"/>
          </a:ln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279392" y="1965960"/>
            <a:ext cx="731520" cy="73152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21488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19272" y="2788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Firmware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3547872" y="32461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Adquiere, calibra, fusiona y transmite los datos.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181344" y="1691640"/>
            <a:ext cx="2651760" cy="2788920"/>
          </a:xfrm>
          <a:prstGeom prst="roundRect">
            <a:avLst>
              <a:gd name="adj" fmla="val 3103"/>
            </a:avLst>
          </a:prstGeom>
          <a:solidFill>
            <a:srgbClr val="F1F6FC"/>
          </a:solidFill>
          <a:ln w="12700">
            <a:solidFill>
              <a:srgbClr val="D7E2EF"/>
            </a:solidFill>
            <a:prstDash val="solid"/>
          </a:ln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141464" y="1965960"/>
            <a:ext cx="731520" cy="73152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4344" y="214884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81344" y="2788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PFD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6409944" y="32461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los parámetros en disposición Basic-T en tiempo real.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75488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medibles derivados de normas aeronáuticas de referencia.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5087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1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587752" y="150876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587752" y="15087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</a:t>
            </a:r>
            <a:endParaRPr lang="en-US" sz="1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718304" y="150876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18304" y="15087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</a:t>
            </a:r>
            <a:endParaRPr lang="en-US" sz="1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848856" y="150876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848856" y="15087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</a:t>
            </a:r>
            <a:endParaRPr lang="en-US" sz="1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Normativos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75488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clave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8640" y="2971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extremo a extremo &lt; 200 ms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46320" y="2971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Refresco del PFD &gt;= 30 FPS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8640" y="3383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Actitud dentro de +-3°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846320" y="3383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Posicionamiento GNSS &lt;= 2,5 m CEP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3794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de materiales &lt; 100 €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846320" y="3794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Alimentación por USB-C, software abierto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75488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seguidas como referencia: AC-25-11B · SAE AS8034C · ARINC 429 · HF-STD-001B · 14 CFR 25.1321/1322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sistema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75488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transmisor - receptor con enlace inalámbrico.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65760" y="2331720"/>
            <a:ext cx="17373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875">
            <a:solidFill>
              <a:srgbClr val="0E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65760" y="2331720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· Baro · GNSS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 · Radar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395728" y="2331720"/>
            <a:ext cx="13716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875">
            <a:solidFill>
              <a:srgbClr val="0E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395728" y="2331720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Transmisor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059936" y="2331720"/>
            <a:ext cx="1371600" cy="1325880"/>
          </a:xfrm>
          <a:prstGeom prst="roundRect">
            <a:avLst>
              <a:gd name="adj" fmla="val 4138"/>
            </a:avLst>
          </a:prstGeom>
          <a:solidFill>
            <a:srgbClr val="FDF1D6"/>
          </a:solidFill>
          <a:ln w="22225">
            <a:solidFill>
              <a:srgbClr val="F2A900"/>
            </a:solidFill>
            <a:prstDash val="solid"/>
          </a:ln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059936" y="2331720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Transceptor RF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NRF24L01+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724144" y="2331720"/>
            <a:ext cx="13716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875">
            <a:solidFill>
              <a:srgbClr val="0E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724144" y="2331720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Receptor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ESP32-C3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388352" y="2331720"/>
            <a:ext cx="13716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875">
            <a:solidFill>
              <a:srgbClr val="0E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388352" y="2331720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/ PFD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2139696" y="2994660"/>
            <a:ext cx="219456" cy="0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31136" y="284835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2048256" y="26106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/ UART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803904" y="2994660"/>
            <a:ext cx="219456" cy="0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95344" y="284835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3712464" y="26106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68112" y="2994660"/>
            <a:ext cx="219456" cy="0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59552" y="284835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376672" y="26106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132320" y="2994660"/>
            <a:ext cx="219456" cy="0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223760" y="284835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7040880" y="26106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75488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palabras fijas (actitud y rumbo a 20 Hz) y cinco multiplexadas por palabra ARINC 429 sobre el enlace de radio.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Hardware: diseño de la PCB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4069080" cy="1892808"/>
          </a:xfrm>
          <a:prstGeom prst="roundRect">
            <a:avLst>
              <a:gd name="adj" fmla="val 338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pic>
        <p:nvPicPr>
          <p:cNvPr id="6" name="Image 1" descr="assets/iso_p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1517904"/>
            <a:ext cx="3440430" cy="1600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328269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isométrico (KiCad)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4663440" y="1371600"/>
            <a:ext cx="4069080" cy="1892808"/>
          </a:xfrm>
          <a:prstGeom prst="roundRect">
            <a:avLst>
              <a:gd name="adj" fmla="val 338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pic>
        <p:nvPicPr>
          <p:cNvPr id="9" name="Image 2" descr="assets/top_clean_p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765" y="1517904"/>
            <a:ext cx="3440430" cy="1600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3440" y="328269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superior (KiCad)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548640" y="36576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 propia de 2 capas (180 x 115 mm), fabricada en JLCPCB.</a:t>
            </a:r>
            <a:endParaRPr lang="en-US" sz="1300" dirty="0"/>
          </a:p>
          <a:p>
            <a:pPr algn="l"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ESP32-S3 con la suite de sensores: IMU, barómetro, GNSS, ToF y radar.</a:t>
            </a:r>
            <a:endParaRPr lang="en-US" sz="1300" dirty="0"/>
          </a:p>
          <a:p>
            <a:pPr algn="l"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Alimentación por USB-C con LDO a 3,3 V; raíl de 5 V para los módulos que lo requieren.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Hardware: la placa fabricada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75488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diseño a la placa real, montada y verificada eléctricamente.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4937760" cy="3154680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pic>
        <p:nvPicPr>
          <p:cNvPr id="7" name="Image 1" descr="assets/real_pcb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181" y="1517904"/>
            <a:ext cx="3863797" cy="28620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5445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transmisor montado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577840" y="1371600"/>
            <a:ext cx="3108960" cy="315468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pic>
        <p:nvPicPr>
          <p:cNvPr id="10" name="Image 2" descr="assets/real_reciever_pcb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3353" y="1517904"/>
            <a:ext cx="2117933" cy="28620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577840" y="45445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receptor (ESP32-C3)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Firmware: fusión sensorial (AHRS)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Mahony MARG (complementario) para actitud y rumbo en tiempo real.</a:t>
            </a:r>
            <a:endParaRPr lang="en-US" sz="1350" dirty="0"/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acelerómetro, giróscopo y magnetómetro en una estimación estable.</a:t>
            </a:r>
            <a:endParaRPr lang="en-US" sz="1350" dirty="0"/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Calibración con todos los periféricos activos y la radio transmitiendo.</a:t>
            </a:r>
            <a:endParaRPr lang="en-US" sz="135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 = 3,0   ·   Ki = 1,0   ·   fusión a 100 Hz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40680" y="1417320"/>
            <a:ext cx="141732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0E22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40680" y="1417320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Acelerómetro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40680" y="2020824"/>
            <a:ext cx="141732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0E22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40680" y="2020824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Giróscopo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40680" y="2624328"/>
            <a:ext cx="141732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0E22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40680" y="2624328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Magnetómetro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178040" y="182880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FDF1D6"/>
          </a:solidFill>
          <a:ln w="22225">
            <a:solidFill>
              <a:srgbClr val="F2A900"/>
            </a:solidFill>
            <a:prstDash val="solid"/>
          </a:ln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178040" y="18288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Mahony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903720" y="329184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903720" y="3291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Actitud y rumbo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858000" y="1664208"/>
            <a:ext cx="310896" cy="640080"/>
          </a:xfrm>
          <a:prstGeom prst="line">
            <a:avLst/>
          </a:prstGeom>
          <a:noFill/>
          <a:ln w="22225">
            <a:solidFill>
              <a:srgbClr val="F2A90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0" y="2267712"/>
            <a:ext cx="310896" cy="36576"/>
          </a:xfrm>
          <a:prstGeom prst="line">
            <a:avLst/>
          </a:prstGeom>
          <a:noFill/>
          <a:ln w="22225">
            <a:solidFill>
              <a:srgbClr val="F2A9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858000" y="2871216"/>
            <a:ext cx="310896" cy="-566928"/>
          </a:xfrm>
          <a:prstGeom prst="line">
            <a:avLst/>
          </a:prstGeom>
          <a:noFill/>
          <a:ln w="22225">
            <a:solidFill>
              <a:srgbClr val="F2A90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653528" y="2788920"/>
            <a:ext cx="0" cy="502920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Telemetría: ARINC 429 sobre NRF24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554480"/>
            <a:ext cx="978408" cy="822960"/>
          </a:xfrm>
          <a:prstGeom prst="roundRect">
            <a:avLst>
              <a:gd name="adj" fmla="val 6667"/>
            </a:avLst>
          </a:prstGeom>
          <a:solidFill>
            <a:srgbClr val="F2A900"/>
          </a:solidFill>
          <a:ln w="15875">
            <a:solidFill>
              <a:srgbClr val="F2A9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554480"/>
            <a:ext cx="97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215798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504188" y="1554480"/>
            <a:ext cx="978408" cy="822960"/>
          </a:xfrm>
          <a:prstGeom prst="roundRect">
            <a:avLst>
              <a:gd name="adj" fmla="val 6667"/>
            </a:avLst>
          </a:prstGeom>
          <a:solidFill>
            <a:srgbClr val="F2A900"/>
          </a:solidFill>
          <a:ln w="15875">
            <a:solidFill>
              <a:srgbClr val="F2A9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504188" y="1554480"/>
            <a:ext cx="97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504188" y="215798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551176" y="1554480"/>
            <a:ext cx="978408" cy="822960"/>
          </a:xfrm>
          <a:prstGeom prst="roundRect">
            <a:avLst>
              <a:gd name="adj" fmla="val 6667"/>
            </a:avLst>
          </a:prstGeom>
          <a:solidFill>
            <a:srgbClr val="F2A900"/>
          </a:solidFill>
          <a:ln w="15875">
            <a:solidFill>
              <a:srgbClr val="F2A9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51176" y="1554480"/>
            <a:ext cx="97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2551176" y="215798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598164" y="1554480"/>
            <a:ext cx="978408" cy="822960"/>
          </a:xfrm>
          <a:prstGeom prst="roundRect">
            <a:avLst>
              <a:gd name="adj" fmla="val 6667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98164" y="1554480"/>
            <a:ext cx="97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3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598164" y="215798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645152" y="1554480"/>
            <a:ext cx="978408" cy="822960"/>
          </a:xfrm>
          <a:prstGeom prst="roundRect">
            <a:avLst>
              <a:gd name="adj" fmla="val 6667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45152" y="1554480"/>
            <a:ext cx="97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4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645152" y="215798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692140" y="1554480"/>
            <a:ext cx="978408" cy="822960"/>
          </a:xfrm>
          <a:prstGeom prst="roundRect">
            <a:avLst>
              <a:gd name="adj" fmla="val 6667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92140" y="1554480"/>
            <a:ext cx="97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5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692140" y="215798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739128" y="1554480"/>
            <a:ext cx="978408" cy="822960"/>
          </a:xfrm>
          <a:prstGeom prst="roundRect">
            <a:avLst>
              <a:gd name="adj" fmla="val 6667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39128" y="1554480"/>
            <a:ext cx="97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6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739128" y="215798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786116" y="1554480"/>
            <a:ext cx="978408" cy="822960"/>
          </a:xfrm>
          <a:prstGeom prst="roundRect">
            <a:avLst>
              <a:gd name="adj" fmla="val 6667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786116" y="1554480"/>
            <a:ext cx="97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7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7786116" y="215798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57200" y="2432304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Fijos (20 Hz)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598164" y="2432304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Multiplexados (planificador EDF)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57200" y="2788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palabras ARINC 429 x 32 bits = 32 B (payload del NRF24), enviado a 20 Hz.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48640" y="32461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reutiliza la capa lógica del estándar ARINC 429 sobre el enlace de radio.</a:t>
            </a:r>
            <a:endParaRPr lang="en-US" sz="1300" dirty="0"/>
          </a:p>
          <a:p>
            <a:pPr algn="l"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planificador EDF reparte los slots según el retraso de cada parámetro.</a:t>
            </a:r>
            <a:endParaRPr lang="en-US" sz="1300" dirty="0"/>
          </a:p>
          <a:p>
            <a:pPr algn="l"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 a 250 kbps; alcance del orden de 100 m en interior.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Visualización: el PFD (Basic-T)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4846320" cy="3154680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pic>
        <p:nvPicPr>
          <p:cNvPr id="6" name="Image 1" descr="assets/p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565" y="1517904"/>
            <a:ext cx="3577590" cy="28620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45445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PFD en Processing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5532120" y="1563624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9" name="Text 5"/>
          <p:cNvSpPr/>
          <p:nvPr/>
        </p:nvSpPr>
        <p:spPr>
          <a:xfrm>
            <a:off x="5806440" y="1508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Horizonte artificial  </a:t>
            </a:r>
            <a:pPr algn="l" indent="0" marL="0">
              <a:buNone/>
            </a:pPr>
            <a:r>
              <a:rPr lang="en-US" sz="110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- cabeceo y alabeo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532120" y="2157984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1" name="Text 7"/>
          <p:cNvSpPr/>
          <p:nvPr/>
        </p:nvSpPr>
        <p:spPr>
          <a:xfrm>
            <a:off x="580644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Velocidad  </a:t>
            </a:r>
            <a:pPr algn="l" indent="0" marL="0">
              <a:buNone/>
            </a:pPr>
            <a:r>
              <a:rPr lang="en-US" sz="110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izquierda - GNSS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532120" y="2752344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3" name="Text 9"/>
          <p:cNvSpPr/>
          <p:nvPr/>
        </p:nvSpPr>
        <p:spPr>
          <a:xfrm>
            <a:off x="580644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Altitud  </a:t>
            </a:r>
            <a:pPr algn="l" indent="0" marL="0">
              <a:buNone/>
            </a:pPr>
            <a:r>
              <a:rPr lang="en-US" sz="110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derecha - barométrica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532120" y="3346704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5" name="Text 11"/>
          <p:cNvSpPr/>
          <p:nvPr/>
        </p:nvSpPr>
        <p:spPr>
          <a:xfrm>
            <a:off x="5806440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Rumbo  </a:t>
            </a:r>
            <a:pPr algn="l" indent="0" marL="0">
              <a:buNone/>
            </a:pPr>
            <a:r>
              <a:rPr lang="en-US" sz="110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inferior - magnético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532120" y="3941064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7" name="Text 13"/>
          <p:cNvSpPr/>
          <p:nvPr/>
        </p:nvSpPr>
        <p:spPr>
          <a:xfrm>
            <a:off x="5806440" y="3886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Proximidad y VSI  </a:t>
            </a:r>
            <a:pPr algn="l" indent="0" marL="0">
              <a:buNone/>
            </a:pPr>
            <a:r>
              <a:rPr lang="en-US" sz="110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al suelo y vel. vertical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532120" y="4160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Disposición Basic-T marcada por la normativa (AC-25-11B). Cierra la cadena del sensor a la pantalla.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Navegación: vista de mapa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75488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independiente del PFD: traza la posición GNSS sobre cartografía.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1417320"/>
            <a:ext cx="749808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pic>
        <p:nvPicPr>
          <p:cNvPr id="7" name="Image 1" descr="assets/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420" y="1563624"/>
            <a:ext cx="4803160" cy="24505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417880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 de posición sobre teselas topográficas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822960" y="44348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Teselas precargadas en disco; la descarga en línea bajo demanda queda como trabajo futuro.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Validación: cumplimiento de requisitos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3977640"/>
                <a:gridCol w="219456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E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Latencia &lt; 200 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~85 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E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Refresco del PFD &gt;= 30 FPS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FPS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E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Actitud &gt;= 20 Hz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Hz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E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Actitud dentro de +-3°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máx. 1,8°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E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GNSS &lt;= 2,5 m CEP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 m CEP50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E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RP06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Alcance de decenas de m (interior)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requisitos funcionales (RF01-RF09) también quedan cubiertos con el sistema integrado.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Validación: evidencia experimental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3200400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sp>
        <p:nvSpPr>
          <p:cNvPr id="6" name="GNSS Number"/>
          <p:cNvSpPr/>
          <p:nvPr/>
        </p:nvSpPr>
        <p:spPr>
          <a:xfrm>
            <a:off x="457200" y="2050000"/>
            <a:ext cx="32004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 m</a:t>
            </a:r>
            <a:endParaRPr lang="en-US" sz="5400" dirty="0"/>
          </a:p>
        </p:txBody>
      </p:sp>
      <p:sp>
        <p:nvSpPr>
          <p:cNvPr id="7" name="GNSS Label"/>
          <p:cNvSpPr/>
          <p:nvPr/>
        </p:nvSpPr>
        <p:spPr>
          <a:xfrm>
            <a:off x="457200" y="3080000"/>
            <a:ext cx="32004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CEP50 del posicionamiento GNSS</a:t>
            </a:r>
            <a:endParaRPr lang="en-US" sz="1250" dirty="0"/>
          </a:p>
        </p:txBody>
      </p:sp>
      <p:sp>
        <p:nvSpPr>
          <p:cNvPr id="14" name="GNSS Sublabel"/>
          <p:cNvSpPr/>
          <p:nvPr/>
        </p:nvSpPr>
        <p:spPr>
          <a:xfrm>
            <a:off x="457200" y="3470000"/>
            <a:ext cx="32004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2,5 m (objetivo RP05)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023360" y="15087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1,8°</a:t>
            </a:r>
            <a:endParaRPr lang="en-US" sz="4000" dirty="0"/>
          </a:p>
        </p:txBody>
      </p:sp>
      <p:sp>
        <p:nvSpPr>
          <p:cNvPr id="9" name="Text 5"/>
          <p:cNvSpPr/>
          <p:nvPr/>
        </p:nvSpPr>
        <p:spPr>
          <a:xfrm>
            <a:off x="4023360" y="21122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máximo de actitud (&lt; 3° requerido)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023360" y="25146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~85 ms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4023360" y="31181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extremo a extremo (&lt; 200 ms)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023360" y="35204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~100 m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023360" y="412394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del enlace en interior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22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2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1560" y="14630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cumplido: los tres subsistemas integrados operan como un único sistema.</a:t>
            </a:r>
            <a:endParaRPr lang="en-US" sz="15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58568"/>
            <a:ext cx="365760" cy="365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51560" y="22402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completa del sensor a la pantalla, con acceso a las magnitudes intermedias.</a:t>
            </a:r>
            <a:endParaRPr lang="en-US" sz="15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35808"/>
            <a:ext cx="365760" cy="3657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51560" y="3017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abierta y replicable por menos de 100 € en materiales.</a:t>
            </a:r>
            <a:endParaRPr lang="en-US" sz="15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813048"/>
            <a:ext cx="365760" cy="36576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51560" y="37947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asumidas: sin redundancia y rumbo en interior limitado por el entorno magnético.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futuro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15568" y="1426464"/>
            <a:ext cx="7662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Cartografía en línea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las teselas bajo demanda y cubrir más niveles de zoom.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548640" y="2331720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23160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15568" y="2295144"/>
            <a:ext cx="7662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en vuelo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Adaptar el sistema para instalarlo en un vehículo aéreo real.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548640" y="3200400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91840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15568" y="3163824"/>
            <a:ext cx="7662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Path Vector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Representar el FPV en el PFD con datos de viento y navegación.</a:t>
            </a:r>
            <a:endParaRPr lang="en-US" sz="1450" dirty="0"/>
          </a:p>
        </p:txBody>
      </p:sp>
      <p:sp>
        <p:nvSpPr>
          <p:cNvPr id="14" name="Shape 8"/>
          <p:cNvSpPr/>
          <p:nvPr/>
        </p:nvSpPr>
        <p:spPr>
          <a:xfrm>
            <a:off x="548640" y="4069080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160520"/>
            <a:ext cx="237744" cy="237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15568" y="4032504"/>
            <a:ext cx="7662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aviónicos adicionales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meteorológico, TCAS, ADS-B o FMS sobre la misma arquitectura.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22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66928" y="22402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directo de la plataforma: actitud, rumbo, altitud y posición en tiempo real.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342900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3557016"/>
            <a:ext cx="246888" cy="246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3429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¿Preguntas?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66928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Arnau [Apellidos]  ·  ESEIAAT - UPC  ·  Primavera 2026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40680" y="1188720"/>
            <a:ext cx="3246120" cy="338328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pic>
        <p:nvPicPr>
          <p:cNvPr id="9" name="Image 1" descr="assets/IMG_215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984" y="1786467"/>
            <a:ext cx="2953512" cy="218778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459028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en funcionamiento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Decisiones de diseño: arquitectura y enlace</a:t>
            </a:r>
            <a:endParaRPr lang="es-ES" sz="2600" dirty="0"/>
          </a:p>
        </p:txBody>
      </p:sp>
      <p:sp>
        <p:nvSpPr>
          <p:cNvPr id="5" name="Text 2"/>
          <p:cNvSpPr/>
          <p:nvPr/>
        </p:nvSpPr>
        <p:spPr>
          <a:xfrm>
            <a:off x="475488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sz="14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dos nodos, un enlace de radio y telemetría ARINC 429.</a:t>
            </a:r>
            <a:endParaRPr lang="es-E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600200"/>
            <a:ext cx="3962400" cy="3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4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Partición transmisor / receptor</a:t>
            </a:r>
            <a:endParaRPr lang="es-E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920240"/>
            <a:ext cx="39624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Bef>
                <a:spcPts val="300"/>
              </a:spcBef>
              <a:buSzPct val="100000"/>
              <a:buChar char="•"/>
            </a:pPr>
            <a:r>
              <a:rPr lang="es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Refleja la arquitectura real de una aeronave.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s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movilidad al nodo de sensores frente al PC fijo.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s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Añade un enlace inalámbrico con valor docente.</a:t>
            </a:r>
          </a:p>
        </p:txBody>
      </p:sp>
      <p:sp>
        <p:nvSpPr>
          <p:cNvPr id="8" name="Text 5"/>
          <p:cNvSpPr/>
          <p:nvPr/>
        </p:nvSpPr>
        <p:spPr>
          <a:xfrm>
            <a:off x="457200" y="3093720"/>
            <a:ext cx="3962400" cy="3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4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 de radio: RF 2,4 GHz (ISM)</a:t>
            </a:r>
            <a:endParaRPr lang="es-E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413760"/>
            <a:ext cx="39624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Bef>
                <a:spcPts val="300"/>
              </a:spcBef>
              <a:buSzPct val="100000"/>
              <a:buChar char="•"/>
            </a:pPr>
            <a:r>
              <a:rPr lang="es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Descartados cable serie, WiFi-UDP y Bluetooth / BLE.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s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Elegido por baja latencia, alcance suficiente y bajo coste.</a:t>
            </a:r>
          </a:p>
        </p:txBody>
      </p:sp>
      <p:sp>
        <p:nvSpPr>
          <p:cNvPr id="10" name="Shape 7"/>
          <p:cNvSpPr/>
          <p:nvPr/>
        </p:nvSpPr>
        <p:spPr>
          <a:xfrm>
            <a:off x="4724400" y="1600200"/>
            <a:ext cx="3962400" cy="2713320"/>
          </a:xfrm>
          <a:prstGeom prst="roundRect">
            <a:avLst>
              <a:gd name="adj" fmla="val 6316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968240" y="1798320"/>
            <a:ext cx="3474720" cy="2332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s-E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lógica ARINC 429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s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con la práctica aeronáutica real.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s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docente: etiquetas, BNR, paridad y SSM.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s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 de 32 bits ya estructurada; sin diseñar un formato desde cero.</a:t>
            </a:r>
          </a:p>
        </p:txBody>
      </p:sp>
      <p:sp>
        <p:nvSpPr>
          <p:cNvPr id="12" name="Text 9"/>
          <p:cNvSpPr/>
          <p:nvPr/>
        </p:nvSpPr>
        <p:spPr>
          <a:xfrm>
            <a:off x="475488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05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payload de 32 B del NRF24 equivale exactamente a 8 palabras ARINC 429 de 32 bits.</a:t>
            </a:r>
            <a:endParaRPr lang="es-E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Selección del filtro de fusión</a:t>
            </a:r>
            <a:endParaRPr lang="es-ES" sz="2600" dirty="0"/>
          </a:p>
        </p:txBody>
      </p:sp>
      <p:sp>
        <p:nvSpPr>
          <p:cNvPr id="5" name="Text 2"/>
          <p:cNvSpPr/>
          <p:nvPr/>
        </p:nvSpPr>
        <p:spPr>
          <a:xfrm>
            <a:off x="475488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sz="14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de algoritmos sobre el ESP32: coste de cómputo frente a precisión.</a:t>
            </a:r>
            <a:endParaRPr lang="es-E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600200"/>
            <a:ext cx="396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4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 consideradas</a:t>
            </a:r>
            <a:endParaRPr lang="es-E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965960"/>
            <a:ext cx="39624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Bef>
                <a:spcPts val="300"/>
              </a:spcBef>
              <a:buSzPct val="100000"/>
              <a:buChar char="•"/>
            </a:pPr>
            <a:r>
              <a:rPr lang="es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complementario: un parámetro, sin estimación de bias ni corrección de la deriva.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s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Madgwick: precisión similar, sin ajuste independiente del transitorio.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s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EKF / UKF: mayor coste de cómputo, no justificado en este alcance.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s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partículas: máxima precisión, inviable en tiempo real sobre el ESP32.</a:t>
            </a:r>
          </a:p>
        </p:txBody>
      </p:sp>
      <p:sp>
        <p:nvSpPr>
          <p:cNvPr id="8" name="Shape 5"/>
          <p:cNvSpPr/>
          <p:nvPr/>
        </p:nvSpPr>
        <p:spPr>
          <a:xfrm>
            <a:off x="4724400" y="1600200"/>
            <a:ext cx="3962400" cy="2438400"/>
          </a:xfrm>
          <a:prstGeom prst="roundRect">
            <a:avLst>
              <a:gd name="adj" fmla="val 6316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1B2A3A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68240" y="1798320"/>
            <a:ext cx="3474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s-E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Mahony (seleccionado)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s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 la deriva del giroscopio con su término integral (PI).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s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de cómputo bajo, adecuado para el ESP32.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s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transitoria ajustable mediante Kp y Ki.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s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Avalado por estudios recientes en plataformas ESP32.</a:t>
            </a:r>
          </a:p>
        </p:txBody>
      </p:sp>
      <p:sp>
        <p:nvSpPr>
          <p:cNvPr id="10" name="Text 9"/>
          <p:cNvSpPr/>
          <p:nvPr/>
        </p:nvSpPr>
        <p:spPr>
          <a:xfrm>
            <a:off x="475488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05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Referencias: Mahony (2008) · Cocoli y Badia (2023) · Uyar (2024) · Gui et al. (2015)</a:t>
            </a:r>
            <a:endParaRPr lang="es-E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TFG - Plataforma de instrumentacion avionica</dc:title>
  <dc:subject>PptxGenJS Presentation</dc:subject>
  <dc:creator>Arnau</dc:creator>
  <cp:lastModifiedBy>Arnau</cp:lastModifiedBy>
  <cp:revision>1</cp:revision>
  <dcterms:created xsi:type="dcterms:W3CDTF">2026-06-19T19:31:44Z</dcterms:created>
  <dcterms:modified xsi:type="dcterms:W3CDTF">2026-06-19T19:31:44Z</dcterms:modified>
</cp:coreProperties>
</file>