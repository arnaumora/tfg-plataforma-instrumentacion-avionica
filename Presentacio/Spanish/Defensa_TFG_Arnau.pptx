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73" r:id="rId8"/>
    <p:sldId id="262" r:id="rId9"/>
    <p:sldId id="263" r:id="rId10"/>
    <p:sldId id="274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1485" y="7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171EB8-DCAB-4648-A104-EB7323203DAC}" type="datetimeFigureOut">
              <a:t>03/07/2026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75A86D-084E-4755-8B14-20B885BB2353}" type="slidenum"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029466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 (~30 s). Presentate, di el titulo y el objetivo en una frase: una plataforma experimental de bajo coste que emula instrumentacion avionica y recorre toda la cadena, del sensor a la pantalla. RELLENA: tu nombre completo. TIEMPO TOTAL OBJETIVO: ~18 min hablado + demo, nunca pasar de 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INDICE (~20 s). Enuncia el recorrido rapido sin detenerte. Sirve para que el tribunal sepa la estructura.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MOTIVACION (~1,5 min). Tres ideas: la instrumentacion comercial es cara y cerrada; falta material didactico que ensene la cadena completa; hoy es viable hacerlo por menos de 100 EUR con sensores MEMS y microcontroladores. Enlaza con el objetivo.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(~1,5 min). El objetivo es disenar e implementar la plataforma. Resultado: tres subsistemas (PCB, firmware, PFD) que operan como un solo sistema. Apoyate en las tres tarjetas.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REQUISITOS (~1 min). NO leas la tabla entera. Di que fijaste objetivos medibles derivados de normas aeronauticas y nombra 2 o 3 (latencia, actitud, GNSS, coste). Anticipa que al final mostraras el cumplimiento. Pregunta tipica del tribunal: por que esos umbrales si no buscas certificacion -&gt; son orientativos, coherentes con la norma, para tener criterios objetivos.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ARQUITECTURA (~2,5 min). Es la columna vertebral. Recorre el diagrama de izquierda a derecha: sensores -&gt; MCU transmisor (ESP32-S3) -&gt; transceptor RF (NRF24) -&gt; MCU receptor (ESP32-C3) -&gt; PC con el PFD. Menciona los buses (I2C/UART, SPI, RF, USB).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HARDWARE - DISENO (~1,5 min). Placa propia de 2 capas, 180x115 mm, fabricada en JLCPCB. ESP32-S3 + suite de sensores. Alimentacion USB-C con LDO a 3,3 V. Ensena los renders.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HARDWARE - PLACA REAL (~1 min). El paso de diseno a hardware fisico, montado y verificado electricamente. Transmisor (izq.) y receptor (der.). El hardware real causa buena impresion: detente un segundo.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FIRMWARE - FUSION (~1,5 min). Filtro Mahony MARG: combina acelerometro, giroscopo y magnetometro para dar actitud y rumbo estables a 100 Hz. Parametros Kp=3,0 y Ki=1,0 (los del slide y la memoria). Cuaternion inicializado analiticamente desde acelerometro y magnetometro: actitud valida desde el arranque, el integrador solo sigue la deriva lenta. Importante: la calibracion del magnetometro se hace con todo activo y la radio emitiendo. Si preguntan por tilt-compensation: la rotacion a marco tierra del filtro ya lo hace.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TELEMETRIA ARINC (~1,5 min). El diferenciador. Se reutiliza la capa logica de ARINC 429 sobre la radio. 8 palabras de 32 bits = 32 B, justo el payload del NRF24. Tres palabras fijas (actitud y rumbo a 20 Hz) y cinco multiplexadas con un planificador EDF que prioriza el parametro mas atrasado: baro, VSI, radar y ToF a 10 Hz; GNSS y estado a 5 Hz. Alcance ~100 m por margen de diseno, no medido.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PFD (~1,5 min). Disposicion Basic-T conforme al patron de la AC 25-11B (RN01): horizonte al centro, velocidad izquierda, altitud derecha, rumbo abajo. Cierra la cadena del sensor a la pantalla. Desarrollado en Processing.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MAPA (~45 s). Pantalla independiente del PFD que traza la posicion GNSS sobre cartografia. Teselas offline del ICGC, vista conmutable por teclado; la descarga en linea queda como trabajo futuro. Puedes pasar rapido.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CUMPLIMIENTO (~2 min). Diapositiva clave. Todos los requisitos de rendimiento se cumplen. Destaca: latencia ~85 ms frente a 200, actitud 1,8 grados frente a 3, GNSS 1,00 m CEP50 frente a 2,5, 60 FPS y ~100 m. Y los funcionales tambien. IMPORTANTE para preguntas: ten claro que la latencia de ~85 ms es presupuesto de diseno, no medida directa; preparate a justificarlo.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CIFRAS DE MERITO (~1 min). Cuatro numeros con su naturaleza explicita: CEP50 1,00 m y actitud 1,8 grados son medidos en estatico; la latencia de 85 ms es cota analitica de peor caso; el alcance de 100 m es margen de diseno de la hoja de datos, no medido. Decirlo tal cual transmite rigor y desactiva las preguntas de si se ha medido.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CONCLUSIONES (~1,5 min). Objetivo cumplido, cadena completa, plataforma abierta y replicable por menos de 100 EUR. Se honesto con las limitaciones: sin redundancia y rumbo en interior limitado por el entorno magnetico.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TRABAJO FUTURO (~45 s). Cuatro lineas: cartografia en linea, caracterizacion real del enlace (alcance y perdida de paquetes), radar como fuente de proximidad, e integracion en vuelo. Las dos centrales cierran los puntos aplazados en la validacion.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+ GRACIAS. Lanza la demo: inclina la placa (horizonte responde), gira (rumbo responde), ensena altitud/VSI y un fix GNSS sobre el mapa. REGLA DE ORO: ten un video de respaldo de 60-90 s por si falla la radio, el USB o el proyector. Logistica: lleva tu portatil, prueba el proyector antes y ten la placa encendida y emparejada antes de entrar. Cierra con un gracias y abre el turno de preguntas.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4.png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2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Diseño e implementación de una plataforma experimental de instrumentación aviónica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475488" y="2743200"/>
            <a:ext cx="4206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Autor: Arnau [Apellidos]</a:t>
            </a:r>
            <a:endParaRPr lang="en-US" sz="13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3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Directores: Juan Mon González y Javier Gago Barrio</a:t>
            </a:r>
            <a:endParaRPr lang="en-US" sz="13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3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Grado en Ingeniería en Vehículos Aeroespaciales</a:t>
            </a:r>
            <a:endParaRPr lang="en-US" sz="13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3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ESEIAAT - UPC</a:t>
            </a:r>
            <a:endParaRPr lang="en-US" sz="13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3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Convocatoria Primavera 2026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4937760" y="2697480"/>
            <a:ext cx="374904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pic>
        <p:nvPicPr>
          <p:cNvPr id="6" name="Image 1" descr="assets/iso_pc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0023" y="2843784"/>
            <a:ext cx="3204515" cy="149047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937760" y="44988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Nodo transmisor - render KiCad</a:t>
            </a:r>
            <a:endParaRPr lang="en-US" sz="1000" dirty="0"/>
          </a:p>
        </p:txBody>
      </p:sp>
      <p:pic>
        <p:nvPicPr>
          <p:cNvPr id="9" name="Picture 8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9E980788-A87A-71C0-9056-BAEB00285C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186002"/>
            <a:ext cx="2905221" cy="77411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48640" cy="548640"/>
          </a:xfrm>
          <a:prstGeom prst="ellipse">
            <a:avLst/>
          </a:prstGeom>
          <a:solidFill>
            <a:srgbClr val="F2A900"/>
          </a:solidFill>
          <a:ln/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8404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E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Índice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640080" y="1508760"/>
            <a:ext cx="457200" cy="457200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en-15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1618488"/>
            <a:ext cx="237744" cy="23774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43584" y="15087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Motivación y objetivo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640080" y="2295144"/>
            <a:ext cx="457200" cy="457200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en-15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2404872"/>
            <a:ext cx="237744" cy="23774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43584" y="229514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Arquitectura del sistema</a:t>
            </a:r>
            <a:endParaRPr lang="en-US" sz="1500" dirty="0"/>
          </a:p>
        </p:txBody>
      </p:sp>
      <p:sp>
        <p:nvSpPr>
          <p:cNvPr id="11" name="Shape 6"/>
          <p:cNvSpPr/>
          <p:nvPr/>
        </p:nvSpPr>
        <p:spPr>
          <a:xfrm>
            <a:off x="640080" y="3081528"/>
            <a:ext cx="457200" cy="457200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en-15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" y="3191256"/>
            <a:ext cx="237744" cy="23774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43584" y="308152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Diseño hardware: la PCB</a:t>
            </a:r>
            <a:endParaRPr lang="en-US" sz="1500" dirty="0"/>
          </a:p>
        </p:txBody>
      </p:sp>
      <p:sp>
        <p:nvSpPr>
          <p:cNvPr id="14" name="Shape 8"/>
          <p:cNvSpPr/>
          <p:nvPr/>
        </p:nvSpPr>
        <p:spPr>
          <a:xfrm>
            <a:off x="640080" y="3867912"/>
            <a:ext cx="457200" cy="457200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en-15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808" y="3977640"/>
            <a:ext cx="237744" cy="23774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43584" y="386791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Firmware y fusión sensorial</a:t>
            </a:r>
            <a:endParaRPr lang="en-US" sz="1500" dirty="0"/>
          </a:p>
        </p:txBody>
      </p:sp>
      <p:sp>
        <p:nvSpPr>
          <p:cNvPr id="17" name="Shape 10"/>
          <p:cNvSpPr/>
          <p:nvPr/>
        </p:nvSpPr>
        <p:spPr>
          <a:xfrm>
            <a:off x="4754880" y="1508760"/>
            <a:ext cx="457200" cy="457200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en-15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64608" y="1618488"/>
            <a:ext cx="237744" cy="237744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358384" y="15087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Telemetría ARINC 429</a:t>
            </a:r>
            <a:endParaRPr lang="en-US" sz="1500" dirty="0"/>
          </a:p>
        </p:txBody>
      </p:sp>
      <p:sp>
        <p:nvSpPr>
          <p:cNvPr id="20" name="Shape 12"/>
          <p:cNvSpPr/>
          <p:nvPr/>
        </p:nvSpPr>
        <p:spPr>
          <a:xfrm>
            <a:off x="4754880" y="2295144"/>
            <a:ext cx="457200" cy="457200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en-15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64608" y="2404872"/>
            <a:ext cx="237744" cy="237744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5358384" y="229514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Visualización: el PFD</a:t>
            </a:r>
            <a:endParaRPr lang="en-US" sz="1500" dirty="0"/>
          </a:p>
        </p:txBody>
      </p:sp>
      <p:sp>
        <p:nvSpPr>
          <p:cNvPr id="23" name="Shape 14"/>
          <p:cNvSpPr/>
          <p:nvPr/>
        </p:nvSpPr>
        <p:spPr>
          <a:xfrm>
            <a:off x="4754880" y="3081528"/>
            <a:ext cx="457200" cy="457200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en-15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64608" y="3191256"/>
            <a:ext cx="237744" cy="237744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5358384" y="308152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Validación y resultados</a:t>
            </a:r>
            <a:endParaRPr lang="en-US" sz="1500" dirty="0"/>
          </a:p>
        </p:txBody>
      </p:sp>
      <p:sp>
        <p:nvSpPr>
          <p:cNvPr id="26" name="Shape 16"/>
          <p:cNvSpPr/>
          <p:nvPr/>
        </p:nvSpPr>
        <p:spPr>
          <a:xfrm>
            <a:off x="4754880" y="3867912"/>
            <a:ext cx="457200" cy="457200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en-150"/>
          </a:p>
        </p:txBody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64608" y="3977640"/>
            <a:ext cx="237744" cy="237744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5358384" y="386791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Conclusiones y demo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48640" cy="548640"/>
          </a:xfrm>
          <a:prstGeom prst="ellipse">
            <a:avLst/>
          </a:prstGeom>
          <a:solidFill>
            <a:srgbClr val="F2A900"/>
          </a:solidFill>
          <a:ln/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8404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E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Motivación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420624" cy="420624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en-15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08760"/>
            <a:ext cx="237744" cy="23774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15568" y="1380744"/>
            <a:ext cx="4187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Instrumentación cara y cerrada</a:t>
            </a:r>
            <a:endParaRPr lang="en-US" sz="14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sistemas comerciales son costosos y propietarios, poco accesibles para docencia.</a:t>
            </a:r>
            <a:endParaRPr lang="en-US" sz="1450" dirty="0"/>
          </a:p>
        </p:txBody>
      </p:sp>
      <p:sp>
        <p:nvSpPr>
          <p:cNvPr id="8" name="Shape 4"/>
          <p:cNvSpPr/>
          <p:nvPr/>
        </p:nvSpPr>
        <p:spPr>
          <a:xfrm>
            <a:off x="548640" y="2468880"/>
            <a:ext cx="420624" cy="420624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en-15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560320"/>
            <a:ext cx="237744" cy="23774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15568" y="2432304"/>
            <a:ext cx="4187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Hueco didáctico</a:t>
            </a:r>
            <a:endParaRPr lang="en-US" sz="14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Faltan plataformas abiertas que muestren toda la cadena, del sensor a la pantalla.</a:t>
            </a:r>
            <a:endParaRPr lang="en-US" sz="1450" dirty="0"/>
          </a:p>
        </p:txBody>
      </p:sp>
      <p:sp>
        <p:nvSpPr>
          <p:cNvPr id="11" name="Shape 6"/>
          <p:cNvSpPr/>
          <p:nvPr/>
        </p:nvSpPr>
        <p:spPr>
          <a:xfrm>
            <a:off x="548640" y="3520440"/>
            <a:ext cx="420624" cy="420624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en-15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611880"/>
            <a:ext cx="237744" cy="23774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15568" y="3483864"/>
            <a:ext cx="4187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es viable a bajo coste</a:t>
            </a:r>
            <a:endParaRPr lang="en-US" sz="14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sensores MEMS y los microcontroladores potentes permiten replicar la cadena.</a:t>
            </a:r>
            <a:endParaRPr lang="en-US" sz="1450" dirty="0"/>
          </a:p>
        </p:txBody>
      </p:sp>
      <p:sp>
        <p:nvSpPr>
          <p:cNvPr id="14" name="Shape 8"/>
          <p:cNvSpPr/>
          <p:nvPr/>
        </p:nvSpPr>
        <p:spPr>
          <a:xfrm>
            <a:off x="5532120" y="1417320"/>
            <a:ext cx="320040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pic>
        <p:nvPicPr>
          <p:cNvPr id="15" name="Image 4" descr="assets/top_clean_pc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78424" y="1632629"/>
            <a:ext cx="2907792" cy="1352461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532120" y="32186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desarrollada</a:t>
            </a:r>
            <a:endParaRPr lang="en-US" sz="1000" dirty="0"/>
          </a:p>
        </p:txBody>
      </p:sp>
      <p:sp>
        <p:nvSpPr>
          <p:cNvPr id="17" name="Shape 10"/>
          <p:cNvSpPr/>
          <p:nvPr/>
        </p:nvSpPr>
        <p:spPr>
          <a:xfrm>
            <a:off x="5532120" y="3520440"/>
            <a:ext cx="3200400" cy="1005840"/>
          </a:xfrm>
          <a:prstGeom prst="roundRect">
            <a:avLst>
              <a:gd name="adj" fmla="val 7273"/>
            </a:avLst>
          </a:prstGeom>
          <a:solidFill>
            <a:srgbClr val="F1F6FC"/>
          </a:solidFill>
          <a:ln w="12700">
            <a:solidFill>
              <a:srgbClr val="D7E2EF"/>
            </a:solidFill>
            <a:prstDash val="solid"/>
          </a:ln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18" name="Text 11"/>
          <p:cNvSpPr/>
          <p:nvPr/>
        </p:nvSpPr>
        <p:spPr>
          <a:xfrm>
            <a:off x="5532120" y="35661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100 €</a:t>
            </a:r>
            <a:endParaRPr lang="en-US" sz="30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coste de materiales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48640" cy="548640"/>
          </a:xfrm>
          <a:prstGeom prst="ellipse">
            <a:avLst/>
          </a:prstGeom>
          <a:solidFill>
            <a:srgbClr val="F2A900"/>
          </a:solidFill>
          <a:ln/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8404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E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75488" y="10789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experimental de bajo coste que recorre la cadena completa: del sensor a la pantalla.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691640"/>
            <a:ext cx="2651760" cy="2788920"/>
          </a:xfrm>
          <a:prstGeom prst="roundRect">
            <a:avLst>
              <a:gd name="adj" fmla="val 3103"/>
            </a:avLst>
          </a:prstGeom>
          <a:solidFill>
            <a:srgbClr val="F1F6FC"/>
          </a:solidFill>
          <a:ln w="12700">
            <a:solidFill>
              <a:srgbClr val="D7E2EF"/>
            </a:solidFill>
            <a:prstDash val="solid"/>
          </a:ln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7" name="Shape 4"/>
          <p:cNvSpPr/>
          <p:nvPr/>
        </p:nvSpPr>
        <p:spPr>
          <a:xfrm>
            <a:off x="1417320" y="1965960"/>
            <a:ext cx="731520" cy="731520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en-15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0" y="214884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7200" y="27889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E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PCB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685800" y="32461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 el microcontrolador y los sensores en una placa propia.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3319272" y="1691640"/>
            <a:ext cx="2651760" cy="2788920"/>
          </a:xfrm>
          <a:prstGeom prst="roundRect">
            <a:avLst>
              <a:gd name="adj" fmla="val 3103"/>
            </a:avLst>
          </a:prstGeom>
          <a:solidFill>
            <a:srgbClr val="F1F6FC"/>
          </a:solidFill>
          <a:ln w="12700">
            <a:solidFill>
              <a:srgbClr val="D7E2EF"/>
            </a:solidFill>
            <a:prstDash val="solid"/>
          </a:ln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12" name="Shape 8"/>
          <p:cNvSpPr/>
          <p:nvPr/>
        </p:nvSpPr>
        <p:spPr>
          <a:xfrm>
            <a:off x="4279392" y="1965960"/>
            <a:ext cx="731520" cy="731520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en-15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2272" y="214884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319272" y="27889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E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Firmware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3547872" y="32461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Adquiere, calibra, fusiona y transmite los datos.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181344" y="1691640"/>
            <a:ext cx="2651760" cy="2788920"/>
          </a:xfrm>
          <a:prstGeom prst="roundRect">
            <a:avLst>
              <a:gd name="adj" fmla="val 3103"/>
            </a:avLst>
          </a:prstGeom>
          <a:solidFill>
            <a:srgbClr val="F1F6FC"/>
          </a:solidFill>
          <a:ln w="12700">
            <a:solidFill>
              <a:srgbClr val="D7E2EF"/>
            </a:solidFill>
            <a:prstDash val="solid"/>
          </a:ln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17" name="Shape 12"/>
          <p:cNvSpPr/>
          <p:nvPr/>
        </p:nvSpPr>
        <p:spPr>
          <a:xfrm>
            <a:off x="7141464" y="1965960"/>
            <a:ext cx="731520" cy="731520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en-15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4344" y="2148840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181344" y="27889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E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PFD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6409944" y="32461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los parámetros en disposición Basic-T en tiempo real.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48640" cy="548640"/>
          </a:xfrm>
          <a:prstGeom prst="ellipse">
            <a:avLst/>
          </a:prstGeom>
          <a:solidFill>
            <a:srgbClr val="F2A900"/>
          </a:solidFill>
          <a:ln/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8404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E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Requisitos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75488" y="10789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medibles derivados de normas aeronáuticas de referencia.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508760"/>
            <a:ext cx="1920240" cy="868680"/>
          </a:xfrm>
          <a:prstGeom prst="roundRect">
            <a:avLst>
              <a:gd name="adj" fmla="val 6316"/>
            </a:avLst>
          </a:prstGeom>
          <a:solidFill>
            <a:srgbClr val="0E2244"/>
          </a:solidFill>
          <a:ln w="15875">
            <a:solidFill>
              <a:srgbClr val="0E2244"/>
            </a:solidFill>
            <a:prstDash val="solid"/>
          </a:ln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7" name="Text 4"/>
          <p:cNvSpPr/>
          <p:nvPr/>
        </p:nvSpPr>
        <p:spPr>
          <a:xfrm>
            <a:off x="457200" y="150876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</a:t>
            </a:r>
            <a:endParaRPr lang="en-US" sz="18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Funcionales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2587752" y="1508760"/>
            <a:ext cx="1920240" cy="868680"/>
          </a:xfrm>
          <a:prstGeom prst="roundRect">
            <a:avLst>
              <a:gd name="adj" fmla="val 6316"/>
            </a:avLst>
          </a:prstGeom>
          <a:solidFill>
            <a:srgbClr val="0E2244"/>
          </a:solidFill>
          <a:ln w="15875">
            <a:solidFill>
              <a:srgbClr val="0E2244"/>
            </a:solidFill>
            <a:prstDash val="solid"/>
          </a:ln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9" name="Text 6"/>
          <p:cNvSpPr/>
          <p:nvPr/>
        </p:nvSpPr>
        <p:spPr>
          <a:xfrm>
            <a:off x="2587752" y="150876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</a:t>
            </a:r>
            <a:endParaRPr lang="en-US" sz="18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4718304" y="1508760"/>
            <a:ext cx="1920240" cy="868680"/>
          </a:xfrm>
          <a:prstGeom prst="roundRect">
            <a:avLst>
              <a:gd name="adj" fmla="val 6316"/>
            </a:avLst>
          </a:prstGeom>
          <a:solidFill>
            <a:srgbClr val="0E2244"/>
          </a:solidFill>
          <a:ln w="15875">
            <a:solidFill>
              <a:srgbClr val="0E2244"/>
            </a:solidFill>
            <a:prstDash val="solid"/>
          </a:ln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11" name="Text 8"/>
          <p:cNvSpPr/>
          <p:nvPr/>
        </p:nvSpPr>
        <p:spPr>
          <a:xfrm>
            <a:off x="4718304" y="150876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</a:t>
            </a:r>
            <a:endParaRPr lang="en-US" sz="18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Restricciones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6848856" y="1508760"/>
            <a:ext cx="1920240" cy="868680"/>
          </a:xfrm>
          <a:prstGeom prst="roundRect">
            <a:avLst>
              <a:gd name="adj" fmla="val 6316"/>
            </a:avLst>
          </a:prstGeom>
          <a:solidFill>
            <a:srgbClr val="0E2244"/>
          </a:solidFill>
          <a:ln w="15875">
            <a:solidFill>
              <a:srgbClr val="0E2244"/>
            </a:solidFill>
            <a:prstDash val="solid"/>
          </a:ln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13" name="Text 10"/>
          <p:cNvSpPr/>
          <p:nvPr/>
        </p:nvSpPr>
        <p:spPr>
          <a:xfrm>
            <a:off x="6848856" y="150876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</a:t>
            </a:r>
            <a:endParaRPr lang="en-US" sz="18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Normativos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475488" y="2606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clave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48640" y="29718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Latencia extremo a extremo &lt; 200 ms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846320" y="29718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Refresco del PFD &gt;= 30 FPS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48640" y="3383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Actitud dentro de +-3°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846320" y="3383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Posicionamiento GNSS &lt;= 2,5 m CEP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48640" y="37947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Coste de materiales &lt; 100 €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846320" y="37947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Alimentación por USB-C, software abierto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75488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Normas seguidas como referencia: AC-25-11B · SAE AS8034C · ARINC 429 · HF-STD-001B · 14 CFR 25.1321/1322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48640" cy="548640"/>
          </a:xfrm>
          <a:prstGeom prst="ellipse">
            <a:avLst/>
          </a:prstGeom>
          <a:solidFill>
            <a:srgbClr val="F2A900"/>
          </a:solidFill>
          <a:ln/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8404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E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del sistema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75488" y="10789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transmisor - receptor con enlace inalámbrico.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365760" y="2331720"/>
            <a:ext cx="17373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5875">
            <a:solidFill>
              <a:srgbClr val="0E2244"/>
            </a:solidFill>
            <a:prstDash val="solid"/>
          </a:ln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7" name="Text 4"/>
          <p:cNvSpPr/>
          <p:nvPr/>
        </p:nvSpPr>
        <p:spPr>
          <a:xfrm>
            <a:off x="365760" y="2331720"/>
            <a:ext cx="1737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Sensores</a:t>
            </a:r>
            <a:endParaRPr lang="en-US" sz="12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IMU · Baro · GNSS</a:t>
            </a:r>
            <a:endParaRPr lang="en-US" sz="12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ToF · Radar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2395728" y="2331720"/>
            <a:ext cx="137160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5875">
            <a:solidFill>
              <a:srgbClr val="0E2244"/>
            </a:solidFill>
            <a:prstDash val="solid"/>
          </a:ln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9" name="Text 6"/>
          <p:cNvSpPr/>
          <p:nvPr/>
        </p:nvSpPr>
        <p:spPr>
          <a:xfrm>
            <a:off x="2395728" y="2331720"/>
            <a:ext cx="1371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MCU Transmisor</a:t>
            </a:r>
            <a:endParaRPr lang="en-US" sz="12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ESP32-S3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059936" y="2331720"/>
            <a:ext cx="1371600" cy="1325880"/>
          </a:xfrm>
          <a:prstGeom prst="roundRect">
            <a:avLst>
              <a:gd name="adj" fmla="val 4138"/>
            </a:avLst>
          </a:prstGeom>
          <a:solidFill>
            <a:srgbClr val="FDF1D6"/>
          </a:solidFill>
          <a:ln w="22225">
            <a:solidFill>
              <a:srgbClr val="F2A900"/>
            </a:solidFill>
            <a:prstDash val="solid"/>
          </a:ln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11" name="Text 8"/>
          <p:cNvSpPr/>
          <p:nvPr/>
        </p:nvSpPr>
        <p:spPr>
          <a:xfrm>
            <a:off x="4059936" y="2331720"/>
            <a:ext cx="1371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Transceptor RF</a:t>
            </a:r>
            <a:endParaRPr lang="en-US" sz="12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NRF24L01+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724144" y="2331720"/>
            <a:ext cx="137160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5875">
            <a:solidFill>
              <a:srgbClr val="0E2244"/>
            </a:solidFill>
            <a:prstDash val="solid"/>
          </a:ln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13" name="Text 10"/>
          <p:cNvSpPr/>
          <p:nvPr/>
        </p:nvSpPr>
        <p:spPr>
          <a:xfrm>
            <a:off x="5724144" y="2331720"/>
            <a:ext cx="1371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MCU Receptor</a:t>
            </a:r>
            <a:endParaRPr lang="en-US" sz="12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ESP32-C3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7388352" y="2331720"/>
            <a:ext cx="137160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5875">
            <a:solidFill>
              <a:srgbClr val="0E2244"/>
            </a:solidFill>
            <a:prstDash val="solid"/>
          </a:ln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15" name="Text 12"/>
          <p:cNvSpPr/>
          <p:nvPr/>
        </p:nvSpPr>
        <p:spPr>
          <a:xfrm>
            <a:off x="7388352" y="2331720"/>
            <a:ext cx="1371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/ PFD</a:t>
            </a:r>
            <a:endParaRPr lang="en-US" sz="12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2139696" y="2994660"/>
            <a:ext cx="219456" cy="0"/>
          </a:xfrm>
          <a:prstGeom prst="line">
            <a:avLst/>
          </a:prstGeom>
          <a:noFill/>
          <a:ln w="31750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7" name="Text 14"/>
          <p:cNvSpPr/>
          <p:nvPr/>
        </p:nvSpPr>
        <p:spPr>
          <a:xfrm>
            <a:off x="2231136" y="2848356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2048256" y="2610612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I2C / UART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3803904" y="2994660"/>
            <a:ext cx="219456" cy="0"/>
          </a:xfrm>
          <a:prstGeom prst="line">
            <a:avLst/>
          </a:prstGeom>
          <a:noFill/>
          <a:ln w="31750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20" name="Text 17"/>
          <p:cNvSpPr/>
          <p:nvPr/>
        </p:nvSpPr>
        <p:spPr>
          <a:xfrm>
            <a:off x="3895344" y="2848356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3712464" y="2610612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468112" y="2994660"/>
            <a:ext cx="219456" cy="0"/>
          </a:xfrm>
          <a:prstGeom prst="line">
            <a:avLst/>
          </a:prstGeom>
          <a:noFill/>
          <a:ln w="31750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23" name="Text 20"/>
          <p:cNvSpPr/>
          <p:nvPr/>
        </p:nvSpPr>
        <p:spPr>
          <a:xfrm>
            <a:off x="5559552" y="2848356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5376672" y="2610612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7132320" y="2994660"/>
            <a:ext cx="219456" cy="0"/>
          </a:xfrm>
          <a:prstGeom prst="line">
            <a:avLst/>
          </a:prstGeom>
          <a:noFill/>
          <a:ln w="31750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26" name="Text 23"/>
          <p:cNvSpPr/>
          <p:nvPr/>
        </p:nvSpPr>
        <p:spPr>
          <a:xfrm>
            <a:off x="7223760" y="2848356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7040880" y="2610612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475488" y="3977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paquete: tres palabras ARINC 429 fijas (actitud y rumbo, 20 Hz) y cinco slots multiplexados sobre el enlace de radio.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48640" cy="548640"/>
          </a:xfrm>
          <a:prstGeom prst="ellipse">
            <a:avLst/>
          </a:prstGeom>
          <a:solidFill>
            <a:srgbClr val="F2A900"/>
          </a:solidFill>
          <a:ln/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8404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sz="2600" b="1" dirty="0">
                <a:solidFill>
                  <a:srgbClr val="0E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Decisiones de diseño: arquitectura y enlace</a:t>
            </a:r>
            <a:endParaRPr lang="es-ES" sz="2600" dirty="0"/>
          </a:p>
        </p:txBody>
      </p:sp>
      <p:sp>
        <p:nvSpPr>
          <p:cNvPr id="5" name="Text 2"/>
          <p:cNvSpPr/>
          <p:nvPr/>
        </p:nvSpPr>
        <p:spPr>
          <a:xfrm>
            <a:off x="475488" y="10789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sz="1400" i="1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dos nodos, un enlace de radio y telemetría ARINC 429.</a:t>
            </a:r>
            <a:endParaRPr lang="es-E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1600200"/>
            <a:ext cx="3962400" cy="3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40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Partición transmisor / receptor</a:t>
            </a:r>
            <a:endParaRPr lang="es-E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1920240"/>
            <a:ext cx="39624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Bef>
                <a:spcPts val="300"/>
              </a:spcBef>
              <a:buSzPct val="100000"/>
              <a:buChar char="•"/>
            </a:pPr>
            <a:r>
              <a:rPr lang="es-E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Refleja la arquitectura real de una aeronave.</a:t>
            </a:r>
          </a:p>
          <a:p>
            <a:pPr marL="177800" indent="-177800">
              <a:spcBef>
                <a:spcPts val="600"/>
              </a:spcBef>
              <a:buSzPct val="100000"/>
              <a:buChar char="•"/>
            </a:pPr>
            <a:r>
              <a:rPr lang="es-E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movilidad al nodo de sensores frente al PC fijo.</a:t>
            </a:r>
          </a:p>
          <a:p>
            <a:pPr marL="177800" indent="-177800">
              <a:spcBef>
                <a:spcPts val="600"/>
              </a:spcBef>
              <a:buSzPct val="100000"/>
              <a:buChar char="•"/>
            </a:pPr>
            <a:r>
              <a:rPr lang="es-E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Añade un enlace inalámbrico con valor docente.</a:t>
            </a:r>
          </a:p>
        </p:txBody>
      </p:sp>
      <p:sp>
        <p:nvSpPr>
          <p:cNvPr id="8" name="Text 5"/>
          <p:cNvSpPr/>
          <p:nvPr/>
        </p:nvSpPr>
        <p:spPr>
          <a:xfrm>
            <a:off x="457200" y="3093720"/>
            <a:ext cx="3962400" cy="3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40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Enlace de radio: RF 2,4 GHz (ISM)</a:t>
            </a:r>
            <a:endParaRPr lang="es-E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3413760"/>
            <a:ext cx="396240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Bef>
                <a:spcPts val="300"/>
              </a:spcBef>
              <a:buSzPct val="100000"/>
              <a:buChar char="•"/>
            </a:pPr>
            <a:r>
              <a:rPr lang="es-E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Descartados cable serie, WiFi-UDP y Bluetooth / BLE.</a:t>
            </a:r>
          </a:p>
          <a:p>
            <a:pPr marL="177800" indent="-177800">
              <a:spcBef>
                <a:spcPts val="600"/>
              </a:spcBef>
              <a:buSzPct val="100000"/>
              <a:buChar char="•"/>
            </a:pPr>
            <a:r>
              <a:rPr lang="es-E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Elegido por baja latencia, alcance suficiente y bajo coste.</a:t>
            </a:r>
          </a:p>
        </p:txBody>
      </p:sp>
      <p:sp>
        <p:nvSpPr>
          <p:cNvPr id="10" name="Shape 7"/>
          <p:cNvSpPr/>
          <p:nvPr/>
        </p:nvSpPr>
        <p:spPr>
          <a:xfrm>
            <a:off x="4724400" y="1600200"/>
            <a:ext cx="3962400" cy="2713320"/>
          </a:xfrm>
          <a:prstGeom prst="roundRect">
            <a:avLst>
              <a:gd name="adj" fmla="val 6316"/>
            </a:avLst>
          </a:prstGeom>
          <a:solidFill>
            <a:srgbClr val="0E2244"/>
          </a:solidFill>
          <a:ln w="15875">
            <a:solidFill>
              <a:srgbClr val="0E2244"/>
            </a:solidFill>
            <a:prstDash val="solid"/>
          </a:ln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11" name="Text 8"/>
          <p:cNvSpPr/>
          <p:nvPr/>
        </p:nvSpPr>
        <p:spPr>
          <a:xfrm>
            <a:off x="4968240" y="1798320"/>
            <a:ext cx="3474720" cy="2332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ES" sz="18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lógica ARINC 429</a:t>
            </a:r>
          </a:p>
          <a:p>
            <a:pPr marL="177800" indent="-177800">
              <a:spcBef>
                <a:spcPts val="600"/>
              </a:spcBef>
              <a:buSzPct val="100000"/>
              <a:buChar char="•"/>
            </a:pPr>
            <a:r>
              <a:rPr lang="es-ES" sz="13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con la práctica aeronáutica real.</a:t>
            </a:r>
          </a:p>
          <a:p>
            <a:pPr marL="177800" indent="-177800">
              <a:spcBef>
                <a:spcPts val="600"/>
              </a:spcBef>
              <a:buSzPct val="100000"/>
              <a:buChar char="•"/>
            </a:pPr>
            <a:r>
              <a:rPr lang="es-ES" sz="13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docente: etiquetas, BNR, paridad y SSM.</a:t>
            </a:r>
          </a:p>
          <a:p>
            <a:pPr marL="177800" indent="-177800">
              <a:spcBef>
                <a:spcPts val="600"/>
              </a:spcBef>
              <a:buSzPct val="100000"/>
              <a:buChar char="•"/>
            </a:pPr>
            <a:r>
              <a:rPr lang="es-ES" sz="13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Palabra de 32 bits ya estructurada; sin diseñar un formato desde cero.</a:t>
            </a:r>
          </a:p>
        </p:txBody>
      </p:sp>
      <p:sp>
        <p:nvSpPr>
          <p:cNvPr id="12" name="Text 9"/>
          <p:cNvSpPr/>
          <p:nvPr/>
        </p:nvSpPr>
        <p:spPr>
          <a:xfrm>
            <a:off x="475488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50" i="1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payload de 32 B del NRF24 equivale exactamente a 8 palabras ARINC 429 de 32 bits.</a:t>
            </a:r>
            <a:endParaRPr lang="es-E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48640" cy="548640"/>
          </a:xfrm>
          <a:prstGeom prst="ellipse">
            <a:avLst/>
          </a:prstGeom>
          <a:solidFill>
            <a:srgbClr val="F2A900"/>
          </a:solidFill>
          <a:ln/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8404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E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Hardware: diseño de la PCB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71600"/>
            <a:ext cx="4069080" cy="1892808"/>
          </a:xfrm>
          <a:prstGeom prst="roundRect">
            <a:avLst>
              <a:gd name="adj" fmla="val 3382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pic>
        <p:nvPicPr>
          <p:cNvPr id="6" name="Image 1" descr="assets/iso_pc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1517904"/>
            <a:ext cx="3440430" cy="1600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3282696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isométrico (KiCad)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4663440" y="1371600"/>
            <a:ext cx="4069080" cy="1892808"/>
          </a:xfrm>
          <a:prstGeom prst="roundRect">
            <a:avLst>
              <a:gd name="adj" fmla="val 3382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pic>
        <p:nvPicPr>
          <p:cNvPr id="9" name="Image 2" descr="assets/top_clean_pc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7765" y="1517904"/>
            <a:ext cx="3440430" cy="16002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663440" y="3282696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superior (KiCad)</a:t>
            </a:r>
            <a:endParaRPr lang="en-US" sz="1000" dirty="0"/>
          </a:p>
        </p:txBody>
      </p:sp>
      <p:sp>
        <p:nvSpPr>
          <p:cNvPr id="11" name="Text 6"/>
          <p:cNvSpPr/>
          <p:nvPr/>
        </p:nvSpPr>
        <p:spPr>
          <a:xfrm>
            <a:off x="548640" y="36576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Placa propia de 2 capas (180 x 115 mm), fabricada en JLCPCB.</a:t>
            </a:r>
            <a:endParaRPr lang="en-US" sz="1300" dirty="0"/>
          </a:p>
          <a:p>
            <a:pPr marL="203200" indent="-2032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 ESP32-S3 con la suite de sensores: IMU, barómetro, GNSS, ToF y radar.</a:t>
            </a:r>
            <a:endParaRPr lang="en-US" sz="1300" dirty="0"/>
          </a:p>
          <a:p>
            <a:pPr marL="203200" indent="-2032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Alimentación por USB-C con LDO a 3,3 V; raíl de 5 V para los módulos que lo requieren.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48640" cy="548640"/>
          </a:xfrm>
          <a:prstGeom prst="ellipse">
            <a:avLst/>
          </a:prstGeom>
          <a:solidFill>
            <a:srgbClr val="F2A900"/>
          </a:solidFill>
          <a:ln/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8404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E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Hardware: la placa fabricada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75488" y="10789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diseño a la placa real, montada y verificada eléctricamente.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371600"/>
            <a:ext cx="4937760" cy="3154680"/>
          </a:xfrm>
          <a:prstGeom prst="roundRect">
            <a:avLst>
              <a:gd name="adj" fmla="val 2029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pic>
        <p:nvPicPr>
          <p:cNvPr id="7" name="Image 1" descr="assets/real_pcb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181" y="1517904"/>
            <a:ext cx="3863797" cy="28620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" y="454456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Nodo transmisor montado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5577840" y="1371600"/>
            <a:ext cx="3108960" cy="3154680"/>
          </a:xfrm>
          <a:prstGeom prst="roundRect">
            <a:avLst>
              <a:gd name="adj" fmla="val 2059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pic>
        <p:nvPicPr>
          <p:cNvPr id="10" name="Image 2" descr="assets/real_reciever_pcb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3353" y="1517904"/>
            <a:ext cx="2117933" cy="286207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577840" y="454456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Nodo receptor (ESP32-C3)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48640" cy="548640"/>
          </a:xfrm>
          <a:prstGeom prst="ellipse">
            <a:avLst/>
          </a:prstGeom>
          <a:solidFill>
            <a:srgbClr val="F2A900"/>
          </a:solidFill>
          <a:ln/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8404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sz="2600" b="1" dirty="0">
                <a:solidFill>
                  <a:srgbClr val="0E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Selección del filtro de fusión</a:t>
            </a:r>
            <a:endParaRPr lang="es-ES" sz="2600" dirty="0"/>
          </a:p>
        </p:txBody>
      </p:sp>
      <p:sp>
        <p:nvSpPr>
          <p:cNvPr id="5" name="Text 2"/>
          <p:cNvSpPr/>
          <p:nvPr/>
        </p:nvSpPr>
        <p:spPr>
          <a:xfrm>
            <a:off x="475488" y="10789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sz="1400" i="1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Comparativa de algoritmos sobre el ESP32: coste de cómputo frente a precisión.</a:t>
            </a:r>
            <a:endParaRPr lang="es-E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1600200"/>
            <a:ext cx="396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40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Alternativas consideradas</a:t>
            </a:r>
            <a:endParaRPr lang="es-E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1965960"/>
            <a:ext cx="3962400" cy="243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Bef>
                <a:spcPts val="300"/>
              </a:spcBef>
              <a:buSzPct val="100000"/>
              <a:buChar char="•"/>
            </a:pPr>
            <a:r>
              <a:rPr lang="es-E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complementario: un parámetro, sin estimación de bias ni corrección de la deriva.</a:t>
            </a:r>
          </a:p>
          <a:p>
            <a:pPr marL="177800" indent="-177800">
              <a:spcBef>
                <a:spcPts val="600"/>
              </a:spcBef>
              <a:buSzPct val="100000"/>
              <a:buChar char="•"/>
            </a:pPr>
            <a:r>
              <a:rPr lang="es-E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Madgwick: precisión similar, sin ajuste independiente del transitorio.</a:t>
            </a:r>
          </a:p>
          <a:p>
            <a:pPr marL="177800" indent="-177800">
              <a:spcBef>
                <a:spcPts val="600"/>
              </a:spcBef>
              <a:buSzPct val="100000"/>
              <a:buChar char="•"/>
            </a:pPr>
            <a:r>
              <a:rPr lang="es-E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EKF / UKF: mayor coste de cómputo, no justificado en este alcance.</a:t>
            </a:r>
          </a:p>
          <a:p>
            <a:pPr marL="177800" indent="-177800">
              <a:spcBef>
                <a:spcPts val="600"/>
              </a:spcBef>
              <a:buSzPct val="100000"/>
              <a:buChar char="•"/>
            </a:pPr>
            <a:r>
              <a:rPr lang="es-E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de partículas: máxima precisión, inviable en tiempo real sobre el ESP32.</a:t>
            </a:r>
          </a:p>
        </p:txBody>
      </p:sp>
      <p:sp>
        <p:nvSpPr>
          <p:cNvPr id="8" name="Shape 5"/>
          <p:cNvSpPr/>
          <p:nvPr/>
        </p:nvSpPr>
        <p:spPr>
          <a:xfrm>
            <a:off x="4724400" y="1600200"/>
            <a:ext cx="3962400" cy="2438400"/>
          </a:xfrm>
          <a:prstGeom prst="roundRect">
            <a:avLst>
              <a:gd name="adj" fmla="val 6316"/>
            </a:avLst>
          </a:prstGeom>
          <a:solidFill>
            <a:srgbClr val="0E2244"/>
          </a:solidFill>
          <a:ln w="15875">
            <a:solidFill>
              <a:srgbClr val="0E2244"/>
            </a:solidFill>
            <a:prstDash val="solid"/>
          </a:ln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9" name="Text 6"/>
          <p:cNvSpPr/>
          <p:nvPr/>
        </p:nvSpPr>
        <p:spPr>
          <a:xfrm>
            <a:off x="4968240" y="1798320"/>
            <a:ext cx="34747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ES" sz="18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Mahony (seleccionado)</a:t>
            </a:r>
          </a:p>
          <a:p>
            <a:pPr marL="177800" indent="-177800">
              <a:spcBef>
                <a:spcPts val="600"/>
              </a:spcBef>
              <a:buSzPct val="100000"/>
              <a:buChar char="•"/>
            </a:pPr>
            <a:r>
              <a:rPr lang="es-ES" sz="13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 la deriva del giroscopio con su término integral (PI).</a:t>
            </a:r>
          </a:p>
          <a:p>
            <a:pPr marL="177800" indent="-177800">
              <a:spcBef>
                <a:spcPts val="600"/>
              </a:spcBef>
              <a:buSzPct val="100000"/>
              <a:buChar char="•"/>
            </a:pPr>
            <a:r>
              <a:rPr lang="es-ES" sz="13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Coste de cómputo bajo, adecuado para el ESP32.</a:t>
            </a:r>
          </a:p>
          <a:p>
            <a:pPr marL="177800" indent="-177800">
              <a:spcBef>
                <a:spcPts val="600"/>
              </a:spcBef>
              <a:buSzPct val="100000"/>
              <a:buChar char="•"/>
            </a:pPr>
            <a:r>
              <a:rPr lang="es-ES" sz="13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transitoria ajustable mediante Kp y Ki.</a:t>
            </a:r>
          </a:p>
          <a:p>
            <a:pPr marL="177800" indent="-177800">
              <a:spcBef>
                <a:spcPts val="600"/>
              </a:spcBef>
              <a:buSzPct val="100000"/>
              <a:buChar char="•"/>
            </a:pPr>
            <a:r>
              <a:rPr lang="es-ES" sz="13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Avalado por estudios recientes en plataformas ESP32.</a:t>
            </a:r>
          </a:p>
        </p:txBody>
      </p:sp>
      <p:sp>
        <p:nvSpPr>
          <p:cNvPr id="10" name="Text 9"/>
          <p:cNvSpPr/>
          <p:nvPr/>
        </p:nvSpPr>
        <p:spPr>
          <a:xfrm>
            <a:off x="475488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50" i="1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Referencias: Mahony (2008) · Cocoli y Badia (2023) · Uyar (2024) · Gui et al. (2015)</a:t>
            </a:r>
            <a:endParaRPr lang="es-E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48640" cy="548640"/>
          </a:xfrm>
          <a:prstGeom prst="ellipse">
            <a:avLst/>
          </a:prstGeom>
          <a:solidFill>
            <a:srgbClr val="F2A900"/>
          </a:solidFill>
          <a:ln/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8404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E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Firmware: fusión sensorial (AHRS)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45720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Mahony MARG (complementario) para actitud y rumbo en tiempo real.</a:t>
            </a:r>
            <a:endParaRPr lang="en-US" sz="1350" dirty="0"/>
          </a:p>
          <a:p>
            <a:pPr marL="203200" indent="-203200" algn="l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Cuaternión inicializado analíticamente: actitud válida desde el arranque.</a:t>
            </a:r>
            <a:endParaRPr lang="en-US" sz="1350" dirty="0"/>
          </a:p>
          <a:p>
            <a:pPr marL="203200" indent="-203200" algn="l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Calibración con todos los periféricos activos y la radio transmitiendo.</a:t>
            </a:r>
            <a:endParaRPr lang="en-US" sz="135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135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 = 3,0   ·   Ki = 1,0   ·   fusión a 100 Hz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440680" y="1417320"/>
            <a:ext cx="141732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875">
            <a:solidFill>
              <a:srgbClr val="0E2244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7" name="Text 4"/>
          <p:cNvSpPr/>
          <p:nvPr/>
        </p:nvSpPr>
        <p:spPr>
          <a:xfrm>
            <a:off x="5440680" y="1417320"/>
            <a:ext cx="1417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Acelerómetro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40680" y="2020824"/>
            <a:ext cx="141732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875">
            <a:solidFill>
              <a:srgbClr val="0E2244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9" name="Text 6"/>
          <p:cNvSpPr/>
          <p:nvPr/>
        </p:nvSpPr>
        <p:spPr>
          <a:xfrm>
            <a:off x="5440680" y="2020824"/>
            <a:ext cx="1417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Giróscopo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440680" y="2624328"/>
            <a:ext cx="141732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875">
            <a:solidFill>
              <a:srgbClr val="0E2244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1" name="Text 8"/>
          <p:cNvSpPr/>
          <p:nvPr/>
        </p:nvSpPr>
        <p:spPr>
          <a:xfrm>
            <a:off x="5440680" y="2624328"/>
            <a:ext cx="1417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Magnetómetro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178040" y="1828800"/>
            <a:ext cx="960120" cy="960120"/>
          </a:xfrm>
          <a:prstGeom prst="roundRect">
            <a:avLst>
              <a:gd name="adj" fmla="val 5714"/>
            </a:avLst>
          </a:prstGeom>
          <a:solidFill>
            <a:srgbClr val="FDF1D6"/>
          </a:solidFill>
          <a:ln w="22225">
            <a:solidFill>
              <a:srgbClr val="F2A900"/>
            </a:solidFill>
            <a:prstDash val="solid"/>
          </a:ln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13" name="Text 10"/>
          <p:cNvSpPr/>
          <p:nvPr/>
        </p:nvSpPr>
        <p:spPr>
          <a:xfrm>
            <a:off x="7178040" y="18288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Mahony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903720" y="3291840"/>
            <a:ext cx="1554480" cy="640080"/>
          </a:xfrm>
          <a:prstGeom prst="roundRect">
            <a:avLst>
              <a:gd name="adj" fmla="val 8571"/>
            </a:avLst>
          </a:prstGeom>
          <a:solidFill>
            <a:srgbClr val="0E2244"/>
          </a:solidFill>
          <a:ln w="15875">
            <a:solidFill>
              <a:srgbClr val="0E2244"/>
            </a:solidFill>
            <a:prstDash val="solid"/>
          </a:ln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15" name="Text 12"/>
          <p:cNvSpPr/>
          <p:nvPr/>
        </p:nvSpPr>
        <p:spPr>
          <a:xfrm>
            <a:off x="6903720" y="32918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Actitud y rumbo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858000" y="1664208"/>
            <a:ext cx="310896" cy="640080"/>
          </a:xfrm>
          <a:prstGeom prst="line">
            <a:avLst/>
          </a:prstGeom>
          <a:noFill/>
          <a:ln w="22225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7" name="Shape 14"/>
          <p:cNvSpPr/>
          <p:nvPr/>
        </p:nvSpPr>
        <p:spPr>
          <a:xfrm>
            <a:off x="6858000" y="2267712"/>
            <a:ext cx="310896" cy="36576"/>
          </a:xfrm>
          <a:prstGeom prst="line">
            <a:avLst/>
          </a:prstGeom>
          <a:noFill/>
          <a:ln w="22225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8" name="Shape 15"/>
          <p:cNvSpPr/>
          <p:nvPr/>
        </p:nvSpPr>
        <p:spPr>
          <a:xfrm flipV="1">
            <a:off x="6858000" y="2304288"/>
            <a:ext cx="310879" cy="566928"/>
          </a:xfrm>
          <a:prstGeom prst="line">
            <a:avLst/>
          </a:prstGeom>
          <a:noFill/>
          <a:ln w="22225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9" name="Shape 16"/>
          <p:cNvSpPr/>
          <p:nvPr/>
        </p:nvSpPr>
        <p:spPr>
          <a:xfrm>
            <a:off x="7653528" y="2788920"/>
            <a:ext cx="0" cy="502920"/>
          </a:xfrm>
          <a:prstGeom prst="line">
            <a:avLst/>
          </a:prstGeom>
          <a:noFill/>
          <a:ln w="25400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48640" cy="548640"/>
          </a:xfrm>
          <a:prstGeom prst="ellipse">
            <a:avLst/>
          </a:prstGeom>
          <a:solidFill>
            <a:srgbClr val="F2A900"/>
          </a:solidFill>
          <a:ln/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8404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E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Telemetría: ARINC 429 sobre NRF24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554480"/>
            <a:ext cx="978408" cy="822960"/>
          </a:xfrm>
          <a:prstGeom prst="roundRect">
            <a:avLst>
              <a:gd name="adj" fmla="val 6667"/>
            </a:avLst>
          </a:prstGeom>
          <a:solidFill>
            <a:srgbClr val="F2A900"/>
          </a:solidFill>
          <a:ln w="15875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6" name="Text 3"/>
          <p:cNvSpPr/>
          <p:nvPr/>
        </p:nvSpPr>
        <p:spPr>
          <a:xfrm>
            <a:off x="457200" y="1554480"/>
            <a:ext cx="978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57200" y="2157984"/>
            <a:ext cx="978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504188" y="1554480"/>
            <a:ext cx="978408" cy="822960"/>
          </a:xfrm>
          <a:prstGeom prst="roundRect">
            <a:avLst>
              <a:gd name="adj" fmla="val 6667"/>
            </a:avLst>
          </a:prstGeom>
          <a:solidFill>
            <a:srgbClr val="F2A900"/>
          </a:solidFill>
          <a:ln w="15875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9" name="Text 6"/>
          <p:cNvSpPr/>
          <p:nvPr/>
        </p:nvSpPr>
        <p:spPr>
          <a:xfrm>
            <a:off x="1504188" y="1554480"/>
            <a:ext cx="978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1504188" y="2157984"/>
            <a:ext cx="978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2551176" y="1554480"/>
            <a:ext cx="978408" cy="822960"/>
          </a:xfrm>
          <a:prstGeom prst="roundRect">
            <a:avLst>
              <a:gd name="adj" fmla="val 6667"/>
            </a:avLst>
          </a:prstGeom>
          <a:solidFill>
            <a:srgbClr val="F2A900"/>
          </a:solidFill>
          <a:ln w="15875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2" name="Text 9"/>
          <p:cNvSpPr/>
          <p:nvPr/>
        </p:nvSpPr>
        <p:spPr>
          <a:xfrm>
            <a:off x="2551176" y="1554480"/>
            <a:ext cx="978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2551176" y="2157984"/>
            <a:ext cx="978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598164" y="1554480"/>
            <a:ext cx="978408" cy="822960"/>
          </a:xfrm>
          <a:prstGeom prst="roundRect">
            <a:avLst>
              <a:gd name="adj" fmla="val 6667"/>
            </a:avLst>
          </a:prstGeom>
          <a:solidFill>
            <a:srgbClr val="0E2244"/>
          </a:solidFill>
          <a:ln w="15875">
            <a:solidFill>
              <a:srgbClr val="0E2244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5" name="Text 12"/>
          <p:cNvSpPr/>
          <p:nvPr/>
        </p:nvSpPr>
        <p:spPr>
          <a:xfrm>
            <a:off x="3598164" y="1554480"/>
            <a:ext cx="978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3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3598164" y="2157984"/>
            <a:ext cx="978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645152" y="1554480"/>
            <a:ext cx="978408" cy="822960"/>
          </a:xfrm>
          <a:prstGeom prst="roundRect">
            <a:avLst>
              <a:gd name="adj" fmla="val 6667"/>
            </a:avLst>
          </a:prstGeom>
          <a:solidFill>
            <a:srgbClr val="0E2244"/>
          </a:solidFill>
          <a:ln w="15875">
            <a:solidFill>
              <a:srgbClr val="0E2244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8" name="Text 15"/>
          <p:cNvSpPr/>
          <p:nvPr/>
        </p:nvSpPr>
        <p:spPr>
          <a:xfrm>
            <a:off x="4645152" y="1554480"/>
            <a:ext cx="978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4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4645152" y="2157984"/>
            <a:ext cx="978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5692140" y="1554480"/>
            <a:ext cx="978408" cy="822960"/>
          </a:xfrm>
          <a:prstGeom prst="roundRect">
            <a:avLst>
              <a:gd name="adj" fmla="val 6667"/>
            </a:avLst>
          </a:prstGeom>
          <a:solidFill>
            <a:srgbClr val="0E2244"/>
          </a:solidFill>
          <a:ln w="15875">
            <a:solidFill>
              <a:srgbClr val="0E2244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21" name="Text 18"/>
          <p:cNvSpPr/>
          <p:nvPr/>
        </p:nvSpPr>
        <p:spPr>
          <a:xfrm>
            <a:off x="5692140" y="1554480"/>
            <a:ext cx="978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5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5692140" y="2157984"/>
            <a:ext cx="978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739128" y="1554480"/>
            <a:ext cx="978408" cy="822960"/>
          </a:xfrm>
          <a:prstGeom prst="roundRect">
            <a:avLst>
              <a:gd name="adj" fmla="val 6667"/>
            </a:avLst>
          </a:prstGeom>
          <a:solidFill>
            <a:srgbClr val="0E2244"/>
          </a:solidFill>
          <a:ln w="15875">
            <a:solidFill>
              <a:srgbClr val="0E2244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24" name="Text 21"/>
          <p:cNvSpPr/>
          <p:nvPr/>
        </p:nvSpPr>
        <p:spPr>
          <a:xfrm>
            <a:off x="6739128" y="1554480"/>
            <a:ext cx="978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6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6739128" y="2157984"/>
            <a:ext cx="978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7786116" y="1554480"/>
            <a:ext cx="978408" cy="822960"/>
          </a:xfrm>
          <a:prstGeom prst="roundRect">
            <a:avLst>
              <a:gd name="adj" fmla="val 6667"/>
            </a:avLst>
          </a:prstGeom>
          <a:solidFill>
            <a:srgbClr val="0E2244"/>
          </a:solidFill>
          <a:ln w="15875">
            <a:solidFill>
              <a:srgbClr val="0E2244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27" name="Text 24"/>
          <p:cNvSpPr/>
          <p:nvPr/>
        </p:nvSpPr>
        <p:spPr>
          <a:xfrm>
            <a:off x="7786116" y="1554480"/>
            <a:ext cx="978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7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7786116" y="2157984"/>
            <a:ext cx="978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#7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457200" y="2432304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Fijos (20 Hz)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3598164" y="2432304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Multiplexados (planificador EDF)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457200" y="2788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palabras ARINC 429 x 32 bits = 32 B (payload del NRF24), enviado a 20 Hz.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548640" y="324612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reutiliza la capa lógica del estándar ARINC 429 sobre el enlace de radio.</a:t>
            </a:r>
            <a:endParaRPr lang="en-US" sz="1300" dirty="0"/>
          </a:p>
          <a:p>
            <a:pPr marL="203200" indent="-2032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planificador EDF reparte los slots: baro, VSI, radar y ToF a 10 Hz; GNSS y estado a 5 Hz.</a:t>
            </a:r>
            <a:endParaRPr lang="en-US" sz="1300" dirty="0"/>
          </a:p>
          <a:p>
            <a:pPr marL="203200" indent="-2032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Enlace a 250 kbps; alcance en interior ~100 m, justificado por margen de diseño.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48640" cy="548640"/>
          </a:xfrm>
          <a:prstGeom prst="ellipse">
            <a:avLst/>
          </a:prstGeom>
          <a:solidFill>
            <a:srgbClr val="F2A900"/>
          </a:solidFill>
          <a:ln/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8404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E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Visualización: el PFD (Basic-T)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71600"/>
            <a:ext cx="4846320" cy="3154680"/>
          </a:xfrm>
          <a:prstGeom prst="roundRect">
            <a:avLst>
              <a:gd name="adj" fmla="val 2029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pic>
        <p:nvPicPr>
          <p:cNvPr id="6" name="Image 1" descr="assets/pf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1565" y="1517904"/>
            <a:ext cx="3577590" cy="286207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454456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PFD en Processing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5532120" y="1563624"/>
            <a:ext cx="146304" cy="146304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9" name="Text 5"/>
          <p:cNvSpPr/>
          <p:nvPr/>
        </p:nvSpPr>
        <p:spPr>
          <a:xfrm>
            <a:off x="5806440" y="1508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Horizonte artificial  </a:t>
            </a:r>
            <a:r>
              <a:rPr lang="en-US" sz="1100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 - cabeceo y alabeo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532120" y="2157984"/>
            <a:ext cx="146304" cy="146304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11" name="Text 7"/>
          <p:cNvSpPr/>
          <p:nvPr/>
        </p:nvSpPr>
        <p:spPr>
          <a:xfrm>
            <a:off x="5806440" y="2103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  </a:t>
            </a:r>
            <a:r>
              <a:rPr lang="en-US" sz="1100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izquierda - GNSS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532120" y="2752344"/>
            <a:ext cx="146304" cy="146304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13" name="Text 9"/>
          <p:cNvSpPr/>
          <p:nvPr/>
        </p:nvSpPr>
        <p:spPr>
          <a:xfrm>
            <a:off x="5806440" y="2697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Altitud  </a:t>
            </a:r>
            <a:r>
              <a:rPr lang="en-US" sz="1100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derecha - barométrica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532120" y="3346704"/>
            <a:ext cx="146304" cy="146304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15" name="Text 11"/>
          <p:cNvSpPr/>
          <p:nvPr/>
        </p:nvSpPr>
        <p:spPr>
          <a:xfrm>
            <a:off x="5806440" y="3291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Rumbo  </a:t>
            </a:r>
            <a:r>
              <a:rPr lang="en-US" sz="1100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inferior - magnético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532120" y="3941064"/>
            <a:ext cx="146304" cy="146304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17" name="Text 13"/>
          <p:cNvSpPr/>
          <p:nvPr/>
        </p:nvSpPr>
        <p:spPr>
          <a:xfrm>
            <a:off x="5806440" y="3886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Proximidad y VSI  </a:t>
            </a:r>
            <a:r>
              <a:rPr lang="en-US" sz="1100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distancia al suelo y vel. vertical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5532120" y="41605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Disposición Basic-T conforme al patrón de la AC 25-11B (RN01). Cierra la cadena del sensor a la pantalla.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48640" cy="548640"/>
          </a:xfrm>
          <a:prstGeom prst="ellipse">
            <a:avLst/>
          </a:prstGeom>
          <a:solidFill>
            <a:srgbClr val="F2A900"/>
          </a:solidFill>
          <a:ln/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8404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E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Navegación: vista de mapa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75488" y="10789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independiente del PFD, conmutable por teclado: traza la posición GNSS.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822960" y="1417320"/>
            <a:ext cx="7498080" cy="2743200"/>
          </a:xfrm>
          <a:prstGeom prst="roundRect">
            <a:avLst>
              <a:gd name="adj" fmla="val 2333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pic>
        <p:nvPicPr>
          <p:cNvPr id="7" name="Image 1" descr="assets/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0420" y="1563624"/>
            <a:ext cx="4803160" cy="245059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2960" y="417880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 de posición sobre teselas topográficas offline del ICGC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822960" y="443484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Teselas precargadas en disco; la descarga en línea bajo demanda queda como trabajo futuro.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48640" cy="548640"/>
          </a:xfrm>
          <a:prstGeom prst="ellipse">
            <a:avLst/>
          </a:prstGeom>
          <a:solidFill>
            <a:srgbClr val="F2A900"/>
          </a:solidFill>
          <a:ln/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8404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E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Validación: cumplimiento de requisitos</a:t>
            </a:r>
            <a:endParaRPr lang="en-US" sz="2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77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Objetivo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E22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RP01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Latencia &lt; 200 ms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~85 ms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Cumple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E22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RP02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Refresco del PFD &gt;= 30 FPS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FPS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Cumple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E22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RP03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Actitud &gt;= 20 Hz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Hz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Cumple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E22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RP04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Actitud dentro de +-3°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máx. 1,8°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Cumple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E22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RP05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GNSS &lt;= 2,5 m CEP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 m CEP50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Cumple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E22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RP06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Alcance de decenas de m (interior)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~100 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Cumple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requisitos funcionales (RF01-RF09) también quedan cubiertos con el sistema integrado.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48640" cy="548640"/>
          </a:xfrm>
          <a:prstGeom prst="ellipse">
            <a:avLst/>
          </a:prstGeom>
          <a:solidFill>
            <a:srgbClr val="F2A900"/>
          </a:solidFill>
          <a:ln/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8404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E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Validación: cifras de mérito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417320"/>
            <a:ext cx="3200400" cy="3063240"/>
          </a:xfrm>
          <a:prstGeom prst="roundRect">
            <a:avLst>
              <a:gd name="adj" fmla="val 209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6" name="GNSS Number"/>
          <p:cNvSpPr/>
          <p:nvPr/>
        </p:nvSpPr>
        <p:spPr>
          <a:xfrm>
            <a:off x="457200" y="2050000"/>
            <a:ext cx="3200400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 m</a:t>
            </a:r>
            <a:endParaRPr lang="en-US" sz="5400" dirty="0"/>
          </a:p>
        </p:txBody>
      </p:sp>
      <p:sp>
        <p:nvSpPr>
          <p:cNvPr id="7" name="GNSS Label"/>
          <p:cNvSpPr/>
          <p:nvPr/>
        </p:nvSpPr>
        <p:spPr>
          <a:xfrm>
            <a:off x="457200" y="3080000"/>
            <a:ext cx="32004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CEP50 GNSS, medido en estático</a:t>
            </a:r>
            <a:endParaRPr lang="en-US" sz="1250" dirty="0"/>
          </a:p>
        </p:txBody>
      </p:sp>
      <p:sp>
        <p:nvSpPr>
          <p:cNvPr id="14" name="GNSS Sublabel"/>
          <p:cNvSpPr/>
          <p:nvPr/>
        </p:nvSpPr>
        <p:spPr>
          <a:xfrm>
            <a:off x="457200" y="3470000"/>
            <a:ext cx="32004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E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&lt;= 2,5 m (RP05)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4023360" y="150876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1,8°</a:t>
            </a:r>
            <a:endParaRPr lang="en-US" sz="4000" dirty="0"/>
          </a:p>
        </p:txBody>
      </p:sp>
      <p:sp>
        <p:nvSpPr>
          <p:cNvPr id="9" name="Text 5"/>
          <p:cNvSpPr/>
          <p:nvPr/>
        </p:nvSpPr>
        <p:spPr>
          <a:xfrm>
            <a:off x="4023360" y="211226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máx. de actitud, medido en estático (req. +-3°)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4023360" y="251460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~85 ms</a:t>
            </a:r>
            <a:endParaRPr lang="en-US" sz="4000" dirty="0"/>
          </a:p>
        </p:txBody>
      </p:sp>
      <p:sp>
        <p:nvSpPr>
          <p:cNvPr id="11" name="Text 7"/>
          <p:cNvSpPr/>
          <p:nvPr/>
        </p:nvSpPr>
        <p:spPr>
          <a:xfrm>
            <a:off x="4023360" y="311810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latencia extremo a extremo, cota analítica (&lt; 200 ms)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4023360" y="35204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~100 m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023360" y="412394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en interior, por margen de diseño (no medido)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22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48640" cy="548640"/>
          </a:xfrm>
          <a:prstGeom prst="ellipse">
            <a:avLst/>
          </a:prstGeom>
          <a:solidFill>
            <a:srgbClr val="F2A900"/>
          </a:solidFill>
          <a:ln/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8404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</a:t>
            </a:r>
            <a:endParaRPr lang="en-US" sz="26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481328"/>
            <a:ext cx="365760" cy="3657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51560" y="146304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cumplido: los tres subsistemas integrados operan como un único sistema.</a:t>
            </a:r>
            <a:endParaRPr lang="en-US" sz="15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258568"/>
            <a:ext cx="365760" cy="36576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51560" y="224028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Cadena completa del sensor a la pantalla, con acceso a las magnitudes intermedias.</a:t>
            </a:r>
            <a:endParaRPr lang="en-US" sz="15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035808"/>
            <a:ext cx="365760" cy="36576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051560" y="30175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abierta y replicable por menos de 100 € en materiales.</a:t>
            </a:r>
            <a:endParaRPr lang="en-US" sz="15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813048"/>
            <a:ext cx="365760" cy="36576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051560" y="37947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Limitaciones asumidas: sin redundancia y rumbo en interior limitado por el entorno magnético.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48640" cy="548640"/>
          </a:xfrm>
          <a:prstGeom prst="ellipse">
            <a:avLst/>
          </a:prstGeom>
          <a:solidFill>
            <a:srgbClr val="F2A900"/>
          </a:solidFill>
          <a:ln/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5029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8404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E22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Trabajo futuro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420624" cy="420624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en-15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54480"/>
            <a:ext cx="237744" cy="23774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15568" y="1426464"/>
            <a:ext cx="7662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Cartografía en línea</a:t>
            </a:r>
            <a:endParaRPr lang="en-US" sz="14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Descargar las teselas bajo demanda y cubrir más niveles de zoom.</a:t>
            </a:r>
            <a:endParaRPr lang="en-US" sz="1450" dirty="0"/>
          </a:p>
        </p:txBody>
      </p:sp>
      <p:sp>
        <p:nvSpPr>
          <p:cNvPr id="8" name="Shape 4"/>
          <p:cNvSpPr/>
          <p:nvPr/>
        </p:nvSpPr>
        <p:spPr>
          <a:xfrm>
            <a:off x="548640" y="2331720"/>
            <a:ext cx="420624" cy="420624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en-15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423160"/>
            <a:ext cx="237744" cy="23774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15568" y="2295144"/>
            <a:ext cx="7662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en vuelo</a:t>
            </a:r>
            <a:endParaRPr lang="en-US" sz="14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Adaptar el sistema para instalarlo en un vehículo aéreo real.</a:t>
            </a:r>
            <a:endParaRPr lang="en-US" sz="1450" dirty="0"/>
          </a:p>
        </p:txBody>
      </p:sp>
      <p:sp>
        <p:nvSpPr>
          <p:cNvPr id="11" name="Shape 6"/>
          <p:cNvSpPr/>
          <p:nvPr/>
        </p:nvSpPr>
        <p:spPr>
          <a:xfrm>
            <a:off x="548640" y="3200400"/>
            <a:ext cx="420624" cy="420624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en-15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291840"/>
            <a:ext cx="237744" cy="23774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15568" y="3163824"/>
            <a:ext cx="7662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Caracterización del enlace</a:t>
            </a:r>
            <a:endParaRPr lang="en-US" sz="14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Medidas reales de alcance y de tasa de pérdida de paquetes.</a:t>
            </a:r>
            <a:endParaRPr lang="en-US" sz="1450" dirty="0"/>
          </a:p>
        </p:txBody>
      </p:sp>
      <p:sp>
        <p:nvSpPr>
          <p:cNvPr id="14" name="Shape 8"/>
          <p:cNvSpPr/>
          <p:nvPr/>
        </p:nvSpPr>
        <p:spPr>
          <a:xfrm>
            <a:off x="548640" y="4069080"/>
            <a:ext cx="420624" cy="420624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en-15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4160520"/>
            <a:ext cx="237744" cy="23774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115568" y="4032504"/>
            <a:ext cx="7662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E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como fuente de proximidad</a:t>
            </a:r>
            <a:endParaRPr lang="en-US" sz="14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el HLK-LD2410C en el indicador una vez estabilizada su lectura.</a:t>
            </a:r>
            <a:endParaRPr lang="en-US" sz="14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E22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566928" y="224028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Demostración en directo de la plataforma: actitud, rumbo, altitud y posición en tiempo real.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3429000"/>
            <a:ext cx="502920" cy="502920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en-15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3557016"/>
            <a:ext cx="246888" cy="2468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34290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¿Preguntas?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66928" y="4297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Arnau [Apellidos]  ·  ESEIAAT - UPC  ·  Primavera 2026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40680" y="1188720"/>
            <a:ext cx="3246120" cy="3383280"/>
          </a:xfrm>
          <a:prstGeom prst="roundRect">
            <a:avLst>
              <a:gd name="adj" fmla="val 1972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  <a:effectLst>
            <a:outerShdw blurRad="101600" dist="38100" dir="2700000" algn="bl" rotWithShape="0">
              <a:srgbClr val="1B2A3A">
                <a:alpha val="16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pic>
        <p:nvPicPr>
          <p:cNvPr id="9" name="Image 1" descr="assets/IMG_2157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6984" y="1786467"/>
            <a:ext cx="2953512" cy="218778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40680" y="459028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en funcionamiento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613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0556171-E85C-40AD-ADC2-81E09E8780E6}">
  <we:reference id="wa200010725" version="1.0.0.1" store="en-US" storeType="OMEX"/>
  <we:alternateReferences>
    <we:reference id="wa200010725" version="1.0.0.1" store="" storeType="OMEX"/>
  </we:alternateReferences>
  <we:properties>
    <we:property name="claude.fileId" value="&quot;480f2074-b829-455e-9e2b-db9449b46643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2300</Words>
  <Application>Microsoft Office PowerPoint</Application>
  <PresentationFormat>On-screen Show (16:9)</PresentationFormat>
  <Paragraphs>250</Paragraphs>
  <Slides>19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Defensa TFG - Plataforma de instrumentacion avionica</dc:title>
  <dc:subject>PptxGenJS Presentation</dc:subject>
  <dc:creator>Arnau</dc:creator>
  <cp:lastModifiedBy>Arnau Mora</cp:lastModifiedBy>
  <cp:revision>5</cp:revision>
  <dcterms:created xsi:type="dcterms:W3CDTF">2026-06-19T19:31:44Z</dcterms:created>
  <dcterms:modified xsi:type="dcterms:W3CDTF">2026-07-03T09:33:03Z</dcterms:modified>
</cp:coreProperties>
</file>