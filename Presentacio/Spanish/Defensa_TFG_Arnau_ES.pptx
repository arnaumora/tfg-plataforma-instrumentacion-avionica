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74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71EB8-DCAB-4648-A104-EB7323203DAC}" type="datetimeFigureOut">
              <a:t>07/07/2026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5A86D-084E-4755-8B14-20B885BB2353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2946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PORTADA (~30 s). Presentate, di el titulo y el objetivo en una frase: una plataforma experimental de bajo coste que emula instrumentacion avionica y recorre toda la cadena, del sensor a la pantalla. RELLENA: tu nombre completo. TIEMPO TOTAL OBJETIVO: ~18 min hablado + demo, nunca pasar de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INDICE (~20 s). Enuncia el recorrido rapido sin detenerte. Sirve para que el tribunal sepa la estructura.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2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MOTIVACION (~1,5 min). Tres ideas: la instrumentacion comercial es cara y cerrada; falta material didactico que muestre la cadena completa; hoy es viable hacerlo por menos de 100 EUR con sensores MEMS y microcontroladores. Conectalo con el objetivo.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3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OBJETIVO (~1,5 min). El objetivo es disenar e implementar la plataforma. Resultado: tres subsistemas (PCB, software, PFD) que operan como un solo sistema. Apoyate en las tres tarjetas.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4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REQUISITOS (~1 min). NO leas la tabla entera. Di que fijaste objetivos medibles derivados de normas aeronauticas y nombra 2 o 3 (latencia, actitud, GNSS, coste). Anticipa que al final mostraras el cumplimiento. Pregunta tipica del tribunal: por que estos umbrales si no buscas certificacion -&gt; son orientativos, coherentes con la norma, para tener criterios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5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ARQUITECTURA (~2,5 min). Es la columna vertebral. Recorre el diagrama de izquierda a derecha: sensores -&gt; MCU transmisor (ESP32-S3) -&gt; transceptor RF -&gt; transceptor RF -&gt; MCU receptor (ESP32-C3) -&gt; PC con el PFD. Un transceptor NRF24 en cada nodo, conectado por SPI a su MCU. Menciona los buses (I2C/UART, SPI, RF, SPI, USB).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6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HARDWARE - DISENO (~1,5 min). Placa propia de 2 capas, 180x115 mm, fabricada en JLCPCB. ESP32-S3 + suite de sensores. Alimentacion USB-C con LDO a 3,3 V. Ensena los renders.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8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HARDWARE - PLACA REAL (~1 min). El paso de diseno a hardware fisico, montado y verificado electricamente. Transmisor (izq.) y receptor (dcha.). El hardware real causa buena impresion: detente un segundo.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9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FIRMWARE - FUSION (~1,5 min). Filtro Mahony MARG: combina acelerometro, giroscopio y magnetometro para dar actitud y rumbo estables a 100 Hz. Parametros Kp=3,0 y Ki=1,0 (los del slide y la memoria). Cuaternion inicializado analiticamente desde el acelerometro y el magnetometro: actitud valida desde el arranque, el integrador solo sigue la deriva lenta. Importante: la calibracion del magnetometro se hace con todo activo y la radio emitiendo. Si preguntan por la tilt-compensation: la rotacion a marco tierra del filtro ya lo hace.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11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TELEMETRIA ARINC (~1,5 min). El diferenciador. Se reutiliza la capa logica de ARINC 429 sobre la radio. 8 palabras de 32 bits = 32 B, justo el payload del NRF24. Tres palabras fijas (actitud y rumbo a 20 Hz) y cinco multiplexadas con un planificador EDF que prioriza el parametro mas atrasado: baro, VSI, radar y ToF a 10 Hz; GNSS y estado a 5 Hz. Alcance ~100 m por margen de diseno, no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12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PFD (~1,5 min). Disposicion Basic-T conforme al patron de la AC 25-11B (RN01): horizonte al centro, velocidad a la izquierda, altitud a la derecha, rumbo abajo. Cierra la cadena del sensor a la pantalla. Desarrollado en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13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MAPA (~45 s). Pantalla independiente del PFD que dibuja la posicion GNSS sobre cartografia. Teselas offline del ICGC, vista conmutable por teclado; la descarga en linea queda como trabajo futuro. Puedes pasar rapido.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14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CUMPLIMIENTO (~2 min). Diapositiva clave. Todos los requisitos de rendimiento se cumplen. Destaca: latencia ~85 ms frente a 200, actitud 1,8 grados frente a 3, GNSS 1,00 m CEP50 frente a 2,5, 60 FPS y ~100 m. Y los funcionales tambien. IMPORTANTE para preguntas: ten claro que la latencia de ~85 ms es cota de diseno, no medida directa; preparate para justificarlo.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15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CIFRAS DE MERITO (~1 min). Cuatro numeros con su naturaleza explicita: CEP50 1,00 m y actitud 1,8 grados son medidos en estatico; la latencia de 85 ms es cota analitica de peor caso; el alcance de 100 m es margen de diseno de la hoja de datos, no medido. Decirlo tal cual transmite rigor y desactiva las preguntas de si se ha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16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CONCLUSIONES (~1,5 min). Objetivo cumplido, cadena completa, plataforma abierta y replicable por menos de 100 EUR. Se honesto con las limitaciones: sin redundancia y rumbo en interior limitado por el entorno magnetico.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17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TRABAJO FUTURO (~45 s). Cuatro lineas: cartografia en linea, caracterizacion real del enlace (alcance y perdida de paquetes), radar como fuente de proximidad, e integracion en vuelo. Las dos centrales cierran los puntos aplazados en la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18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DEMO + GRACIAS. Arranca la demo: inclina la placa (el horizonte responde), gira (el rumbo responde), ensena altitud/VSI y un fix GNSS sobre el mapa. REGLA DE ORO: ten un video de reserva de 60-90 s por si falla la radio, el USB o el proyector. Logistica: lleva tu portatil, prueba el proyector antes y ten la placa encendida y emparejada antes de entrar. Cierra con un gracias y abre el turno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19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ca-E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e implementación de una plataforma experimental de instrumentación aviónica</a:t>
            </a:r>
            <a:endParaRPr lang="ca-ES" sz="2800" dirty="0"/>
          </a:p>
        </p:txBody>
      </p:sp>
      <p:sp>
        <p:nvSpPr>
          <p:cNvPr id="4" name="Text 1"/>
          <p:cNvSpPr/>
          <p:nvPr/>
        </p:nvSpPr>
        <p:spPr>
          <a:xfrm>
            <a:off x="475488" y="274320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ca-E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Arnau Mora Perez</a:t>
            </a:r>
            <a:endParaRPr lang="ca-E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Directores: Juan Mon González y Javier Gago Barrio</a:t>
            </a:r>
            <a:endParaRPr lang="ca-E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en Ingeniería en Vehículos Aeroespaciales</a:t>
            </a:r>
            <a:endParaRPr lang="ca-E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ESEIAAT - UPC</a:t>
            </a:r>
            <a:endParaRPr lang="ca-E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Convocatoria Primavera 2026</a:t>
            </a:r>
            <a:endParaRPr lang="ca-ES" sz="1300" dirty="0"/>
          </a:p>
        </p:txBody>
      </p:sp>
      <p:sp>
        <p:nvSpPr>
          <p:cNvPr id="5" name="Shape 2"/>
          <p:cNvSpPr/>
          <p:nvPr/>
        </p:nvSpPr>
        <p:spPr>
          <a:xfrm>
            <a:off x="4937760" y="2697480"/>
            <a:ext cx="3749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6" name="Image 1" descr="assets/iso_p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023" y="2843784"/>
            <a:ext cx="3204515" cy="1490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7760" y="4498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transmisor - render KiCad</a:t>
            </a:r>
            <a:endParaRPr lang="ca-ES" sz="1000" dirty="0"/>
          </a:p>
        </p:txBody>
      </p:sp>
      <p:pic>
        <p:nvPicPr>
          <p:cNvPr id="9" name="Picture 8" descr="A black background with blue text  AI-generated content may be incorrect.">
            <a:extLst>
              <a:ext uri="{FF2B5EF4-FFF2-40B4-BE49-F238E27FC236}">
                <a16:creationId xmlns:a16="http://schemas.microsoft.com/office/drawing/2014/main" id="{9E980788-A87A-71C0-9056-BAEB00285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86002"/>
            <a:ext cx="2905221" cy="7741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6184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3584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Motivación y objetivo</a:t>
            </a:r>
            <a:endParaRPr lang="ca-E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95144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40487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43584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Arquitectura del sistema</a:t>
            </a:r>
            <a:endParaRPr lang="ca-ES" sz="1500" dirty="0"/>
          </a:p>
        </p:txBody>
      </p:sp>
      <p:sp>
        <p:nvSpPr>
          <p:cNvPr id="11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191256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43584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Diseño hardware: la PCB</a:t>
            </a:r>
            <a:endParaRPr lang="ca-ES" sz="1500" dirty="0"/>
          </a:p>
        </p:txBody>
      </p:sp>
      <p:sp>
        <p:nvSpPr>
          <p:cNvPr id="14" name="Shape 8"/>
          <p:cNvSpPr/>
          <p:nvPr/>
        </p:nvSpPr>
        <p:spPr>
          <a:xfrm>
            <a:off x="640080" y="3867912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977640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43584" y="3867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Software y fusión sensorial</a:t>
            </a:r>
            <a:endParaRPr lang="ca-ES" sz="1500" dirty="0"/>
          </a:p>
        </p:txBody>
      </p:sp>
      <p:sp>
        <p:nvSpPr>
          <p:cNvPr id="17" name="Shape 10"/>
          <p:cNvSpPr/>
          <p:nvPr/>
        </p:nvSpPr>
        <p:spPr>
          <a:xfrm>
            <a:off x="4754880" y="15087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1618488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58384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Telemetria ARINC 429</a:t>
            </a:r>
            <a:endParaRPr lang="ca-ES" sz="1500" dirty="0"/>
          </a:p>
        </p:txBody>
      </p:sp>
      <p:sp>
        <p:nvSpPr>
          <p:cNvPr id="20" name="Shape 12"/>
          <p:cNvSpPr/>
          <p:nvPr/>
        </p:nvSpPr>
        <p:spPr>
          <a:xfrm>
            <a:off x="4754880" y="2295144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2404872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58384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Visualización: el PFD</a:t>
            </a:r>
            <a:endParaRPr lang="ca-ES" sz="1500" dirty="0"/>
          </a:p>
        </p:txBody>
      </p:sp>
      <p:sp>
        <p:nvSpPr>
          <p:cNvPr id="23" name="Shape 14"/>
          <p:cNvSpPr/>
          <p:nvPr/>
        </p:nvSpPr>
        <p:spPr>
          <a:xfrm>
            <a:off x="4754880" y="3081528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608" y="3191256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58384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Validación y resultados</a:t>
            </a:r>
            <a:endParaRPr lang="ca-ES" sz="1500" dirty="0"/>
          </a:p>
        </p:txBody>
      </p:sp>
      <p:sp>
        <p:nvSpPr>
          <p:cNvPr id="26" name="Shape 16"/>
          <p:cNvSpPr/>
          <p:nvPr/>
        </p:nvSpPr>
        <p:spPr>
          <a:xfrm>
            <a:off x="4754880" y="3867912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3977640"/>
            <a:ext cx="237744" cy="23774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58384" y="3867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Conclusiones y demo</a:t>
            </a:r>
            <a:endParaRPr lang="ca-E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Motivación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0876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568" y="138074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 cara y cerrada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comerciales son costosos y propietarios, poco accesibles para la docencia.</a:t>
            </a:r>
            <a:endParaRPr lang="ca-E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246888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56032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5568" y="243230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 didáctico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plataformas abiertas que muestren toda la cadena, del sensor a la pantalla.</a:t>
            </a:r>
            <a:endParaRPr lang="ca-ES" sz="1450" dirty="0"/>
          </a:p>
        </p:txBody>
      </p:sp>
      <p:sp>
        <p:nvSpPr>
          <p:cNvPr id="11" name="Shape 6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1188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348386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viable a bajo coste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sensores MEMS y los microcontroladores potentes permiten replicar la cadena.</a:t>
            </a:r>
            <a:endParaRPr lang="ca-ES" sz="1450" dirty="0"/>
          </a:p>
        </p:txBody>
      </p:sp>
      <p:sp>
        <p:nvSpPr>
          <p:cNvPr id="14" name="Shape 8"/>
          <p:cNvSpPr/>
          <p:nvPr/>
        </p:nvSpPr>
        <p:spPr>
          <a:xfrm>
            <a:off x="5532120" y="1417320"/>
            <a:ext cx="3200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15" name="Image 4" descr="assets/top_clean_p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424" y="1632629"/>
            <a:ext cx="2907792" cy="13524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32120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desarrollada</a:t>
            </a:r>
            <a:endParaRPr lang="ca-ES" sz="1000" dirty="0"/>
          </a:p>
        </p:txBody>
      </p:sp>
      <p:sp>
        <p:nvSpPr>
          <p:cNvPr id="17" name="Shape 10"/>
          <p:cNvSpPr/>
          <p:nvPr/>
        </p:nvSpPr>
        <p:spPr>
          <a:xfrm>
            <a:off x="553212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8" name="Text 11"/>
          <p:cNvSpPr/>
          <p:nvPr/>
        </p:nvSpPr>
        <p:spPr>
          <a:xfrm>
            <a:off x="5532120" y="3566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100 €</a:t>
            </a:r>
            <a:endParaRPr lang="ca-ES" sz="3000" dirty="0"/>
          </a:p>
          <a:p>
            <a:pPr marL="0" indent="0" algn="ctr"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 materiales</a:t>
            </a:r>
            <a:endParaRPr lang="ca-E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experimental de bajo coste que recorre la cadena completa: del sensor a la pantalla.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7" name="Shape 4"/>
          <p:cNvSpPr/>
          <p:nvPr/>
        </p:nvSpPr>
        <p:spPr>
          <a:xfrm>
            <a:off x="1417320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1488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PCB</a:t>
            </a:r>
            <a:endParaRPr lang="ca-ES" sz="1900" dirty="0"/>
          </a:p>
        </p:txBody>
      </p:sp>
      <p:sp>
        <p:nvSpPr>
          <p:cNvPr id="10" name="Text 6"/>
          <p:cNvSpPr/>
          <p:nvPr/>
        </p:nvSpPr>
        <p:spPr>
          <a:xfrm>
            <a:off x="685800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el microcontrolador y los sensores en una placa propia.</a:t>
            </a:r>
            <a:endParaRPr lang="ca-ES" sz="1250" dirty="0"/>
          </a:p>
        </p:txBody>
      </p:sp>
      <p:sp>
        <p:nvSpPr>
          <p:cNvPr id="11" name="Shape 7"/>
          <p:cNvSpPr/>
          <p:nvPr/>
        </p:nvSpPr>
        <p:spPr>
          <a:xfrm>
            <a:off x="3319272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2" name="Shape 8"/>
          <p:cNvSpPr/>
          <p:nvPr/>
        </p:nvSpPr>
        <p:spPr>
          <a:xfrm>
            <a:off x="4279392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21488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9272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ca-ES" sz="1900" dirty="0"/>
          </a:p>
        </p:txBody>
      </p:sp>
      <p:sp>
        <p:nvSpPr>
          <p:cNvPr id="15" name="Text 10"/>
          <p:cNvSpPr/>
          <p:nvPr/>
        </p:nvSpPr>
        <p:spPr>
          <a:xfrm>
            <a:off x="3547872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Adquiere, calibra, fusiona y transmite los datos.</a:t>
            </a:r>
            <a:endParaRPr lang="ca-ES" sz="1250" dirty="0"/>
          </a:p>
        </p:txBody>
      </p:sp>
      <p:sp>
        <p:nvSpPr>
          <p:cNvPr id="16" name="Shape 11"/>
          <p:cNvSpPr/>
          <p:nvPr/>
        </p:nvSpPr>
        <p:spPr>
          <a:xfrm>
            <a:off x="6181344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7" name="Shape 12"/>
          <p:cNvSpPr/>
          <p:nvPr/>
        </p:nvSpPr>
        <p:spPr>
          <a:xfrm>
            <a:off x="7141464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21488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81344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PFD</a:t>
            </a:r>
            <a:endParaRPr lang="ca-ES" sz="1900" dirty="0"/>
          </a:p>
        </p:txBody>
      </p:sp>
      <p:sp>
        <p:nvSpPr>
          <p:cNvPr id="20" name="Text 14"/>
          <p:cNvSpPr/>
          <p:nvPr/>
        </p:nvSpPr>
        <p:spPr>
          <a:xfrm>
            <a:off x="6409944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los parámetros en disposición Basic-T en tiempo real.</a:t>
            </a:r>
            <a:endParaRPr lang="ca-E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medibles derivados de normas aeronáuticas de referencia.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ca-ES" sz="1800" dirty="0"/>
          </a:p>
          <a:p>
            <a:pPr marL="0" indent="0" algn="ctr">
              <a:buNone/>
            </a:pPr>
            <a:r>
              <a:rPr lang="ca-E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ca-ES" sz="1800" dirty="0"/>
          </a:p>
        </p:txBody>
      </p:sp>
      <p:sp>
        <p:nvSpPr>
          <p:cNvPr id="8" name="Shape 5"/>
          <p:cNvSpPr/>
          <p:nvPr/>
        </p:nvSpPr>
        <p:spPr>
          <a:xfrm>
            <a:off x="2587752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2587752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</a:t>
            </a:r>
            <a:endParaRPr lang="ca-ES" sz="1800" dirty="0"/>
          </a:p>
          <a:p>
            <a:pPr marL="0" indent="0" algn="ctr">
              <a:buNone/>
            </a:pPr>
            <a:r>
              <a:rPr lang="ca-E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ca-ES" sz="1800" dirty="0"/>
          </a:p>
        </p:txBody>
      </p:sp>
      <p:sp>
        <p:nvSpPr>
          <p:cNvPr id="10" name="Shape 7"/>
          <p:cNvSpPr/>
          <p:nvPr/>
        </p:nvSpPr>
        <p:spPr>
          <a:xfrm>
            <a:off x="4718304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1" name="Text 8"/>
          <p:cNvSpPr/>
          <p:nvPr/>
        </p:nvSpPr>
        <p:spPr>
          <a:xfrm>
            <a:off x="4718304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ca-ES" sz="1800" dirty="0"/>
          </a:p>
          <a:p>
            <a:pPr marL="0" indent="0" algn="ctr">
              <a:buNone/>
            </a:pPr>
            <a:r>
              <a:rPr lang="ca-E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ca-ES" sz="1800" dirty="0"/>
          </a:p>
        </p:txBody>
      </p:sp>
      <p:sp>
        <p:nvSpPr>
          <p:cNvPr id="12" name="Shape 9"/>
          <p:cNvSpPr/>
          <p:nvPr/>
        </p:nvSpPr>
        <p:spPr>
          <a:xfrm>
            <a:off x="6848856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3" name="Text 10"/>
          <p:cNvSpPr/>
          <p:nvPr/>
        </p:nvSpPr>
        <p:spPr>
          <a:xfrm>
            <a:off x="6848856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</a:t>
            </a:r>
            <a:endParaRPr lang="ca-ES" sz="1800" dirty="0"/>
          </a:p>
          <a:p>
            <a:pPr marL="0" indent="0" algn="ctr">
              <a:buNone/>
            </a:pPr>
            <a:r>
              <a:rPr lang="ca-E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Normativos</a:t>
            </a:r>
            <a:endParaRPr lang="ca-ES" sz="1800" dirty="0"/>
          </a:p>
        </p:txBody>
      </p:sp>
      <p:sp>
        <p:nvSpPr>
          <p:cNvPr id="14" name="Text 11"/>
          <p:cNvSpPr/>
          <p:nvPr/>
        </p:nvSpPr>
        <p:spPr>
          <a:xfrm>
            <a:off x="475488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clave</a:t>
            </a:r>
            <a:endParaRPr lang="ca-E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extremo a extremo &lt; 200 ms</a:t>
            </a:r>
            <a:endParaRPr lang="ca-E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Refresco del PFD &gt;= 30 FPS</a:t>
            </a:r>
            <a:endParaRPr lang="ca-E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dentro de +-3°</a:t>
            </a:r>
            <a:endParaRPr lang="ca-ES" sz="1300" dirty="0"/>
          </a:p>
        </p:txBody>
      </p:sp>
      <p:sp>
        <p:nvSpPr>
          <p:cNvPr id="18" name="Text 15"/>
          <p:cNvSpPr/>
          <p:nvPr/>
        </p:nvSpPr>
        <p:spPr>
          <a:xfrm>
            <a:off x="484632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 GNSS &lt;= 2,5 m CEP</a:t>
            </a:r>
            <a:endParaRPr lang="ca-E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 materiales &lt; 100 €</a:t>
            </a:r>
            <a:endParaRPr lang="ca-ES" sz="1300" dirty="0"/>
          </a:p>
        </p:txBody>
      </p:sp>
      <p:sp>
        <p:nvSpPr>
          <p:cNvPr id="20" name="Text 17"/>
          <p:cNvSpPr/>
          <p:nvPr/>
        </p:nvSpPr>
        <p:spPr>
          <a:xfrm>
            <a:off x="484632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 por USB-C, software abierto</a:t>
            </a:r>
            <a:endParaRPr lang="ca-E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transmisor - receptor con enlace inalámbrico.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393192" y="2331720"/>
            <a:ext cx="1316736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7" name="Text 4"/>
          <p:cNvSpPr/>
          <p:nvPr/>
        </p:nvSpPr>
        <p:spPr>
          <a:xfrm>
            <a:off x="393192" y="2331720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· Baro · GNSS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· Radar</a:t>
            </a:r>
            <a:endParaRPr lang="ca-ES" sz="1250" dirty="0"/>
          </a:p>
        </p:txBody>
      </p:sp>
      <p:sp>
        <p:nvSpPr>
          <p:cNvPr id="8" name="Shape 5"/>
          <p:cNvSpPr/>
          <p:nvPr/>
        </p:nvSpPr>
        <p:spPr>
          <a:xfrm>
            <a:off x="1911096" y="2331720"/>
            <a:ext cx="120700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1911096" y="2331720"/>
            <a:ext cx="1207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Transmisor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ca-ES" sz="1250" dirty="0"/>
          </a:p>
        </p:txBody>
      </p:sp>
      <p:sp>
        <p:nvSpPr>
          <p:cNvPr id="10" name="Shape 7"/>
          <p:cNvSpPr/>
          <p:nvPr/>
        </p:nvSpPr>
        <p:spPr>
          <a:xfrm>
            <a:off x="3319992" y="2331720"/>
            <a:ext cx="1207008" cy="1325880"/>
          </a:xfrm>
          <a:prstGeom prst="roundRect">
            <a:avLst>
              <a:gd name="adj" fmla="val 4138"/>
            </a:avLst>
          </a:prstGeom>
          <a:solidFill>
            <a:srgbClr val="FDF1D6"/>
          </a:solidFill>
          <a:ln w="22225">
            <a:solidFill>
              <a:srgbClr val="F2A900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1" name="Text 8"/>
          <p:cNvSpPr/>
          <p:nvPr/>
        </p:nvSpPr>
        <p:spPr>
          <a:xfrm>
            <a:off x="3319992" y="2331720"/>
            <a:ext cx="1207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Transceptor RF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NRF24L01+</a:t>
            </a:r>
            <a:endParaRPr lang="ca-ES" sz="1250" dirty="0"/>
          </a:p>
        </p:txBody>
      </p:sp>
      <p:sp>
        <p:nvSpPr>
          <p:cNvPr id="12" name="Shape 9"/>
          <p:cNvSpPr/>
          <p:nvPr/>
        </p:nvSpPr>
        <p:spPr>
          <a:xfrm>
            <a:off x="6135624" y="2331720"/>
            <a:ext cx="120700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3" name="Text 10"/>
          <p:cNvSpPr/>
          <p:nvPr/>
        </p:nvSpPr>
        <p:spPr>
          <a:xfrm>
            <a:off x="6135624" y="2331720"/>
            <a:ext cx="1207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Receptor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</a:t>
            </a:r>
            <a:endParaRPr lang="ca-ES" sz="1250" dirty="0"/>
          </a:p>
        </p:txBody>
      </p:sp>
      <p:sp>
        <p:nvSpPr>
          <p:cNvPr id="14" name="Shape 11"/>
          <p:cNvSpPr/>
          <p:nvPr/>
        </p:nvSpPr>
        <p:spPr>
          <a:xfrm>
            <a:off x="7543800" y="2331720"/>
            <a:ext cx="120700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5" name="Text 12"/>
          <p:cNvSpPr/>
          <p:nvPr/>
        </p:nvSpPr>
        <p:spPr>
          <a:xfrm>
            <a:off x="7543800" y="2331720"/>
            <a:ext cx="1207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PFD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ca-ES" sz="1250" dirty="0"/>
          </a:p>
        </p:txBody>
      </p:sp>
      <p:sp>
        <p:nvSpPr>
          <p:cNvPr id="16" name="Shape 13"/>
          <p:cNvSpPr/>
          <p:nvPr/>
        </p:nvSpPr>
        <p:spPr>
          <a:xfrm>
            <a:off x="1728216" y="2994660"/>
            <a:ext cx="164592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7" name="Text 14"/>
          <p:cNvSpPr/>
          <p:nvPr/>
        </p:nvSpPr>
        <p:spPr>
          <a:xfrm>
            <a:off x="1719072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18" name="Text 15"/>
          <p:cNvSpPr/>
          <p:nvPr/>
        </p:nvSpPr>
        <p:spPr>
          <a:xfrm>
            <a:off x="1609344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/ UART</a:t>
            </a:r>
            <a:endParaRPr lang="ca-ES" sz="950" dirty="0"/>
          </a:p>
        </p:txBody>
      </p:sp>
      <p:sp>
        <p:nvSpPr>
          <p:cNvPr id="19" name="Shape 16"/>
          <p:cNvSpPr/>
          <p:nvPr/>
        </p:nvSpPr>
        <p:spPr>
          <a:xfrm>
            <a:off x="3136392" y="2994660"/>
            <a:ext cx="164592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0" name="Text 17"/>
          <p:cNvSpPr/>
          <p:nvPr/>
        </p:nvSpPr>
        <p:spPr>
          <a:xfrm>
            <a:off x="3127248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21" name="Text 18"/>
          <p:cNvSpPr/>
          <p:nvPr/>
        </p:nvSpPr>
        <p:spPr>
          <a:xfrm>
            <a:off x="3017520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ca-ES" sz="950" dirty="0"/>
          </a:p>
        </p:txBody>
      </p:sp>
      <p:sp>
        <p:nvSpPr>
          <p:cNvPr id="22" name="Shape 19"/>
          <p:cNvSpPr/>
          <p:nvPr/>
        </p:nvSpPr>
        <p:spPr>
          <a:xfrm>
            <a:off x="4544568" y="2994660"/>
            <a:ext cx="164592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3" name="Text 20"/>
          <p:cNvSpPr/>
          <p:nvPr/>
        </p:nvSpPr>
        <p:spPr>
          <a:xfrm>
            <a:off x="4535424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24" name="Text 21"/>
          <p:cNvSpPr/>
          <p:nvPr/>
        </p:nvSpPr>
        <p:spPr>
          <a:xfrm>
            <a:off x="4425696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ca-ES" sz="950" dirty="0"/>
          </a:p>
        </p:txBody>
      </p:sp>
      <p:sp>
        <p:nvSpPr>
          <p:cNvPr id="25" name="Shape 22"/>
          <p:cNvSpPr/>
          <p:nvPr/>
        </p:nvSpPr>
        <p:spPr>
          <a:xfrm>
            <a:off x="5952744" y="2994660"/>
            <a:ext cx="164592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6" name="Text 23"/>
          <p:cNvSpPr/>
          <p:nvPr/>
        </p:nvSpPr>
        <p:spPr>
          <a:xfrm>
            <a:off x="5943600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27" name="Text 24"/>
          <p:cNvSpPr/>
          <p:nvPr/>
        </p:nvSpPr>
        <p:spPr>
          <a:xfrm>
            <a:off x="5833872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ca-ES" sz="950" dirty="0"/>
          </a:p>
        </p:txBody>
      </p:sp>
      <p:sp>
        <p:nvSpPr>
          <p:cNvPr id="28" name="Text 25"/>
          <p:cNvSpPr/>
          <p:nvPr/>
        </p:nvSpPr>
        <p:spPr>
          <a:xfrm>
            <a:off x="475488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paquete: tres palabras ARINC 429 fijas (actitud y rumbo, 20 Hz) y cinco slots multiplexados sobre el enlace de radio.</a:t>
            </a:r>
            <a:endParaRPr lang="ca-ES" sz="1200" dirty="0"/>
          </a:p>
        </p:txBody>
      </p:sp>
      <p:sp>
        <p:nvSpPr>
          <p:cNvPr id="29" name="Shape 7"/>
          <p:cNvSpPr/>
          <p:nvPr/>
        </p:nvSpPr>
        <p:spPr>
          <a:xfrm>
            <a:off x="4727448" y="2331720"/>
            <a:ext cx="1207008" cy="1325880"/>
          </a:xfrm>
          <a:prstGeom prst="roundRect">
            <a:avLst>
              <a:gd name="adj" fmla="val 4138"/>
            </a:avLst>
          </a:prstGeom>
          <a:solidFill>
            <a:srgbClr val="FDF1D6"/>
          </a:solidFill>
          <a:ln w="22225">
            <a:solidFill>
              <a:srgbClr val="F2A900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30" name="Text 8"/>
          <p:cNvSpPr/>
          <p:nvPr/>
        </p:nvSpPr>
        <p:spPr>
          <a:xfrm>
            <a:off x="4727448" y="2331720"/>
            <a:ext cx="1207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Transceptor RF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NRF24L01+</a:t>
            </a:r>
            <a:endParaRPr lang="ca-ES" sz="1250" dirty="0"/>
          </a:p>
        </p:txBody>
      </p:sp>
      <p:sp>
        <p:nvSpPr>
          <p:cNvPr id="31" name="Shape 22"/>
          <p:cNvSpPr/>
          <p:nvPr/>
        </p:nvSpPr>
        <p:spPr>
          <a:xfrm>
            <a:off x="7360920" y="2994660"/>
            <a:ext cx="164592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32" name="Text 23"/>
          <p:cNvSpPr/>
          <p:nvPr/>
        </p:nvSpPr>
        <p:spPr>
          <a:xfrm>
            <a:off x="7351776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33" name="Text 24"/>
          <p:cNvSpPr/>
          <p:nvPr/>
        </p:nvSpPr>
        <p:spPr>
          <a:xfrm>
            <a:off x="7242048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ca-E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de diseño: arquitectura y enlace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dos nodos, un enlace de radio y telemetría ARINC 429.</a:t>
            </a:r>
            <a:endParaRPr lang="ca-E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3962400" cy="3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transmisor / receptor</a:t>
            </a:r>
            <a:endParaRPr lang="ca-E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39624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la arquitectura real de una aeronave.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movilidad al nodo de sensores frente al PC fijo.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un enlace inalámbrico con valor docente.</a:t>
            </a:r>
          </a:p>
        </p:txBody>
      </p:sp>
      <p:sp>
        <p:nvSpPr>
          <p:cNvPr id="8" name="Text 5"/>
          <p:cNvSpPr/>
          <p:nvPr/>
        </p:nvSpPr>
        <p:spPr>
          <a:xfrm>
            <a:off x="457200" y="3093720"/>
            <a:ext cx="3962400" cy="3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de radio: RF 2,4 GHz (ISM)</a:t>
            </a:r>
            <a:endParaRPr lang="ca-E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413760"/>
            <a:ext cx="39624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Descartados cable serie, WiFi-UDP y Bluetooth / BLE.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 por baja latencia, alcance suficiente y bajo coste.</a:t>
            </a:r>
          </a:p>
        </p:txBody>
      </p:sp>
      <p:sp>
        <p:nvSpPr>
          <p:cNvPr id="10" name="Shape 7"/>
          <p:cNvSpPr/>
          <p:nvPr/>
        </p:nvSpPr>
        <p:spPr>
          <a:xfrm>
            <a:off x="4724400" y="1600200"/>
            <a:ext cx="3962400" cy="271332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1" name="Text 8"/>
          <p:cNvSpPr/>
          <p:nvPr/>
        </p:nvSpPr>
        <p:spPr>
          <a:xfrm>
            <a:off x="4968240" y="1798320"/>
            <a:ext cx="3474720" cy="23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lógica ARINC 429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con la práctica aeronáutica real.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docente: etiquetas, BNR, paridad y SSM.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de 32 bits ya estructurada; sin diseñar un formato desde cero.</a:t>
            </a:r>
          </a:p>
        </p:txBody>
      </p:sp>
      <p:sp>
        <p:nvSpPr>
          <p:cNvPr id="12" name="Text 9"/>
          <p:cNvSpPr/>
          <p:nvPr/>
        </p:nvSpPr>
        <p:spPr>
          <a:xfrm>
            <a:off x="475488" y="4485155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0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payload de 32 B del NRF24 equivale exactamente a 8 palabras ARINC 429 de 32 bits.</a:t>
            </a:r>
            <a:endParaRPr lang="ca-E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8643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Hardware: diseño de la PCB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069080" cy="189280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6" name="Image 1" descr="assets/iso_p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517904"/>
            <a:ext cx="3440430" cy="1600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2826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isométrico (KiCad)</a:t>
            </a:r>
            <a:endParaRPr lang="ca-ES" sz="1000" dirty="0"/>
          </a:p>
        </p:txBody>
      </p:sp>
      <p:sp>
        <p:nvSpPr>
          <p:cNvPr id="8" name="Shape 4"/>
          <p:cNvSpPr/>
          <p:nvPr/>
        </p:nvSpPr>
        <p:spPr>
          <a:xfrm>
            <a:off x="4663440" y="1371600"/>
            <a:ext cx="4069080" cy="189280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9" name="Image 2" descr="assets/top_clean_p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765" y="1517904"/>
            <a:ext cx="3440430" cy="1600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3440" y="32826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superior (KiCad)</a:t>
            </a:r>
            <a:endParaRPr lang="ca-ES" sz="1000" dirty="0"/>
          </a:p>
        </p:txBody>
      </p:sp>
      <p:sp>
        <p:nvSpPr>
          <p:cNvPr id="11" name="Text 6"/>
          <p:cNvSpPr/>
          <p:nvPr/>
        </p:nvSpPr>
        <p:spPr>
          <a:xfrm>
            <a:off x="548640" y="366679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propia de 2 capas (180 x 115 mm), fabricada en JLCPCB.</a:t>
            </a:r>
            <a:endParaRPr lang="ca-E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ESP32-S3 con la suite de sensores: IMU, barómetro, GNSS, ToF y radar.</a:t>
            </a:r>
            <a:endParaRPr lang="ca-E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 por USB-C con LDO a 3,3 V, raíl de 5 V para los módulos que lo requieren.</a:t>
            </a:r>
            <a:endParaRPr lang="ca-E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Hardware: la placa fabricada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diseño a la placa real, montada y verificada eléctricamente.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937760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7" name="Image 1" descr="assets/real_pcb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81" y="1517904"/>
            <a:ext cx="3863797" cy="28620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445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transmisor montado</a:t>
            </a:r>
            <a:endParaRPr lang="ca-ES" sz="1000" dirty="0"/>
          </a:p>
        </p:txBody>
      </p:sp>
      <p:sp>
        <p:nvSpPr>
          <p:cNvPr id="9" name="Shape 5"/>
          <p:cNvSpPr/>
          <p:nvPr/>
        </p:nvSpPr>
        <p:spPr>
          <a:xfrm>
            <a:off x="5577840" y="1371600"/>
            <a:ext cx="3108960" cy="31546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10" name="Image 2" descr="assets/real_reciever_pcb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3353" y="1517904"/>
            <a:ext cx="2117933" cy="28620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77840" y="4544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receptor (ESP32-C3)</a:t>
            </a:r>
            <a:endParaRPr lang="ca-E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del filtro de fusión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algoritmos sobre el ESP32: coste de cómputo frente a precisión.</a:t>
            </a:r>
            <a:endParaRPr lang="ca-E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396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consideradas</a:t>
            </a:r>
            <a:endParaRPr lang="ca-E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39624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complementario: un parámetro, sin estimación de bias ni corrección de la deriva.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Madgwick: precisión similar, sin ajuste independiente del transitorio.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/ UKF: más coste de cómputo, no justificado en este ámbito.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partículas: máxima precisión, inviable en tiempo real sobre el ESP32.</a:t>
            </a:r>
          </a:p>
        </p:txBody>
      </p:sp>
      <p:sp>
        <p:nvSpPr>
          <p:cNvPr id="8" name="Shape 5"/>
          <p:cNvSpPr/>
          <p:nvPr/>
        </p:nvSpPr>
        <p:spPr>
          <a:xfrm>
            <a:off x="4724400" y="1600200"/>
            <a:ext cx="3962400" cy="243840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4968240" y="179832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 (seleccionado)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 la deriva del giroscopio con su término integral (PI).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 cómputo bajo, adecuado para el ESP32.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transitoria ajustable mediante Kp y Ki.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Avalado por estudios recientes en plataformas ESP32.</a:t>
            </a:r>
          </a:p>
        </p:txBody>
      </p:sp>
      <p:sp>
        <p:nvSpPr>
          <p:cNvPr id="10" name="Text 9"/>
          <p:cNvSpPr/>
          <p:nvPr/>
        </p:nvSpPr>
        <p:spPr>
          <a:xfrm>
            <a:off x="475488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0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Referencias: Mahony (2008) · Cocoli y Badia (2023) · Uyar (2024) · Gui et al. (2015)</a:t>
            </a:r>
            <a:endParaRPr lang="ca-E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Firmware: fusión sensorial (AHRS)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ca-E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Mahony MARG (complementario) para actitud y rumbo en tiempo real.</a:t>
            </a:r>
            <a:endParaRPr lang="ca-ES" sz="13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ca-E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Cuaternión inicializado analíticamente: actitud válida desde el arranque.</a:t>
            </a:r>
            <a:endParaRPr lang="ca-ES" sz="13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ca-E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con todos los periféricos activos y la radio transmitiendo.</a:t>
            </a:r>
            <a:endParaRPr lang="ca-ES" sz="13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ca-ES" sz="13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= 3,0   ·   Ki = 1,0   ·   fusión a 100 Hz</a:t>
            </a:r>
            <a:endParaRPr lang="ca-ES" sz="1350" dirty="0"/>
          </a:p>
        </p:txBody>
      </p:sp>
      <p:sp>
        <p:nvSpPr>
          <p:cNvPr id="6" name="Shape 3"/>
          <p:cNvSpPr/>
          <p:nvPr/>
        </p:nvSpPr>
        <p:spPr>
          <a:xfrm>
            <a:off x="5440680" y="1417320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7" name="Text 4"/>
          <p:cNvSpPr/>
          <p:nvPr/>
        </p:nvSpPr>
        <p:spPr>
          <a:xfrm>
            <a:off x="5440680" y="141732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Acelerómetro</a:t>
            </a:r>
            <a:endParaRPr lang="ca-ES" sz="1050" dirty="0"/>
          </a:p>
        </p:txBody>
      </p:sp>
      <p:sp>
        <p:nvSpPr>
          <p:cNvPr id="8" name="Shape 5"/>
          <p:cNvSpPr/>
          <p:nvPr/>
        </p:nvSpPr>
        <p:spPr>
          <a:xfrm>
            <a:off x="5440680" y="2020824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5440680" y="202082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Giroscopio</a:t>
            </a:r>
            <a:endParaRPr lang="ca-ES" sz="1050" dirty="0"/>
          </a:p>
        </p:txBody>
      </p:sp>
      <p:sp>
        <p:nvSpPr>
          <p:cNvPr id="10" name="Shape 7"/>
          <p:cNvSpPr/>
          <p:nvPr/>
        </p:nvSpPr>
        <p:spPr>
          <a:xfrm>
            <a:off x="5440680" y="2624328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1" name="Text 8"/>
          <p:cNvSpPr/>
          <p:nvPr/>
        </p:nvSpPr>
        <p:spPr>
          <a:xfrm>
            <a:off x="5440680" y="262432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Magnetómetro</a:t>
            </a:r>
            <a:endParaRPr lang="ca-ES" sz="1050" dirty="0"/>
          </a:p>
        </p:txBody>
      </p:sp>
      <p:sp>
        <p:nvSpPr>
          <p:cNvPr id="12" name="Shape 9"/>
          <p:cNvSpPr/>
          <p:nvPr/>
        </p:nvSpPr>
        <p:spPr>
          <a:xfrm>
            <a:off x="7178040" y="18288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DF1D6"/>
          </a:solidFill>
          <a:ln w="22225">
            <a:solidFill>
              <a:srgbClr val="F2A900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3" name="Text 10"/>
          <p:cNvSpPr/>
          <p:nvPr/>
        </p:nvSpPr>
        <p:spPr>
          <a:xfrm>
            <a:off x="7178040" y="18288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</a:t>
            </a:r>
            <a:endParaRPr lang="ca-ES" sz="1200" dirty="0"/>
          </a:p>
          <a:p>
            <a:pPr marL="0" indent="0" algn="ctr">
              <a:buNone/>
            </a:pPr>
            <a:r>
              <a:rPr lang="ca-ES" sz="12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</a:t>
            </a:r>
            <a:endParaRPr lang="ca-ES" sz="1200" dirty="0"/>
          </a:p>
        </p:txBody>
      </p:sp>
      <p:sp>
        <p:nvSpPr>
          <p:cNvPr id="14" name="Shape 11"/>
          <p:cNvSpPr/>
          <p:nvPr/>
        </p:nvSpPr>
        <p:spPr>
          <a:xfrm>
            <a:off x="6903720" y="329184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5" name="Text 12"/>
          <p:cNvSpPr/>
          <p:nvPr/>
        </p:nvSpPr>
        <p:spPr>
          <a:xfrm>
            <a:off x="6903720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y rumbo</a:t>
            </a:r>
            <a:endParaRPr lang="ca-E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0" y="1664208"/>
            <a:ext cx="310896" cy="640080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7" name="Shape 14"/>
          <p:cNvSpPr/>
          <p:nvPr/>
        </p:nvSpPr>
        <p:spPr>
          <a:xfrm>
            <a:off x="6858000" y="2267712"/>
            <a:ext cx="310896" cy="36576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8" name="Shape 15"/>
          <p:cNvSpPr/>
          <p:nvPr/>
        </p:nvSpPr>
        <p:spPr>
          <a:xfrm flipV="1">
            <a:off x="6858000" y="2304288"/>
            <a:ext cx="310879" cy="566928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9" name="Shape 16"/>
          <p:cNvSpPr/>
          <p:nvPr/>
        </p:nvSpPr>
        <p:spPr>
          <a:xfrm>
            <a:off x="7653528" y="2788920"/>
            <a:ext cx="0" cy="50292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Telemetria: ARINC 429 sobre NRF24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ca-E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</a:t>
            </a:r>
            <a:endParaRPr lang="ca-ES" sz="850" dirty="0"/>
          </a:p>
        </p:txBody>
      </p:sp>
      <p:sp>
        <p:nvSpPr>
          <p:cNvPr id="8" name="Shape 5"/>
          <p:cNvSpPr/>
          <p:nvPr/>
        </p:nvSpPr>
        <p:spPr>
          <a:xfrm>
            <a:off x="1504188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1504188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</a:t>
            </a:r>
            <a:endParaRPr lang="ca-ES" sz="1150" dirty="0"/>
          </a:p>
        </p:txBody>
      </p:sp>
      <p:sp>
        <p:nvSpPr>
          <p:cNvPr id="10" name="Text 7"/>
          <p:cNvSpPr/>
          <p:nvPr/>
        </p:nvSpPr>
        <p:spPr>
          <a:xfrm>
            <a:off x="1504188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ca-ES" sz="850" dirty="0"/>
          </a:p>
        </p:txBody>
      </p:sp>
      <p:sp>
        <p:nvSpPr>
          <p:cNvPr id="11" name="Shape 8"/>
          <p:cNvSpPr/>
          <p:nvPr/>
        </p:nvSpPr>
        <p:spPr>
          <a:xfrm>
            <a:off x="2551176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2" name="Text 9"/>
          <p:cNvSpPr/>
          <p:nvPr/>
        </p:nvSpPr>
        <p:spPr>
          <a:xfrm>
            <a:off x="2551176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</a:t>
            </a:r>
            <a:endParaRPr lang="ca-ES" sz="1150" dirty="0"/>
          </a:p>
        </p:txBody>
      </p:sp>
      <p:sp>
        <p:nvSpPr>
          <p:cNvPr id="13" name="Text 10"/>
          <p:cNvSpPr/>
          <p:nvPr/>
        </p:nvSpPr>
        <p:spPr>
          <a:xfrm>
            <a:off x="2551176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ca-ES" sz="850" dirty="0"/>
          </a:p>
        </p:txBody>
      </p:sp>
      <p:sp>
        <p:nvSpPr>
          <p:cNvPr id="14" name="Shape 11"/>
          <p:cNvSpPr/>
          <p:nvPr/>
        </p:nvSpPr>
        <p:spPr>
          <a:xfrm>
            <a:off x="3598164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5" name="Text 12"/>
          <p:cNvSpPr/>
          <p:nvPr/>
        </p:nvSpPr>
        <p:spPr>
          <a:xfrm>
            <a:off x="3598164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3</a:t>
            </a:r>
            <a:endParaRPr lang="ca-ES" sz="1150" dirty="0"/>
          </a:p>
        </p:txBody>
      </p:sp>
      <p:sp>
        <p:nvSpPr>
          <p:cNvPr id="16" name="Text 13"/>
          <p:cNvSpPr/>
          <p:nvPr/>
        </p:nvSpPr>
        <p:spPr>
          <a:xfrm>
            <a:off x="3598164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ca-ES" sz="850" dirty="0"/>
          </a:p>
        </p:txBody>
      </p:sp>
      <p:sp>
        <p:nvSpPr>
          <p:cNvPr id="17" name="Shape 14"/>
          <p:cNvSpPr/>
          <p:nvPr/>
        </p:nvSpPr>
        <p:spPr>
          <a:xfrm>
            <a:off x="4645152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8" name="Text 15"/>
          <p:cNvSpPr/>
          <p:nvPr/>
        </p:nvSpPr>
        <p:spPr>
          <a:xfrm>
            <a:off x="4645152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4</a:t>
            </a:r>
            <a:endParaRPr lang="ca-ES" sz="1150" dirty="0"/>
          </a:p>
        </p:txBody>
      </p:sp>
      <p:sp>
        <p:nvSpPr>
          <p:cNvPr id="19" name="Text 16"/>
          <p:cNvSpPr/>
          <p:nvPr/>
        </p:nvSpPr>
        <p:spPr>
          <a:xfrm>
            <a:off x="4645152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ca-ES" sz="850" dirty="0"/>
          </a:p>
        </p:txBody>
      </p:sp>
      <p:sp>
        <p:nvSpPr>
          <p:cNvPr id="20" name="Shape 17"/>
          <p:cNvSpPr/>
          <p:nvPr/>
        </p:nvSpPr>
        <p:spPr>
          <a:xfrm>
            <a:off x="5692140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1" name="Text 18"/>
          <p:cNvSpPr/>
          <p:nvPr/>
        </p:nvSpPr>
        <p:spPr>
          <a:xfrm>
            <a:off x="5692140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5</a:t>
            </a:r>
            <a:endParaRPr lang="ca-ES" sz="1150" dirty="0"/>
          </a:p>
        </p:txBody>
      </p:sp>
      <p:sp>
        <p:nvSpPr>
          <p:cNvPr id="22" name="Text 19"/>
          <p:cNvSpPr/>
          <p:nvPr/>
        </p:nvSpPr>
        <p:spPr>
          <a:xfrm>
            <a:off x="5692140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ca-ES" sz="850" dirty="0"/>
          </a:p>
        </p:txBody>
      </p:sp>
      <p:sp>
        <p:nvSpPr>
          <p:cNvPr id="23" name="Shape 20"/>
          <p:cNvSpPr/>
          <p:nvPr/>
        </p:nvSpPr>
        <p:spPr>
          <a:xfrm>
            <a:off x="6739128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4" name="Text 21"/>
          <p:cNvSpPr/>
          <p:nvPr/>
        </p:nvSpPr>
        <p:spPr>
          <a:xfrm>
            <a:off x="6739128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6</a:t>
            </a:r>
            <a:endParaRPr lang="ca-ES" sz="1150" dirty="0"/>
          </a:p>
        </p:txBody>
      </p:sp>
      <p:sp>
        <p:nvSpPr>
          <p:cNvPr id="25" name="Text 22"/>
          <p:cNvSpPr/>
          <p:nvPr/>
        </p:nvSpPr>
        <p:spPr>
          <a:xfrm>
            <a:off x="6739128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ca-ES" sz="850" dirty="0"/>
          </a:p>
        </p:txBody>
      </p:sp>
      <p:sp>
        <p:nvSpPr>
          <p:cNvPr id="26" name="Shape 23"/>
          <p:cNvSpPr/>
          <p:nvPr/>
        </p:nvSpPr>
        <p:spPr>
          <a:xfrm>
            <a:off x="7786116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7" name="Text 24"/>
          <p:cNvSpPr/>
          <p:nvPr/>
        </p:nvSpPr>
        <p:spPr>
          <a:xfrm>
            <a:off x="7786116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7</a:t>
            </a:r>
            <a:endParaRPr lang="ca-ES" sz="1150" dirty="0"/>
          </a:p>
        </p:txBody>
      </p:sp>
      <p:sp>
        <p:nvSpPr>
          <p:cNvPr id="28" name="Text 25"/>
          <p:cNvSpPr/>
          <p:nvPr/>
        </p:nvSpPr>
        <p:spPr>
          <a:xfrm>
            <a:off x="7786116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ca-E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43230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Fijos (20 Hz)</a:t>
            </a:r>
            <a:endParaRPr lang="ca-ES" sz="1100" dirty="0"/>
          </a:p>
        </p:txBody>
      </p:sp>
      <p:sp>
        <p:nvSpPr>
          <p:cNvPr id="30" name="Text 27"/>
          <p:cNvSpPr/>
          <p:nvPr/>
        </p:nvSpPr>
        <p:spPr>
          <a:xfrm>
            <a:off x="3598164" y="243230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Multiplexados (planificador EDF)</a:t>
            </a:r>
            <a:endParaRPr lang="ca-E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3246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reutiliza la capa lógica del estándar ARINC 429 sobre el enlace de radio.</a:t>
            </a:r>
            <a:endParaRPr lang="ca-E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planificador EDF reparte los slots: baro, VSI, radar y ToF a 10 Hz; GNSS y estado a 5 Hz.</a:t>
            </a:r>
            <a:endParaRPr lang="ca-E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a 250 kbps, alcance en interior ~100 m, justificado por margen de diseño.</a:t>
            </a:r>
            <a:endParaRPr lang="ca-E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Visualización: el PFD (Primary Flight Display)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846320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6" name="Image 1" descr="assets/p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565" y="1517904"/>
            <a:ext cx="3577590" cy="28620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44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PFD en Processing</a:t>
            </a:r>
            <a:endParaRPr lang="ca-ES" sz="1000" dirty="0"/>
          </a:p>
        </p:txBody>
      </p:sp>
      <p:sp>
        <p:nvSpPr>
          <p:cNvPr id="8" name="Shape 4"/>
          <p:cNvSpPr/>
          <p:nvPr/>
        </p:nvSpPr>
        <p:spPr>
          <a:xfrm>
            <a:off x="5532120" y="156362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9" name="Text 5"/>
          <p:cNvSpPr/>
          <p:nvPr/>
        </p:nvSpPr>
        <p:spPr>
          <a:xfrm>
            <a:off x="580644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artificial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- cabeceo y alabeo</a:t>
            </a:r>
            <a:endParaRPr lang="ca-ES" sz="1300" dirty="0"/>
          </a:p>
        </p:txBody>
      </p:sp>
      <p:sp>
        <p:nvSpPr>
          <p:cNvPr id="10" name="Shape 6"/>
          <p:cNvSpPr/>
          <p:nvPr/>
        </p:nvSpPr>
        <p:spPr>
          <a:xfrm>
            <a:off x="5532120" y="215798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1" name="Text 7"/>
          <p:cNvSpPr/>
          <p:nvPr/>
        </p:nvSpPr>
        <p:spPr>
          <a:xfrm>
            <a:off x="580644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 - GNSS</a:t>
            </a:r>
            <a:endParaRPr lang="ca-ES" sz="1300" dirty="0"/>
          </a:p>
        </p:txBody>
      </p:sp>
      <p:sp>
        <p:nvSpPr>
          <p:cNvPr id="12" name="Shape 8"/>
          <p:cNvSpPr/>
          <p:nvPr/>
        </p:nvSpPr>
        <p:spPr>
          <a:xfrm>
            <a:off x="5532120" y="275234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3" name="Text 9"/>
          <p:cNvSpPr/>
          <p:nvPr/>
        </p:nvSpPr>
        <p:spPr>
          <a:xfrm>
            <a:off x="58064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derecha - barométrica</a:t>
            </a:r>
            <a:endParaRPr lang="ca-ES" sz="1300" dirty="0"/>
          </a:p>
        </p:txBody>
      </p:sp>
      <p:sp>
        <p:nvSpPr>
          <p:cNvPr id="14" name="Shape 10"/>
          <p:cNvSpPr/>
          <p:nvPr/>
        </p:nvSpPr>
        <p:spPr>
          <a:xfrm>
            <a:off x="5532120" y="334670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5" name="Text 11"/>
          <p:cNvSpPr/>
          <p:nvPr/>
        </p:nvSpPr>
        <p:spPr>
          <a:xfrm>
            <a:off x="580644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Rumbo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inferior - magnético</a:t>
            </a:r>
            <a:endParaRPr lang="ca-ES" sz="1300" dirty="0"/>
          </a:p>
        </p:txBody>
      </p:sp>
      <p:sp>
        <p:nvSpPr>
          <p:cNvPr id="16" name="Shape 12"/>
          <p:cNvSpPr/>
          <p:nvPr/>
        </p:nvSpPr>
        <p:spPr>
          <a:xfrm>
            <a:off x="5532120" y="394106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7" name="Text 13"/>
          <p:cNvSpPr/>
          <p:nvPr/>
        </p:nvSpPr>
        <p:spPr>
          <a:xfrm>
            <a:off x="580644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Proximidad y VSI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suelo y vel. vertical</a:t>
            </a:r>
            <a:endParaRPr lang="ca-ES" sz="1300" dirty="0"/>
          </a:p>
        </p:txBody>
      </p:sp>
      <p:sp>
        <p:nvSpPr>
          <p:cNvPr id="18" name="Text 14"/>
          <p:cNvSpPr/>
          <p:nvPr/>
        </p:nvSpPr>
        <p:spPr>
          <a:xfrm>
            <a:off x="553212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1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Disposición Basic-T conforme al patrón de la AC 25-11B (RN01). Cierra la cadena del sensor a la pantalla.</a:t>
            </a:r>
            <a:endParaRPr lang="ca-E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Navegación: vista de mapa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independiente del PFD, conmutable por teclado: traza la posición GNSS.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1417320"/>
            <a:ext cx="749808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7" name="Image 1" descr="assets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420" y="1563624"/>
            <a:ext cx="4803160" cy="2450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1788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de posición sobre teselas topográficas offline del ICGC</a:t>
            </a:r>
            <a:endParaRPr lang="ca-ES" sz="1000" dirty="0"/>
          </a:p>
        </p:txBody>
      </p:sp>
      <p:sp>
        <p:nvSpPr>
          <p:cNvPr id="9" name="Text 5"/>
          <p:cNvSpPr/>
          <p:nvPr/>
        </p:nvSpPr>
        <p:spPr>
          <a:xfrm>
            <a:off x="822960" y="4434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Teselas precargadas en disco; la descarga en línea bajo demanda queda como trabajo futuro.</a:t>
            </a:r>
            <a:endParaRPr lang="ca-E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Validación: cumplimiento de requisitos</a:t>
            </a:r>
            <a:endParaRPr lang="ca-E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688336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RP01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&lt; 200 ms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 ms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RP02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Refresco del PFD &gt;= 30 FPS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FPS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RP03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Actitud &gt;= 20 Hz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Hz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RP04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Actitud dentro de +-3°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máx. 1,8°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RP05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GNSS &lt;= 2,5 m CEP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 m CEP50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RP06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 de decenas de m (interior)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m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1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requisitos funcionales (RF01-RF09) también quedan cubiertos con el sistema integrado.</a:t>
            </a:r>
            <a:endParaRPr lang="ca-E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Validación: cifras de mérito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20040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6" name="GNSS Number"/>
          <p:cNvSpPr/>
          <p:nvPr/>
        </p:nvSpPr>
        <p:spPr>
          <a:xfrm>
            <a:off x="457200" y="2050000"/>
            <a:ext cx="32004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5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 m</a:t>
            </a:r>
            <a:endParaRPr lang="ca-ES" sz="5400" dirty="0"/>
          </a:p>
        </p:txBody>
      </p:sp>
      <p:sp>
        <p:nvSpPr>
          <p:cNvPr id="7" name="GNSS Label"/>
          <p:cNvSpPr/>
          <p:nvPr/>
        </p:nvSpPr>
        <p:spPr>
          <a:xfrm>
            <a:off x="457200" y="3080000"/>
            <a:ext cx="32004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CEP50 GNSS, medido en estático</a:t>
            </a:r>
            <a:endParaRPr lang="ca-ES" sz="1250" dirty="0"/>
          </a:p>
        </p:txBody>
      </p:sp>
      <p:sp>
        <p:nvSpPr>
          <p:cNvPr id="14" name="GNSS Sublabel"/>
          <p:cNvSpPr/>
          <p:nvPr/>
        </p:nvSpPr>
        <p:spPr>
          <a:xfrm>
            <a:off x="457200" y="3470000"/>
            <a:ext cx="32004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&lt;= 2,5 m (RP05)</a:t>
            </a:r>
            <a:endParaRPr lang="ca-ES" sz="1100" dirty="0"/>
          </a:p>
        </p:txBody>
      </p:sp>
      <p:sp>
        <p:nvSpPr>
          <p:cNvPr id="8" name="Text 4"/>
          <p:cNvSpPr/>
          <p:nvPr/>
        </p:nvSpPr>
        <p:spPr>
          <a:xfrm>
            <a:off x="4023360" y="1508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1,8°</a:t>
            </a:r>
            <a:endParaRPr lang="ca-ES" sz="4000" dirty="0"/>
          </a:p>
        </p:txBody>
      </p:sp>
      <p:sp>
        <p:nvSpPr>
          <p:cNvPr id="9" name="Text 5"/>
          <p:cNvSpPr/>
          <p:nvPr/>
        </p:nvSpPr>
        <p:spPr>
          <a:xfrm>
            <a:off x="4023360" y="2112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máx. de actitud, medido en estático (req. +-3°)</a:t>
            </a:r>
            <a:endParaRPr lang="ca-ES" sz="1250" dirty="0"/>
          </a:p>
        </p:txBody>
      </p:sp>
      <p:sp>
        <p:nvSpPr>
          <p:cNvPr id="10" name="Text 6"/>
          <p:cNvSpPr/>
          <p:nvPr/>
        </p:nvSpPr>
        <p:spPr>
          <a:xfrm>
            <a:off x="4023360" y="2514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 ms</a:t>
            </a:r>
            <a:endParaRPr lang="ca-ES" sz="4000" dirty="0"/>
          </a:p>
        </p:txBody>
      </p:sp>
      <p:sp>
        <p:nvSpPr>
          <p:cNvPr id="11" name="Text 7"/>
          <p:cNvSpPr/>
          <p:nvPr/>
        </p:nvSpPr>
        <p:spPr>
          <a:xfrm>
            <a:off x="4023360" y="31181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extremo a extremo, cota analítica (&lt; 200 ms)</a:t>
            </a:r>
            <a:endParaRPr lang="ca-ES" sz="1250" dirty="0"/>
          </a:p>
        </p:txBody>
      </p:sp>
      <p:sp>
        <p:nvSpPr>
          <p:cNvPr id="12" name="Text 8"/>
          <p:cNvSpPr/>
          <p:nvPr/>
        </p:nvSpPr>
        <p:spPr>
          <a:xfrm>
            <a:off x="402336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 m</a:t>
            </a:r>
            <a:endParaRPr lang="ca-ES" sz="4000" dirty="0"/>
          </a:p>
        </p:txBody>
      </p:sp>
      <p:sp>
        <p:nvSpPr>
          <p:cNvPr id="13" name="Text 9"/>
          <p:cNvSpPr/>
          <p:nvPr/>
        </p:nvSpPr>
        <p:spPr>
          <a:xfrm>
            <a:off x="4023360" y="41239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teórica en interior, validada analíticamente por margen de diseño</a:t>
            </a:r>
            <a:endParaRPr lang="ca-E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ca-E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81328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1463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cumplido: los tres subsistemas integrados operan como un único sistema.</a:t>
            </a:r>
            <a:endParaRPr lang="ca-E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58568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22402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completa del sensor a la pantalla, con acceso a las magnitudes intermedias.</a:t>
            </a:r>
            <a:endParaRPr lang="ca-E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35808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1560" y="3017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abierta y replicable por menos de 100 € en materiales.</a:t>
            </a:r>
            <a:endParaRPr lang="ca-E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13048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5156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asumidas: sin redundancia y rumbo en interior limitado por el entorno magnético.</a:t>
            </a:r>
            <a:endParaRPr lang="ca-E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568" y="142646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Cartografía en línea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las teselas bajo demanda y cubrir más niveles de zoom.</a:t>
            </a:r>
            <a:endParaRPr lang="ca-E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233172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5568" y="229514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en vuelo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el sistema para instalarlo en un vehículo aéreo real.</a:t>
            </a:r>
            <a:endParaRPr lang="ca-ES" sz="1450" dirty="0"/>
          </a:p>
        </p:txBody>
      </p:sp>
      <p:sp>
        <p:nvSpPr>
          <p:cNvPr id="11" name="Shape 6"/>
          <p:cNvSpPr/>
          <p:nvPr/>
        </p:nvSpPr>
        <p:spPr>
          <a:xfrm>
            <a:off x="548640" y="320040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9184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316382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del enlace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reales de alcance y de tasa de pérdida de paquetes.</a:t>
            </a:r>
            <a:endParaRPr lang="ca-ES" sz="1450" dirty="0"/>
          </a:p>
        </p:txBody>
      </p:sp>
      <p:sp>
        <p:nvSpPr>
          <p:cNvPr id="14" name="Shape 8"/>
          <p:cNvSpPr/>
          <p:nvPr/>
        </p:nvSpPr>
        <p:spPr>
          <a:xfrm>
            <a:off x="548640" y="406908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60520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15568" y="403250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como fuente de proximidad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HLK-LD2410C en el indicador una vez estabilizada su lectura.</a:t>
            </a:r>
            <a:endParaRPr lang="ca-E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ca-ES" sz="4800" dirty="0"/>
          </a:p>
        </p:txBody>
      </p:sp>
      <p:sp>
        <p:nvSpPr>
          <p:cNvPr id="3" name="Text 1"/>
          <p:cNvSpPr/>
          <p:nvPr/>
        </p:nvSpPr>
        <p:spPr>
          <a:xfrm>
            <a:off x="566928" y="2240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directo de la plataforma: actitud, rumbo, altitud y posición en tiempo real.</a:t>
            </a:r>
            <a:endParaRPr lang="ca-E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342900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55701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ca-E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Arnau Mora Perez  ·  ESEIAAT - UPC  ·  Primavera 2026</a:t>
            </a:r>
            <a:endParaRPr lang="ca-ES" sz="1200" dirty="0"/>
          </a:p>
        </p:txBody>
      </p:sp>
      <p:sp>
        <p:nvSpPr>
          <p:cNvPr id="8" name="Shape 5"/>
          <p:cNvSpPr/>
          <p:nvPr/>
        </p:nvSpPr>
        <p:spPr>
          <a:xfrm>
            <a:off x="5440680" y="1188720"/>
            <a:ext cx="3246120" cy="338328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9" name="Image 1" descr="assets/IMG_215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1786467"/>
            <a:ext cx="2953512" cy="2187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45902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 funcionament</a:t>
            </a:r>
            <a:endParaRPr lang="ca-E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0556171-E85C-40AD-ADC2-81E09E8780E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480f2074-b829-455e-9e2b-db9449b466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2263</Words>
  <Application>Microsoft Office PowerPoint</Application>
  <PresentationFormat>On-screen Show (16:9)</PresentationFormat>
  <Paragraphs>248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TFG - Plataforma d'instrumentacio avionica</dc:title>
  <dc:subject>PptxGenJS Presentation</dc:subject>
  <dc:creator>Arnau</dc:creator>
  <cp:lastModifiedBy>Arnau Mora</cp:lastModifiedBy>
  <cp:revision>7</cp:revision>
  <dcterms:created xsi:type="dcterms:W3CDTF">2026-06-19T19:31:44Z</dcterms:created>
  <dcterms:modified xsi:type="dcterms:W3CDTF">2026-07-06T23:31:09Z</dcterms:modified>
</cp:coreProperties>
</file>